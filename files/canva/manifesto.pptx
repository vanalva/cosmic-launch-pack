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manifesto/01-cover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manifesto/02-the-problem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manifesto/03-we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manifesto/04-called-again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manifesto/05-standard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3497961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THE COSMIC STANDARD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549" y="8343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01 / 05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1847469"/>
            <a:ext cx="8796528" cy="38473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b="0" sz="9900" i="0" spc="-148">
                <a:solidFill>
                  <a:srgbClr val="171726"/>
                </a:solidFill>
                <a:latin typeface="Archivo Black"/>
              </a:rPr>
              <a:t>PAINTING IS THE VISIBLE PART.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14400" y="5623084"/>
            <a:ext cx="8796528" cy="38473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b="0" sz="9900" i="0" spc="-148">
                <a:solidFill>
                  <a:srgbClr val="362CFF"/>
                </a:solidFill>
                <a:latin typeface="Archivo Black"/>
              </a:rPr>
              <a:t>TRUST IS THE REAL WORK.</a:t>
            </a:r>
          </a:p>
        </p:txBody>
      </p:sp>
      <p:pic>
        <p:nvPicPr>
          <p:cNvPr id="8" name="Graphic" descr="logo-e65cf9bce2ff28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376" y="9144032"/>
            <a:ext cx="4080320" cy="28574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3497961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THE COSMIC STANDARD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10149" y="6438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02 / 05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85800" y="1684782"/>
            <a:ext cx="9272016" cy="63927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355"/>
              </a:lnSpc>
              <a:spcBef>
                <a:spcPts val="0"/>
              </a:spcBef>
              <a:spcAft>
                <a:spcPts val="0"/>
              </a:spcAft>
            </a:pPr>
            <a:r>
              <a:rPr b="0" sz="5250" i="0" spc="-78">
                <a:solidFill>
                  <a:srgbClr val="ECE9E0"/>
                </a:solidFill>
                <a:latin typeface="Archivo Black"/>
              </a:rPr>
              <a:t>HIRING A CONTRACTOR SHOULDN'T MEAN CHASING A QUOTE, WONDERING WHO'S SHOWING UP, OR FINDING OUT ABOUT PROBLEMS AFTER THE WORK HAS ALREADY STARTED.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685800" y="10299478"/>
            <a:ext cx="9272016" cy="192366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455"/>
              </a:lnSpc>
              <a:spcBef>
                <a:spcPts val="0"/>
              </a:spcBef>
              <a:spcAft>
                <a:spcPts val="0"/>
              </a:spcAft>
            </a:pPr>
            <a:r>
              <a:rPr b="0" sz="4050" i="0" spc="-20">
                <a:solidFill>
                  <a:srgbClr val="ECE9E0"/>
                </a:solidFill>
                <a:latin typeface="Archivo ExtraBold"/>
              </a:rPr>
              <a:t>You should know what's happening, what it costs, and what comes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3497961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THE COSMIC STANDARD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549" y="8343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03 / 05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1594485"/>
            <a:ext cx="8094696" cy="8267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b="0" sz="4650" i="0" spc="-69">
                <a:solidFill>
                  <a:srgbClr val="171726"/>
                </a:solidFill>
                <a:latin typeface="Archivo Black"/>
              </a:rPr>
              <a:t>WE RETURN THE CALL.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14400" y="2432685"/>
            <a:ext cx="8726241" cy="8267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b="0" sz="4650" i="0" spc="-69">
                <a:solidFill>
                  <a:srgbClr val="171726"/>
                </a:solidFill>
                <a:latin typeface="Archivo Black"/>
              </a:rPr>
              <a:t>WE RESPECT THE HOME.</a:t>
            </a:r>
          </a:p>
        </p:txBody>
      </p:sp>
      <p:sp>
        <p:nvSpPr>
          <p:cNvPr id="8" name="Text"/>
          <p:cNvSpPr txBox="1"/>
          <p:nvPr/>
        </p:nvSpPr>
        <p:spPr>
          <a:xfrm>
            <a:off x="914400" y="3270885"/>
            <a:ext cx="8796528" cy="25984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b="0" sz="4650" i="0" spc="-69">
                <a:solidFill>
                  <a:srgbClr val="362CFF"/>
                </a:solidFill>
                <a:latin typeface="Archivo Black"/>
              </a:rPr>
              <a:t>WE RECOMMEND WHAT'S RIGHT, EVEN WHEN IT ISN'T THE MOST EXPENSIVE OPTION.</a:t>
            </a:r>
          </a:p>
        </p:txBody>
      </p:sp>
      <p:sp>
        <p:nvSpPr>
          <p:cNvPr id="9" name="Text"/>
          <p:cNvSpPr txBox="1"/>
          <p:nvPr/>
        </p:nvSpPr>
        <p:spPr>
          <a:xfrm>
            <a:off x="914400" y="5880735"/>
            <a:ext cx="8796528" cy="20078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b="0" sz="4650" i="0" spc="-69">
                <a:solidFill>
                  <a:srgbClr val="171726"/>
                </a:solidFill>
                <a:latin typeface="Archivo Black"/>
              </a:rPr>
              <a:t>WE TELL YOU WHAT'S HAPPENING BEFORE YOU HAVE TO ASK.</a:t>
            </a:r>
          </a:p>
        </p:txBody>
      </p:sp>
      <p:sp>
        <p:nvSpPr>
          <p:cNvPr id="10" name="Text"/>
          <p:cNvSpPr txBox="1"/>
          <p:nvPr/>
        </p:nvSpPr>
        <p:spPr>
          <a:xfrm>
            <a:off x="914400" y="7900035"/>
            <a:ext cx="7074728" cy="8267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b="0" sz="4650" i="0" spc="-69">
                <a:solidFill>
                  <a:srgbClr val="362CFF"/>
                </a:solidFill>
                <a:latin typeface="Archivo Black"/>
              </a:rPr>
              <a:t>WE OWN MISTAKES.</a:t>
            </a:r>
          </a:p>
        </p:txBody>
      </p:sp>
      <p:sp>
        <p:nvSpPr>
          <p:cNvPr id="11" name="Text"/>
          <p:cNvSpPr txBox="1"/>
          <p:nvPr/>
        </p:nvSpPr>
        <p:spPr>
          <a:xfrm>
            <a:off x="914400" y="8738235"/>
            <a:ext cx="5022312" cy="82677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b="0" sz="4650" i="0" spc="-69">
                <a:solidFill>
                  <a:srgbClr val="362CFF"/>
                </a:solidFill>
                <a:latin typeface="Archivo Black"/>
              </a:rPr>
              <a:t>WE CLEAN UP.</a:t>
            </a:r>
          </a:p>
        </p:txBody>
      </p:sp>
      <p:sp>
        <p:nvSpPr>
          <p:cNvPr id="12" name="Text"/>
          <p:cNvSpPr txBox="1"/>
          <p:nvPr/>
        </p:nvSpPr>
        <p:spPr>
          <a:xfrm>
            <a:off x="914400" y="9576435"/>
            <a:ext cx="8796528" cy="200787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650"/>
              </a:lnSpc>
              <a:spcBef>
                <a:spcPts val="0"/>
              </a:spcBef>
              <a:spcAft>
                <a:spcPts val="0"/>
              </a:spcAft>
            </a:pPr>
            <a:r>
              <a:rPr b="0" sz="4650" i="0" spc="-69">
                <a:solidFill>
                  <a:srgbClr val="171726"/>
                </a:solidFill>
                <a:latin typeface="Archivo Black"/>
              </a:rPr>
              <a:t>AND WE'RE STILL THERE AFTER THE INVOICE IS PAID.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"/>
          <p:cNvSpPr txBox="1"/>
          <p:nvPr/>
        </p:nvSpPr>
        <p:spPr>
          <a:xfrm>
            <a:off x="685800" y="643814"/>
            <a:ext cx="3497961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THE COSMIC STANDARD</a:t>
            </a:r>
          </a:p>
        </p:txBody>
      </p:sp>
      <p:sp>
        <p:nvSpPr>
          <p:cNvPr id="4" name="Text"/>
          <p:cNvSpPr txBox="1"/>
          <p:nvPr/>
        </p:nvSpPr>
        <p:spPr>
          <a:xfrm>
            <a:off x="8809863" y="643814"/>
            <a:ext cx="96249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04 / 05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685800" y="1602867"/>
            <a:ext cx="9272016" cy="5526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880"/>
              </a:lnSpc>
              <a:spcBef>
                <a:spcPts val="0"/>
              </a:spcBef>
              <a:spcAft>
                <a:spcPts val="0"/>
              </a:spcAft>
            </a:pPr>
            <a:r>
              <a:rPr b="0" sz="6000" i="0" spc="-89">
                <a:solidFill>
                  <a:srgbClr val="ECE9E0"/>
                </a:solidFill>
                <a:latin typeface="Archivo Black"/>
              </a:rPr>
              <a:t>WE'RE BUILDING THE KIND OF COMPANY PEOPLE CALL AGAIN, SEND TO THEIR FRIENDS, AND REMEMBER FOR THE RIGHT REASONS.</a:t>
            </a:r>
          </a:p>
        </p:txBody>
      </p:sp>
      <p:pic>
        <p:nvPicPr>
          <p:cNvPr id="6" name="Graphic" descr="logo-06e1ccad6e08b7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651" y="9048751"/>
            <a:ext cx="5154549" cy="31432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247650" y="247650"/>
            <a:ext cx="9791700" cy="12363450"/>
          </a:xfrm>
          <a:prstGeom prst="roundRect">
            <a:avLst>
              <a:gd name="adj" fmla="val 2918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"/>
          <p:cNvSpPr txBox="1"/>
          <p:nvPr/>
        </p:nvSpPr>
        <p:spPr>
          <a:xfrm>
            <a:off x="914400" y="834314"/>
            <a:ext cx="3497961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THE COSMIC STANDARD</a:t>
            </a:r>
          </a:p>
        </p:txBody>
      </p:sp>
      <p:sp>
        <p:nvSpPr>
          <p:cNvPr id="5" name="Text"/>
          <p:cNvSpPr txBox="1"/>
          <p:nvPr/>
        </p:nvSpPr>
        <p:spPr>
          <a:xfrm>
            <a:off x="8581549" y="834314"/>
            <a:ext cx="962177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362CFF"/>
                </a:solidFill>
                <a:latin typeface="Archivo ExtraBold"/>
              </a:rPr>
              <a:t>05 / 05</a:t>
            </a:r>
          </a:p>
        </p:txBody>
      </p:sp>
      <p:sp>
        <p:nvSpPr>
          <p:cNvPr id="6" name="Text"/>
          <p:cNvSpPr txBox="1"/>
          <p:nvPr/>
        </p:nvSpPr>
        <p:spPr>
          <a:xfrm>
            <a:off x="914400" y="1839392"/>
            <a:ext cx="7963692" cy="27971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177"/>
              </a:lnSpc>
              <a:spcBef>
                <a:spcPts val="0"/>
              </a:spcBef>
              <a:spcAft>
                <a:spcPts val="0"/>
              </a:spcAft>
            </a:pPr>
            <a:r>
              <a:rPr b="0" sz="9975" i="0" spc="-149">
                <a:solidFill>
                  <a:srgbClr val="171726"/>
                </a:solidFill>
                <a:latin typeface="Archivo Black"/>
              </a:rPr>
              <a:t>WE CARE,</a:t>
            </a:r>
          </a:p>
          <a:p>
            <a:pPr algn="l">
              <a:lnSpc>
                <a:spcPts val="9177"/>
              </a:lnSpc>
              <a:spcBef>
                <a:spcPts val="0"/>
              </a:spcBef>
              <a:spcAft>
                <a:spcPts val="0"/>
              </a:spcAft>
            </a:pPr>
            <a:r>
              <a:rPr b="0" sz="9975" i="0" spc="-149">
                <a:solidFill>
                  <a:srgbClr val="362CFF"/>
                </a:solidFill>
                <a:latin typeface="Archivo Black"/>
              </a:rPr>
              <a:t>IT SHOWS.</a:t>
            </a:r>
          </a:p>
        </p:txBody>
      </p:sp>
      <p:sp>
        <p:nvSpPr>
          <p:cNvPr id="7" name="Text"/>
          <p:cNvSpPr txBox="1"/>
          <p:nvPr/>
        </p:nvSpPr>
        <p:spPr>
          <a:xfrm>
            <a:off x="914400" y="4842891"/>
            <a:ext cx="8386252" cy="361416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369"/>
              </a:lnSpc>
              <a:spcBef>
                <a:spcPts val="0"/>
              </a:spcBef>
              <a:spcAft>
                <a:spcPts val="0"/>
              </a:spcAft>
            </a:pPr>
            <a:r>
              <a:rPr b="0" sz="9300" i="0" spc="-139">
                <a:solidFill>
                  <a:srgbClr val="171726"/>
                </a:solidFill>
                <a:latin typeface="Archivo Black"/>
              </a:rPr>
              <a:t>THAT'S THE</a:t>
            </a:r>
          </a:p>
          <a:p>
            <a:pPr algn="l">
              <a:lnSpc>
                <a:spcPts val="8369"/>
              </a:lnSpc>
              <a:spcBef>
                <a:spcPts val="0"/>
              </a:spcBef>
              <a:spcAft>
                <a:spcPts val="0"/>
              </a:spcAft>
            </a:pPr>
            <a:r>
              <a:rPr b="0" sz="9300" i="0" spc="-139">
                <a:solidFill>
                  <a:srgbClr val="362CFF"/>
                </a:solidFill>
                <a:latin typeface="Archivo Black"/>
              </a:rPr>
              <a:t>COSMIC</a:t>
            </a:r>
          </a:p>
          <a:p>
            <a:pPr algn="l">
              <a:lnSpc>
                <a:spcPts val="8369"/>
              </a:lnSpc>
              <a:spcBef>
                <a:spcPts val="0"/>
              </a:spcBef>
              <a:spcAft>
                <a:spcPts val="0"/>
              </a:spcAft>
            </a:pPr>
            <a:r>
              <a:rPr b="0" sz="9300" i="0" spc="-139">
                <a:solidFill>
                  <a:srgbClr val="362CFF"/>
                </a:solidFill>
                <a:latin typeface="Archivo Black"/>
              </a:rPr>
              <a:t>STANDARD.</a:t>
            </a:r>
          </a:p>
        </p:txBody>
      </p:sp>
      <p:sp>
        <p:nvSpPr>
          <p:cNvPr id="8" name="Box"/>
          <p:cNvSpPr/>
          <p:nvPr/>
        </p:nvSpPr>
        <p:spPr>
          <a:xfrm>
            <a:off x="914400" y="11296650"/>
            <a:ext cx="3526060" cy="70485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"/>
          <p:cNvSpPr txBox="1"/>
          <p:nvPr/>
        </p:nvSpPr>
        <p:spPr>
          <a:xfrm>
            <a:off x="1134128" y="11515725"/>
            <a:ext cx="3086603" cy="4000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i="0">
                <a:solidFill>
                  <a:srgbClr val="ECE9E0"/>
                </a:solidFill>
                <a:latin typeface="Archivo"/>
              </a:rPr>
              <a:t>Get a clear estimate</a:t>
            </a:r>
          </a:p>
        </p:txBody>
      </p:sp>
      <p:pic>
        <p:nvPicPr>
          <p:cNvPr id="10" name="Graphic" descr="logo-8a6c503314b5b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059" y="11315707"/>
            <a:ext cx="2802541" cy="6667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