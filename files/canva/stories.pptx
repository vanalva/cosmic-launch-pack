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stories/01-estimate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stories/02-leave-a-review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stories/03-featured-work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stories/04-this-or-that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stories/05-join-the-circle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stories/06-question-box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.jpg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779270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b9ca397629b33a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861" y="2438404"/>
            <a:ext cx="3363087" cy="800092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1191216" y="4732477"/>
            <a:ext cx="7904378" cy="27761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108"/>
              </a:lnSpc>
              <a:spcBef>
                <a:spcPts val="0"/>
              </a:spcBef>
              <a:spcAft>
                <a:spcPts val="0"/>
              </a:spcAft>
            </a:pPr>
            <a:r>
              <a:rPr b="0" sz="9900" i="0" spc="-148">
                <a:solidFill>
                  <a:srgbClr val="171726"/>
                </a:solidFill>
                <a:latin typeface="Archivo Black"/>
              </a:rPr>
              <a:t>WE CARE,</a:t>
            </a:r>
          </a:p>
          <a:p>
            <a:pPr algn="ctr">
              <a:lnSpc>
                <a:spcPts val="9108"/>
              </a:lnSpc>
              <a:spcBef>
                <a:spcPts val="0"/>
              </a:spcBef>
              <a:spcAft>
                <a:spcPts val="0"/>
              </a:spcAft>
            </a:pPr>
            <a:r>
              <a:rPr b="0" sz="9900" i="0" spc="-148">
                <a:solidFill>
                  <a:srgbClr val="362CFF"/>
                </a:solidFill>
                <a:latin typeface="Archivo Black"/>
              </a:rPr>
              <a:t>IT SHOWS.</a:t>
            </a:r>
          </a:p>
        </p:txBody>
      </p:sp>
      <p:pic>
        <p:nvPicPr>
          <p:cNvPr id="6" name="Graphic" descr="logo-fbf9fad34eb91a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540" y="7742722"/>
            <a:ext cx="4685824" cy="2857419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2869180" y="11892629"/>
            <a:ext cx="4548736" cy="1580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362CFF"/>
                </a:solidFill>
                <a:latin typeface="Archivo Medium"/>
              </a:rPr>
              <a:t>A few quick details are enough to get started. We'll take it from there.</a:t>
            </a:r>
          </a:p>
        </p:txBody>
      </p:sp>
      <p:sp>
        <p:nvSpPr>
          <p:cNvPr id="8" name="Box"/>
          <p:cNvSpPr/>
          <p:nvPr/>
        </p:nvSpPr>
        <p:spPr>
          <a:xfrm>
            <a:off x="2869692" y="13687425"/>
            <a:ext cx="4547616" cy="93345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3198815" y="13978890"/>
            <a:ext cx="3889370" cy="506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b="1" sz="2850" i="0">
                <a:solidFill>
                  <a:srgbClr val="ECE9E0"/>
                </a:solidFill>
                <a:latin typeface="Archivo"/>
              </a:rPr>
              <a:t>Get a clear estimate</a:t>
            </a:r>
          </a:p>
        </p:txBody>
      </p:sp>
      <p:sp>
        <p:nvSpPr>
          <p:cNvPr id="10" name="Box frame"/>
          <p:cNvSpPr/>
          <p:nvPr/>
        </p:nvSpPr>
        <p:spPr>
          <a:xfrm>
            <a:off x="3914204" y="14882812"/>
            <a:ext cx="2458498" cy="285750"/>
          </a:xfrm>
          <a:prstGeom prst="roundRect">
            <a:avLst>
              <a:gd name="adj" fmla="val 33333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4061841" y="14922017"/>
            <a:ext cx="2499009" cy="273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b="1" sz="1260" i="1" spc="50">
                <a:solidFill>
                  <a:srgbClr val="362CFF"/>
                </a:solidFill>
                <a:latin typeface="Archivo"/>
              </a:rPr>
              <a:t>[TBC: LINK STICKER URL]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779270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f85a95b476ed01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082" y="2438403"/>
            <a:ext cx="2882646" cy="685793"/>
          </a:xfrm>
          <a:prstGeom prst="rect">
            <a:avLst/>
          </a:prstGeom>
        </p:spPr>
      </p:pic>
      <p:sp>
        <p:nvSpPr>
          <p:cNvPr id="5" name="Headline"/>
          <p:cNvSpPr txBox="1"/>
          <p:nvPr/>
        </p:nvSpPr>
        <p:spPr>
          <a:xfrm>
            <a:off x="2840264" y="4152519"/>
            <a:ext cx="4606473" cy="15841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b="0" sz="9900" i="0" spc="-148">
                <a:solidFill>
                  <a:srgbClr val="171726"/>
                </a:solidFill>
                <a:latin typeface="Archivo Black"/>
              </a:rPr>
              <a:t>GOOD</a:t>
            </a:r>
          </a:p>
        </p:txBody>
      </p:sp>
      <p:pic>
        <p:nvPicPr>
          <p:cNvPr id="6" name="Graphic" descr="logo-0a8eca894d72e6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223" y="5132070"/>
            <a:ext cx="4952555" cy="1469517"/>
          </a:xfrm>
          <a:prstGeom prst="rect">
            <a:avLst/>
          </a:prstGeom>
        </p:spPr>
      </p:pic>
      <p:sp>
        <p:nvSpPr>
          <p:cNvPr id="7" name="Headline"/>
          <p:cNvSpPr txBox="1"/>
          <p:nvPr/>
        </p:nvSpPr>
        <p:spPr>
          <a:xfrm>
            <a:off x="804672" y="6719316"/>
            <a:ext cx="8677656" cy="23042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171726"/>
                </a:solidFill>
                <a:latin typeface="Archivo Black"/>
              </a:rPr>
              <a:t>DESERVES A GOOD WORD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2766658" y="9036615"/>
            <a:ext cx="4753493" cy="1738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 spc="-16">
                <a:solidFill>
                  <a:srgbClr val="171726"/>
                </a:solidFill>
                <a:latin typeface="Archivo Medium"/>
              </a:rPr>
              <a:t>If we’ve worked together, tell Austin how it went.</a:t>
            </a:r>
          </a:p>
        </p:txBody>
      </p:sp>
      <p:pic>
        <p:nvPicPr>
          <p:cNvPr id="9" name="Graphic" descr="logo-7a26d120d9d23c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8273" y="11065108"/>
            <a:ext cx="801910" cy="800078"/>
          </a:xfrm>
          <a:prstGeom prst="rect">
            <a:avLst/>
          </a:prstGeom>
        </p:spPr>
      </p:pic>
      <p:pic>
        <p:nvPicPr>
          <p:cNvPr id="10" name="Graphic" descr="logo-7a26d120d9d23c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433" y="11065108"/>
            <a:ext cx="801910" cy="800078"/>
          </a:xfrm>
          <a:prstGeom prst="rect">
            <a:avLst/>
          </a:prstGeom>
        </p:spPr>
      </p:pic>
      <p:pic>
        <p:nvPicPr>
          <p:cNvPr id="11" name="Graphic" descr="logo-7a26d120d9d23c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593" y="11065108"/>
            <a:ext cx="801910" cy="800078"/>
          </a:xfrm>
          <a:prstGeom prst="rect">
            <a:avLst/>
          </a:prstGeom>
        </p:spPr>
      </p:pic>
      <p:pic>
        <p:nvPicPr>
          <p:cNvPr id="12" name="Graphic" descr="logo-7a26d120d9d23c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9657" y="11065108"/>
            <a:ext cx="801910" cy="800078"/>
          </a:xfrm>
          <a:prstGeom prst="rect">
            <a:avLst/>
          </a:prstGeom>
        </p:spPr>
      </p:pic>
      <p:pic>
        <p:nvPicPr>
          <p:cNvPr id="13" name="Graphic" descr="logo-7a26d120d9d23c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817" y="11065108"/>
            <a:ext cx="801910" cy="800078"/>
          </a:xfrm>
          <a:prstGeom prst="rect">
            <a:avLst/>
          </a:prstGeom>
        </p:spPr>
      </p:pic>
      <p:sp>
        <p:nvSpPr>
          <p:cNvPr id="14" name="Box"/>
          <p:cNvSpPr/>
          <p:nvPr/>
        </p:nvSpPr>
        <p:spPr>
          <a:xfrm>
            <a:off x="971550" y="13601700"/>
            <a:ext cx="3889343" cy="99060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"/>
          <p:cNvSpPr txBox="1"/>
          <p:nvPr/>
        </p:nvSpPr>
        <p:spPr>
          <a:xfrm>
            <a:off x="1382841" y="13916025"/>
            <a:ext cx="3066760" cy="533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b="1" sz="3000" i="0">
                <a:solidFill>
                  <a:srgbClr val="ECE9E0"/>
                </a:solidFill>
                <a:latin typeface="Archivo"/>
              </a:rPr>
              <a:t>Leave a review</a:t>
            </a:r>
          </a:p>
        </p:txBody>
      </p:sp>
      <p:sp>
        <p:nvSpPr>
          <p:cNvPr id="16" name="Box frame"/>
          <p:cNvSpPr/>
          <p:nvPr/>
        </p:nvSpPr>
        <p:spPr>
          <a:xfrm>
            <a:off x="4071080" y="14873288"/>
            <a:ext cx="2144935" cy="295275"/>
          </a:xfrm>
          <a:prstGeom prst="roundRect">
            <a:avLst>
              <a:gd name="adj" fmla="val 32258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4069638" y="14908987"/>
            <a:ext cx="2147819" cy="2959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664"/>
              </a:lnSpc>
              <a:spcBef>
                <a:spcPts val="0"/>
              </a:spcBef>
              <a:spcAft>
                <a:spcPts val="0"/>
              </a:spcAft>
            </a:pPr>
            <a:r>
              <a:rPr b="1" sz="1364" i="1" spc="54">
                <a:solidFill>
                  <a:srgbClr val="362CFF"/>
                </a:solidFill>
                <a:latin typeface="Archivo"/>
              </a:rPr>
              <a:t>[TBC: REVIEW LINK]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779270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4712463fd37a67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438414"/>
            <a:ext cx="2402110" cy="571472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7105840" y="2577389"/>
            <a:ext cx="2550963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FEATURED WORK</a:t>
            </a:r>
          </a:p>
        </p:txBody>
      </p:sp>
      <p:sp>
        <p:nvSpPr>
          <p:cNvPr id="6" name="Box"/>
          <p:cNvSpPr/>
          <p:nvPr/>
        </p:nvSpPr>
        <p:spPr>
          <a:xfrm>
            <a:off x="971550" y="3429000"/>
            <a:ext cx="8343900" cy="6854285"/>
          </a:xfrm>
          <a:prstGeom prst="roundRect">
            <a:avLst>
              <a:gd name="adj" fmla="val 3057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hoto" descr="photo-8488522b832d1eb1.jpg"/>
          <p:cNvPicPr>
            <a:picLocks noChangeAspect="1"/>
          </p:cNvPicPr>
          <p:nvPr/>
        </p:nvPicPr>
        <p:blipFill>
          <a:blip r:embed="rId3"/>
          <a:srcRect l="4350" r="4350" b="0"/>
          <a:stretch>
            <a:fillRect/>
          </a:stretch>
        </p:blipFill>
        <p:spPr>
          <a:xfrm>
            <a:off x="971550" y="3429000"/>
            <a:ext cx="8343900" cy="6854285"/>
          </a:xfrm>
          <a:prstGeom prst="roundRect">
            <a:avLst>
              <a:gd name="adj" fmla="val 3057"/>
            </a:avLst>
          </a:prstGeom>
        </p:spPr>
      </p:pic>
      <p:sp>
        <p:nvSpPr>
          <p:cNvPr id="8" name="Headline"/>
          <p:cNvSpPr txBox="1"/>
          <p:nvPr/>
        </p:nvSpPr>
        <p:spPr>
          <a:xfrm>
            <a:off x="971550" y="10774775"/>
            <a:ext cx="8677656" cy="2468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0"/>
              </a:lnSpc>
              <a:spcBef>
                <a:spcPts val="0"/>
              </a:spcBef>
              <a:spcAft>
                <a:spcPts val="0"/>
              </a:spcAft>
            </a:pPr>
            <a:r>
              <a:rPr b="0" sz="9000" i="0" spc="-135">
                <a:solidFill>
                  <a:srgbClr val="171726"/>
                </a:solidFill>
                <a:latin typeface="Archivo Black"/>
              </a:rPr>
              <a:t>ZILKER HOUSE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71550" y="12873704"/>
            <a:ext cx="3836990" cy="6507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362CFF"/>
                </a:solidFill>
                <a:latin typeface="Archivo Medium"/>
              </a:rPr>
              <a:t>Full exterior repaint.</a:t>
            </a:r>
          </a:p>
        </p:txBody>
      </p:sp>
      <p:sp>
        <p:nvSpPr>
          <p:cNvPr id="10" name="Box"/>
          <p:cNvSpPr/>
          <p:nvPr/>
        </p:nvSpPr>
        <p:spPr>
          <a:xfrm>
            <a:off x="971550" y="13681805"/>
            <a:ext cx="2775204" cy="1501045"/>
          </a:xfrm>
          <a:prstGeom prst="roundRect">
            <a:avLst>
              <a:gd name="adj" fmla="val 13960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Box frame"/>
          <p:cNvSpPr/>
          <p:nvPr/>
        </p:nvSpPr>
        <p:spPr>
          <a:xfrm>
            <a:off x="990600" y="13700855"/>
            <a:ext cx="2737104" cy="1462945"/>
          </a:xfrm>
          <a:prstGeom prst="roundRect">
            <a:avLst>
              <a:gd name="adj" fmla="val 14323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2028760" y="13972508"/>
            <a:ext cx="660593" cy="10081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670"/>
              </a:lnSpc>
              <a:spcBef>
                <a:spcPts val="0"/>
              </a:spcBef>
              <a:spcAft>
                <a:spcPts val="0"/>
              </a:spcAft>
            </a:pPr>
            <a:r>
              <a:rPr b="0" sz="6300" i="0" spc="-94">
                <a:solidFill>
                  <a:srgbClr val="362CFF"/>
                </a:solidFill>
                <a:latin typeface="Archivo Black"/>
              </a:rPr>
              <a:t>6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396350" y="14711324"/>
            <a:ext cx="1925604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0" sz="1500" i="1" spc="60">
                <a:solidFill>
                  <a:srgbClr val="362CFF"/>
                </a:solidFill>
                <a:latin typeface="Archivo ExtraBold"/>
              </a:rPr>
              <a:t>WORKING DAYS</a:t>
            </a:r>
          </a:p>
        </p:txBody>
      </p:sp>
      <p:sp>
        <p:nvSpPr>
          <p:cNvPr id="14" name="Box"/>
          <p:cNvSpPr/>
          <p:nvPr/>
        </p:nvSpPr>
        <p:spPr>
          <a:xfrm>
            <a:off x="3918204" y="13681805"/>
            <a:ext cx="1760506" cy="1501045"/>
          </a:xfrm>
          <a:prstGeom prst="roundRect">
            <a:avLst>
              <a:gd name="adj" fmla="val 13960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Box frame"/>
          <p:cNvSpPr/>
          <p:nvPr/>
        </p:nvSpPr>
        <p:spPr>
          <a:xfrm>
            <a:off x="3937254" y="13700855"/>
            <a:ext cx="1722406" cy="1462945"/>
          </a:xfrm>
          <a:prstGeom prst="roundRect">
            <a:avLst>
              <a:gd name="adj" fmla="val 14323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4468113" y="13972508"/>
            <a:ext cx="660593" cy="10081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670"/>
              </a:lnSpc>
              <a:spcBef>
                <a:spcPts val="0"/>
              </a:spcBef>
              <a:spcAft>
                <a:spcPts val="0"/>
              </a:spcAft>
            </a:pPr>
            <a:r>
              <a:rPr b="0" sz="6300" i="0" spc="-94">
                <a:solidFill>
                  <a:srgbClr val="362CFF"/>
                </a:solidFill>
                <a:latin typeface="Archivo Black"/>
              </a:rPr>
              <a:t>4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4403897" y="14711324"/>
            <a:ext cx="788929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0" sz="1500" i="1" spc="60">
                <a:solidFill>
                  <a:srgbClr val="362CFF"/>
                </a:solidFill>
                <a:latin typeface="Archivo ExtraBold"/>
              </a:rPr>
              <a:t>CREW</a:t>
            </a:r>
          </a:p>
        </p:txBody>
      </p:sp>
      <p:sp>
        <p:nvSpPr>
          <p:cNvPr id="18" name="Box"/>
          <p:cNvSpPr/>
          <p:nvPr/>
        </p:nvSpPr>
        <p:spPr>
          <a:xfrm>
            <a:off x="5850160" y="13681805"/>
            <a:ext cx="3465290" cy="1501045"/>
          </a:xfrm>
          <a:prstGeom prst="roundRect">
            <a:avLst>
              <a:gd name="adj" fmla="val 13960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Box frame"/>
          <p:cNvSpPr/>
          <p:nvPr/>
        </p:nvSpPr>
        <p:spPr>
          <a:xfrm>
            <a:off x="5869210" y="13700855"/>
            <a:ext cx="3427190" cy="1462945"/>
          </a:xfrm>
          <a:prstGeom prst="roundRect">
            <a:avLst>
              <a:gd name="adj" fmla="val 14323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6233560" y="13972508"/>
            <a:ext cx="2698394" cy="10081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670"/>
              </a:lnSpc>
              <a:spcBef>
                <a:spcPts val="0"/>
              </a:spcBef>
              <a:spcAft>
                <a:spcPts val="0"/>
              </a:spcAft>
            </a:pPr>
            <a:r>
              <a:rPr b="0" sz="6300" i="0" spc="-94">
                <a:solidFill>
                  <a:srgbClr val="362CFF"/>
                </a:solidFill>
                <a:latin typeface="Archivo Black"/>
              </a:rPr>
              <a:t>2,850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7201995" y="14711324"/>
            <a:ext cx="761619" cy="3251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8"/>
              </a:lnSpc>
              <a:spcBef>
                <a:spcPts val="0"/>
              </a:spcBef>
              <a:spcAft>
                <a:spcPts val="0"/>
              </a:spcAft>
            </a:pPr>
            <a:r>
              <a:rPr b="0" sz="1500" i="1" spc="60">
                <a:solidFill>
                  <a:srgbClr val="362CFF"/>
                </a:solidFill>
                <a:latin typeface="Archivo ExtraBold"/>
              </a:rPr>
              <a:t>SQ 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779270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4712463fd37a67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438414"/>
            <a:ext cx="2402110" cy="571472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7553611" y="2577389"/>
            <a:ext cx="2049460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THIS OR THAT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971550" y="3445764"/>
            <a:ext cx="8677656" cy="34701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209"/>
              </a:lnSpc>
              <a:spcBef>
                <a:spcPts val="0"/>
              </a:spcBef>
              <a:spcAft>
                <a:spcPts val="0"/>
              </a:spcAft>
            </a:pPr>
            <a:r>
              <a:rPr b="0" sz="6900" i="0" spc="-103">
                <a:solidFill>
                  <a:srgbClr val="171726"/>
                </a:solidFill>
                <a:latin typeface="Archivo Black"/>
              </a:rPr>
              <a:t>INTERIOR REFRESH OR EXTERIOR REPAINT?</a:t>
            </a:r>
          </a:p>
        </p:txBody>
      </p:sp>
      <p:sp>
        <p:nvSpPr>
          <p:cNvPr id="7" name="Box"/>
          <p:cNvSpPr/>
          <p:nvPr/>
        </p:nvSpPr>
        <p:spPr>
          <a:xfrm>
            <a:off x="971550" y="6926485"/>
            <a:ext cx="8343900" cy="3810000"/>
          </a:xfrm>
          <a:prstGeom prst="roundRect">
            <a:avLst>
              <a:gd name="adj" fmla="val 5500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hoto" descr="photo-1642b31fe5ac0770.jpg"/>
          <p:cNvPicPr>
            <a:picLocks noChangeAspect="1"/>
          </p:cNvPicPr>
          <p:nvPr/>
        </p:nvPicPr>
        <p:blipFill>
          <a:blip r:embed="rId3"/>
          <a:srcRect t="9434" b="9432"/>
          <a:stretch>
            <a:fillRect/>
          </a:stretch>
        </p:blipFill>
        <p:spPr>
          <a:xfrm>
            <a:off x="971550" y="6926485"/>
            <a:ext cx="8343900" cy="3810000"/>
          </a:xfrm>
          <a:prstGeom prst="roundRect">
            <a:avLst>
              <a:gd name="adj" fmla="val 5500"/>
            </a:avLst>
          </a:prstGeom>
        </p:spPr>
      </p:pic>
      <p:sp>
        <p:nvSpPr>
          <p:cNvPr id="9" name="Box"/>
          <p:cNvSpPr/>
          <p:nvPr/>
        </p:nvSpPr>
        <p:spPr>
          <a:xfrm>
            <a:off x="1200150" y="9707785"/>
            <a:ext cx="3250882" cy="80010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1436389" y="9947815"/>
            <a:ext cx="2778404" cy="4800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700" i="0">
                <a:solidFill>
                  <a:srgbClr val="ECE9E0"/>
                </a:solidFill>
                <a:latin typeface="Archivo"/>
              </a:rPr>
              <a:t>Interior refresh</a:t>
            </a:r>
          </a:p>
        </p:txBody>
      </p:sp>
      <p:sp>
        <p:nvSpPr>
          <p:cNvPr id="11" name="Box"/>
          <p:cNvSpPr/>
          <p:nvPr/>
        </p:nvSpPr>
        <p:spPr>
          <a:xfrm>
            <a:off x="971550" y="10965085"/>
            <a:ext cx="8343900" cy="3810000"/>
          </a:xfrm>
          <a:prstGeom prst="roundRect">
            <a:avLst>
              <a:gd name="adj" fmla="val 5500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hoto" descr="photo-8488522b832d1eb1.jpg"/>
          <p:cNvPicPr>
            <a:picLocks noChangeAspect="1"/>
          </p:cNvPicPr>
          <p:nvPr/>
        </p:nvPicPr>
        <p:blipFill>
          <a:blip r:embed="rId4"/>
          <a:srcRect t="27382" b="11735"/>
          <a:stretch>
            <a:fillRect/>
          </a:stretch>
        </p:blipFill>
        <p:spPr>
          <a:xfrm>
            <a:off x="971550" y="10965085"/>
            <a:ext cx="8343900" cy="3810000"/>
          </a:xfrm>
          <a:prstGeom prst="roundRect">
            <a:avLst>
              <a:gd name="adj" fmla="val 5500"/>
            </a:avLst>
          </a:prstGeom>
        </p:spPr>
      </p:pic>
      <p:sp>
        <p:nvSpPr>
          <p:cNvPr id="13" name="Box"/>
          <p:cNvSpPr/>
          <p:nvPr/>
        </p:nvSpPr>
        <p:spPr>
          <a:xfrm>
            <a:off x="1200150" y="13746385"/>
            <a:ext cx="3358610" cy="800100"/>
          </a:xfrm>
          <a:prstGeom prst="roundRect">
            <a:avLst>
              <a:gd name="adj" fmla="val 50000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1429925" y="13986415"/>
            <a:ext cx="2899059" cy="4800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700" i="0">
                <a:solidFill>
                  <a:srgbClr val="ECE9E0"/>
                </a:solidFill>
                <a:latin typeface="Archivo"/>
              </a:rPr>
              <a:t>Exterior repaint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779270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4712463fd37a67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438414"/>
            <a:ext cx="2402110" cy="571472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6579584" y="2577389"/>
            <a:ext cx="3140370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REFERRAL PROGRAM</a:t>
            </a:r>
          </a:p>
        </p:txBody>
      </p:sp>
      <p:pic>
        <p:nvPicPr>
          <p:cNvPr id="6" name="Graphic" descr="logo-334b4a9fe8e8a8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27" y="3295650"/>
            <a:ext cx="4000346" cy="1866710"/>
          </a:xfrm>
          <a:prstGeom prst="rect">
            <a:avLst/>
          </a:prstGeom>
        </p:spPr>
      </p:pic>
      <p:pic>
        <p:nvPicPr>
          <p:cNvPr id="7" name="Graphic" descr="logo-6140aa2e1cf6a3d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076" y="4876610"/>
            <a:ext cx="6286449" cy="3369945"/>
          </a:xfrm>
          <a:prstGeom prst="rect">
            <a:avLst/>
          </a:prstGeom>
        </p:spPr>
      </p:pic>
      <p:sp>
        <p:nvSpPr>
          <p:cNvPr id="8" name="Headline"/>
          <p:cNvSpPr txBox="1"/>
          <p:nvPr/>
        </p:nvSpPr>
        <p:spPr>
          <a:xfrm>
            <a:off x="971550" y="8851202"/>
            <a:ext cx="8677656" cy="19236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55"/>
              </a:lnSpc>
              <a:spcBef>
                <a:spcPts val="0"/>
              </a:spcBef>
              <a:spcAft>
                <a:spcPts val="0"/>
              </a:spcAft>
            </a:pPr>
            <a:r>
              <a:rPr b="0" sz="4950" i="0" spc="-74">
                <a:solidFill>
                  <a:srgbClr val="171726"/>
                </a:solidFill>
                <a:latin typeface="Archivo Black"/>
              </a:rPr>
              <a:t>GOOD WORK SHOULD KEEP WORKING FOR YOU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71550" y="10704328"/>
            <a:ext cx="8677656" cy="10040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b="0" sz="2700" i="0" spc="-13">
                <a:solidFill>
                  <a:srgbClr val="171726"/>
                </a:solidFill>
                <a:latin typeface="Archivo Medium"/>
              </a:rPr>
              <a:t>Refer good people, earn Cosmic Credit, get member perks, and keep your property looked after.</a:t>
            </a:r>
          </a:p>
        </p:txBody>
      </p:sp>
      <p:sp>
        <p:nvSpPr>
          <p:cNvPr id="10" name="Box"/>
          <p:cNvSpPr/>
          <p:nvPr/>
        </p:nvSpPr>
        <p:spPr>
          <a:xfrm>
            <a:off x="971550" y="14306550"/>
            <a:ext cx="2501170" cy="87630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1359452" y="14584680"/>
            <a:ext cx="1725366" cy="4800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700" i="0">
                <a:solidFill>
                  <a:srgbClr val="ECE9E0"/>
                </a:solidFill>
                <a:latin typeface="Archivo"/>
              </a:rPr>
              <a:t>Join now</a:t>
            </a:r>
          </a:p>
        </p:txBody>
      </p:sp>
      <p:sp>
        <p:nvSpPr>
          <p:cNvPr id="12" name="Box frame"/>
          <p:cNvSpPr/>
          <p:nvPr/>
        </p:nvSpPr>
        <p:spPr>
          <a:xfrm>
            <a:off x="3696557" y="14525625"/>
            <a:ext cx="2507266" cy="438150"/>
          </a:xfrm>
          <a:prstGeom prst="roundRect">
            <a:avLst>
              <a:gd name="adj" fmla="val 21739"/>
            </a:avLst>
          </a:prstGeom>
          <a:noFill/>
          <a:ln w="28575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3844195" y="14547456"/>
            <a:ext cx="2553630" cy="5201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400" i="0" spc="96">
                <a:solidFill>
                  <a:srgbClr val="362CFF"/>
                </a:solidFill>
                <a:latin typeface="Archivo"/>
              </a:rPr>
              <a:t>[TBC: OFFER]</a:t>
            </a:r>
          </a:p>
        </p:txBody>
      </p:sp>
      <p:pic>
        <p:nvPicPr>
          <p:cNvPr id="14" name="Graphic" descr="logo-fd08ff668da16f7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4" y="12440984"/>
            <a:ext cx="2762241" cy="27418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779270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f85a95b476ed01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082" y="2438403"/>
            <a:ext cx="2882646" cy="685793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4041598" y="3950437"/>
            <a:ext cx="2203613" cy="48766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42"/>
              </a:lnSpc>
              <a:spcBef>
                <a:spcPts val="0"/>
              </a:spcBef>
              <a:spcAft>
                <a:spcPts val="0"/>
              </a:spcAft>
            </a:pPr>
            <a:r>
              <a:rPr b="0" sz="2250" i="1" spc="89">
                <a:solidFill>
                  <a:srgbClr val="362CFF"/>
                </a:solidFill>
                <a:latin typeface="Archivo ExtraBold"/>
              </a:rPr>
              <a:t>QUESTIONS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804672" y="4588383"/>
            <a:ext cx="8677656" cy="57401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369"/>
              </a:lnSpc>
              <a:spcBef>
                <a:spcPts val="0"/>
              </a:spcBef>
              <a:spcAft>
                <a:spcPts val="0"/>
              </a:spcAft>
            </a:pPr>
            <a:r>
              <a:rPr b="0" sz="9300" i="0" spc="-139">
                <a:solidFill>
                  <a:srgbClr val="171726"/>
                </a:solidFill>
                <a:latin typeface="Archivo Black"/>
              </a:rPr>
              <a:t>ASK US ANYTHING ABOUT YOUR PROJECT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2819253" y="10191540"/>
            <a:ext cx="4648398" cy="6832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43"/>
              </a:lnSpc>
              <a:spcBef>
                <a:spcPts val="0"/>
              </a:spcBef>
              <a:spcAft>
                <a:spcPts val="0"/>
              </a:spcAft>
            </a:pPr>
            <a:r>
              <a:rPr b="0" sz="3150" i="0" spc="-15">
                <a:solidFill>
                  <a:srgbClr val="362CFF"/>
                </a:solidFill>
                <a:latin typeface="Archivo Medium"/>
              </a:rPr>
              <a:t>Owner-led. We answer.</a:t>
            </a:r>
          </a:p>
        </p:txBody>
      </p:sp>
      <p:pic>
        <p:nvPicPr>
          <p:cNvPr id="8" name="Graphic" descr="logo-fbf9fad34eb91a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540" y="11270020"/>
            <a:ext cx="4685824" cy="2857419"/>
          </a:xfrm>
          <a:prstGeom prst="rect">
            <a:avLst/>
          </a:prstGeom>
        </p:spPr>
      </p:pic>
      <p:sp>
        <p:nvSpPr>
          <p:cNvPr id="9" name="Box frame"/>
          <p:cNvSpPr/>
          <p:nvPr/>
        </p:nvSpPr>
        <p:spPr>
          <a:xfrm>
            <a:off x="1543050" y="14211300"/>
            <a:ext cx="7200900" cy="9525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1901584" y="14527530"/>
            <a:ext cx="3695959" cy="4800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0" sz="2700" i="0">
                <a:solidFill>
                  <a:srgbClr val="362CFF"/>
                </a:solidFill>
                <a:latin typeface="Archivo Medium"/>
              </a:rPr>
              <a:t>Type your question...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