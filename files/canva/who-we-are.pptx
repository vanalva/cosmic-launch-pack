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0287000" cy="1285875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who-we-are/01-cover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who-we-are/02-ground-up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who-we-are/03-roberto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who-we-are/04-carlos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who-we-are/05-built-for-austin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who-we-are/06-long-haul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jp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jp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0287000" cy="12858750"/>
          </a:xfrm>
          <a:prstGeom prst="rect">
            <a:avLst/>
          </a:prstGeom>
          <a:solidFill>
            <a:srgbClr val="362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ox"/>
          <p:cNvSpPr/>
          <p:nvPr/>
        </p:nvSpPr>
        <p:spPr>
          <a:xfrm>
            <a:off x="247650" y="247650"/>
            <a:ext cx="9791700" cy="12363450"/>
          </a:xfrm>
          <a:prstGeom prst="roundRect">
            <a:avLst>
              <a:gd name="adj" fmla="val 2918"/>
            </a:avLst>
          </a:prstGeom>
          <a:solidFill>
            <a:srgbClr val="E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
          <p:cNvSpPr txBox="1"/>
          <p:nvPr/>
        </p:nvSpPr>
        <p:spPr>
          <a:xfrm>
            <a:off x="914400" y="834314"/>
            <a:ext cx="1926565" cy="390182"/>
          </a:xfrm>
          <a:prstGeom prst="rect">
            <a:avLst/>
          </a:prstGeom>
          <a:noFill/>
        </p:spPr>
        <p:txBody>
          <a:bodyPr wrap="none" lIns="0" rIns="0" tIns="0" bIns="0" anchor="t">
            <a:noAutofit/>
          </a:bodyPr>
          <a:lstStyle/>
          <a:p>
            <a:pPr algn="l">
              <a:lnSpc>
                <a:spcPts val="2194"/>
              </a:lnSpc>
              <a:spcBef>
                <a:spcPts val="0"/>
              </a:spcBef>
              <a:spcAft>
                <a:spcPts val="0"/>
              </a:spcAft>
            </a:pPr>
            <a:r>
              <a:rPr b="0" sz="1800" i="1" spc="72">
                <a:solidFill>
                  <a:srgbClr val="362CFF"/>
                </a:solidFill>
                <a:latin typeface="Archivo ExtraBold"/>
              </a:rPr>
              <a:t>WHO WE ARE</a:t>
            </a:r>
          </a:p>
        </p:txBody>
      </p:sp>
      <p:sp>
        <p:nvSpPr>
          <p:cNvPr id="5" name="Text"/>
          <p:cNvSpPr txBox="1"/>
          <p:nvPr/>
        </p:nvSpPr>
        <p:spPr>
          <a:xfrm>
            <a:off x="8581549" y="834314"/>
            <a:ext cx="962177" cy="390182"/>
          </a:xfrm>
          <a:prstGeom prst="rect">
            <a:avLst/>
          </a:prstGeom>
          <a:noFill/>
        </p:spPr>
        <p:txBody>
          <a:bodyPr wrap="none" lIns="0" rIns="0" tIns="0" bIns="0" anchor="t">
            <a:noAutofit/>
          </a:bodyPr>
          <a:lstStyle/>
          <a:p>
            <a:pPr algn="l">
              <a:lnSpc>
                <a:spcPts val="2194"/>
              </a:lnSpc>
              <a:spcBef>
                <a:spcPts val="0"/>
              </a:spcBef>
              <a:spcAft>
                <a:spcPts val="0"/>
              </a:spcAft>
            </a:pPr>
            <a:r>
              <a:rPr b="0" sz="1800" i="1" spc="72">
                <a:solidFill>
                  <a:srgbClr val="362CFF"/>
                </a:solidFill>
                <a:latin typeface="Archivo ExtraBold"/>
              </a:rPr>
              <a:t>01 / 06</a:t>
            </a:r>
          </a:p>
        </p:txBody>
      </p:sp>
      <p:sp>
        <p:nvSpPr>
          <p:cNvPr id="6" name="Text"/>
          <p:cNvSpPr txBox="1"/>
          <p:nvPr/>
        </p:nvSpPr>
        <p:spPr>
          <a:xfrm>
            <a:off x="914400" y="1714119"/>
            <a:ext cx="6283482" cy="2715768"/>
          </a:xfrm>
          <a:prstGeom prst="rect">
            <a:avLst/>
          </a:prstGeom>
          <a:noFill/>
        </p:spPr>
        <p:txBody>
          <a:bodyPr wrap="none" lIns="0" rIns="0" tIns="0" bIns="0" anchor="t">
            <a:noAutofit/>
          </a:bodyPr>
          <a:lstStyle/>
          <a:p>
            <a:pPr algn="l">
              <a:lnSpc>
                <a:spcPts val="8910"/>
              </a:lnSpc>
              <a:spcBef>
                <a:spcPts val="0"/>
              </a:spcBef>
              <a:spcAft>
                <a:spcPts val="0"/>
              </a:spcAft>
            </a:pPr>
            <a:r>
              <a:rPr b="0" sz="9900" i="0" spc="-148">
                <a:solidFill>
                  <a:srgbClr val="171726"/>
                </a:solidFill>
                <a:latin typeface="Archivo Black"/>
              </a:rPr>
              <a:t>WHO</a:t>
            </a:r>
          </a:p>
          <a:p>
            <a:pPr algn="l">
              <a:lnSpc>
                <a:spcPts val="8910"/>
              </a:lnSpc>
              <a:spcBef>
                <a:spcPts val="0"/>
              </a:spcBef>
              <a:spcAft>
                <a:spcPts val="0"/>
              </a:spcAft>
            </a:pPr>
            <a:r>
              <a:rPr b="0" sz="9900" i="0" spc="-148">
                <a:solidFill>
                  <a:srgbClr val="362CFF"/>
                </a:solidFill>
                <a:latin typeface="Archivo Black"/>
              </a:rPr>
              <a:t>WE ARE.</a:t>
            </a:r>
          </a:p>
        </p:txBody>
      </p:sp>
      <p:sp>
        <p:nvSpPr>
          <p:cNvPr id="7" name="Text"/>
          <p:cNvSpPr txBox="1"/>
          <p:nvPr/>
        </p:nvSpPr>
        <p:spPr>
          <a:xfrm>
            <a:off x="914400" y="4167664"/>
            <a:ext cx="4647438" cy="650748"/>
          </a:xfrm>
          <a:prstGeom prst="rect">
            <a:avLst/>
          </a:prstGeom>
          <a:noFill/>
        </p:spPr>
        <p:txBody>
          <a:bodyPr wrap="none" lIns="0" rIns="0" tIns="0" bIns="0" anchor="t">
            <a:noAutofit/>
          </a:bodyPr>
          <a:lstStyle/>
          <a:p>
            <a:pPr algn="l">
              <a:lnSpc>
                <a:spcPts val="3659"/>
              </a:lnSpc>
              <a:spcBef>
                <a:spcPts val="0"/>
              </a:spcBef>
              <a:spcAft>
                <a:spcPts val="0"/>
              </a:spcAft>
            </a:pPr>
            <a:r>
              <a:rPr b="0" sz="3000" i="0" spc="-15">
                <a:solidFill>
                  <a:srgbClr val="171726"/>
                </a:solidFill>
                <a:latin typeface="Archivo Medium"/>
              </a:rPr>
              <a:t>A hands-on Austin crew.</a:t>
            </a:r>
          </a:p>
        </p:txBody>
      </p:sp>
      <p:pic>
        <p:nvPicPr>
          <p:cNvPr id="8" name="Graphic" descr="logo-ebaaf6527d6cd2bb.png"/>
          <p:cNvPicPr>
            <a:picLocks noChangeAspect="1"/>
          </p:cNvPicPr>
          <p:nvPr/>
        </p:nvPicPr>
        <p:blipFill>
          <a:blip r:embed="rId2"/>
          <a:stretch>
            <a:fillRect/>
          </a:stretch>
        </p:blipFill>
        <p:spPr>
          <a:xfrm>
            <a:off x="6174772" y="2295607"/>
            <a:ext cx="3578828" cy="4190836"/>
          </a:xfrm>
          <a:prstGeom prst="rect">
            <a:avLst/>
          </a:prstGeom>
        </p:spPr>
      </p:pic>
      <p:sp>
        <p:nvSpPr>
          <p:cNvPr id="9" name="Box"/>
          <p:cNvSpPr/>
          <p:nvPr/>
        </p:nvSpPr>
        <p:spPr>
          <a:xfrm>
            <a:off x="914400" y="8191500"/>
            <a:ext cx="8458200" cy="3810000"/>
          </a:xfrm>
          <a:prstGeom prst="roundRect">
            <a:avLst>
              <a:gd name="adj" fmla="val 5500"/>
            </a:avLst>
          </a:prstGeom>
          <a:solidFill>
            <a:srgbClr val="17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hoto" descr="photo-c687f5e608e8d650.jpg"/>
          <p:cNvPicPr>
            <a:picLocks noChangeAspect="1"/>
          </p:cNvPicPr>
          <p:nvPr/>
        </p:nvPicPr>
        <p:blipFill>
          <a:blip r:embed="rId3"/>
          <a:srcRect t="7986" b="11978"/>
          <a:stretch>
            <a:fillRect/>
          </a:stretch>
        </p:blipFill>
        <p:spPr>
          <a:xfrm>
            <a:off x="914400" y="8191500"/>
            <a:ext cx="8458200" cy="3810000"/>
          </a:xfrm>
          <a:prstGeom prst="roundRect">
            <a:avLst>
              <a:gd name="adj" fmla="val 5500"/>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0287000" cy="12858750"/>
          </a:xfrm>
          <a:prstGeom prst="rect">
            <a:avLst/>
          </a:prstGeom>
          <a:solidFill>
            <a:srgbClr val="362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
          <p:cNvSpPr txBox="1"/>
          <p:nvPr/>
        </p:nvSpPr>
        <p:spPr>
          <a:xfrm>
            <a:off x="685800" y="643814"/>
            <a:ext cx="1926565" cy="390182"/>
          </a:xfrm>
          <a:prstGeom prst="rect">
            <a:avLst/>
          </a:prstGeom>
          <a:noFill/>
        </p:spPr>
        <p:txBody>
          <a:bodyPr wrap="none" lIns="0" rIns="0" tIns="0" bIns="0" anchor="t">
            <a:noAutofit/>
          </a:bodyPr>
          <a:lstStyle/>
          <a:p>
            <a:pPr algn="l">
              <a:lnSpc>
                <a:spcPts val="2194"/>
              </a:lnSpc>
              <a:spcBef>
                <a:spcPts val="0"/>
              </a:spcBef>
              <a:spcAft>
                <a:spcPts val="0"/>
              </a:spcAft>
            </a:pPr>
            <a:r>
              <a:rPr b="0" sz="1800" i="1" spc="72">
                <a:solidFill>
                  <a:srgbClr val="ECE9E0"/>
                </a:solidFill>
                <a:latin typeface="Archivo ExtraBold"/>
              </a:rPr>
              <a:t>WHO WE ARE</a:t>
            </a:r>
          </a:p>
        </p:txBody>
      </p:sp>
      <p:sp>
        <p:nvSpPr>
          <p:cNvPr id="4" name="Text"/>
          <p:cNvSpPr txBox="1"/>
          <p:nvPr/>
        </p:nvSpPr>
        <p:spPr>
          <a:xfrm>
            <a:off x="8810149" y="643814"/>
            <a:ext cx="962177" cy="390182"/>
          </a:xfrm>
          <a:prstGeom prst="rect">
            <a:avLst/>
          </a:prstGeom>
          <a:noFill/>
        </p:spPr>
        <p:txBody>
          <a:bodyPr wrap="none" lIns="0" rIns="0" tIns="0" bIns="0" anchor="t">
            <a:noAutofit/>
          </a:bodyPr>
          <a:lstStyle/>
          <a:p>
            <a:pPr algn="l">
              <a:lnSpc>
                <a:spcPts val="2194"/>
              </a:lnSpc>
              <a:spcBef>
                <a:spcPts val="0"/>
              </a:spcBef>
              <a:spcAft>
                <a:spcPts val="0"/>
              </a:spcAft>
            </a:pPr>
            <a:r>
              <a:rPr b="0" sz="1800" i="1" spc="72">
                <a:solidFill>
                  <a:srgbClr val="ECE9E0"/>
                </a:solidFill>
                <a:latin typeface="Archivo ExtraBold"/>
              </a:rPr>
              <a:t>02 / 06</a:t>
            </a:r>
          </a:p>
        </p:txBody>
      </p:sp>
      <p:sp>
        <p:nvSpPr>
          <p:cNvPr id="5" name="Headline"/>
          <p:cNvSpPr txBox="1"/>
          <p:nvPr/>
        </p:nvSpPr>
        <p:spPr>
          <a:xfrm>
            <a:off x="685800" y="1546479"/>
            <a:ext cx="8100670" cy="3264408"/>
          </a:xfrm>
          <a:prstGeom prst="rect">
            <a:avLst/>
          </a:prstGeom>
          <a:noFill/>
        </p:spPr>
        <p:txBody>
          <a:bodyPr wrap="none" lIns="0" rIns="0" tIns="0" bIns="0" anchor="t">
            <a:noAutofit/>
          </a:bodyPr>
          <a:lstStyle/>
          <a:p>
            <a:pPr algn="l">
              <a:lnSpc>
                <a:spcPts val="7559"/>
              </a:lnSpc>
              <a:spcBef>
                <a:spcPts val="0"/>
              </a:spcBef>
              <a:spcAft>
                <a:spcPts val="0"/>
              </a:spcAft>
            </a:pPr>
            <a:r>
              <a:rPr b="0" sz="8400" i="0" spc="-126">
                <a:solidFill>
                  <a:srgbClr val="ECE9E0"/>
                </a:solidFill>
                <a:latin typeface="Archivo Black"/>
              </a:rPr>
              <a:t>COSMIC,</a:t>
            </a:r>
          </a:p>
          <a:p>
            <a:pPr algn="l">
              <a:lnSpc>
                <a:spcPts val="7559"/>
              </a:lnSpc>
              <a:spcBef>
                <a:spcPts val="0"/>
              </a:spcBef>
              <a:spcAft>
                <a:spcPts val="0"/>
              </a:spcAft>
            </a:pPr>
            <a:r>
              <a:rPr b="0" sz="8400" i="0" spc="-126">
                <a:solidFill>
                  <a:srgbClr val="ECE9E0"/>
                </a:solidFill>
                <a:latin typeface="Archivo Black"/>
              </a:rPr>
              <a:t>FROM THE</a:t>
            </a:r>
          </a:p>
          <a:p>
            <a:pPr algn="l">
              <a:lnSpc>
                <a:spcPts val="7559"/>
              </a:lnSpc>
              <a:spcBef>
                <a:spcPts val="0"/>
              </a:spcBef>
              <a:spcAft>
                <a:spcPts val="0"/>
              </a:spcAft>
            </a:pPr>
            <a:r>
              <a:rPr b="0" sz="8400" i="0" spc="-126">
                <a:solidFill>
                  <a:srgbClr val="ECE9E0"/>
                </a:solidFill>
                <a:latin typeface="Archivo Black"/>
              </a:rPr>
              <a:t>GROUND UP.</a:t>
            </a:r>
          </a:p>
        </p:txBody>
      </p:sp>
      <p:sp>
        <p:nvSpPr>
          <p:cNvPr id="6" name="Text"/>
          <p:cNvSpPr txBox="1"/>
          <p:nvPr/>
        </p:nvSpPr>
        <p:spPr>
          <a:xfrm>
            <a:off x="685800" y="4754251"/>
            <a:ext cx="5118324" cy="835990"/>
          </a:xfrm>
          <a:prstGeom prst="rect">
            <a:avLst/>
          </a:prstGeom>
          <a:noFill/>
        </p:spPr>
        <p:txBody>
          <a:bodyPr wrap="none" lIns="0" rIns="0" tIns="0" bIns="0" anchor="t">
            <a:noAutofit/>
          </a:bodyPr>
          <a:lstStyle/>
          <a:p>
            <a:pPr algn="l">
              <a:lnSpc>
                <a:spcPts val="2742"/>
              </a:lnSpc>
              <a:spcBef>
                <a:spcPts val="0"/>
              </a:spcBef>
              <a:spcAft>
                <a:spcPts val="0"/>
              </a:spcAft>
            </a:pPr>
            <a:r>
              <a:rPr b="0" sz="2250" i="1" spc="89">
                <a:solidFill>
                  <a:srgbClr val="ECE9E0"/>
                </a:solidFill>
                <a:latin typeface="Archivo ExtraBold"/>
              </a:rPr>
              <a:t>OWNER-LED / AUSTIN-BUILT.</a:t>
            </a:r>
          </a:p>
          <a:p>
            <a:pPr algn="l">
              <a:lnSpc>
                <a:spcPts val="2742"/>
              </a:lnSpc>
              <a:spcBef>
                <a:spcPts val="0"/>
              </a:spcBef>
              <a:spcAft>
                <a:spcPts val="0"/>
              </a:spcAft>
            </a:pPr>
            <a:r>
              <a:rPr b="0" sz="2250" i="1" spc="89">
                <a:solidFill>
                  <a:srgbClr val="ECE9E0"/>
                </a:solidFill>
                <a:latin typeface="Archivo ExtraBold"/>
              </a:rPr>
              <a:t>HERE FOR THE LONG HAUL.</a:t>
            </a:r>
          </a:p>
        </p:txBody>
      </p:sp>
      <p:sp>
        <p:nvSpPr>
          <p:cNvPr id="7" name="Text"/>
          <p:cNvSpPr txBox="1"/>
          <p:nvPr/>
        </p:nvSpPr>
        <p:spPr>
          <a:xfrm>
            <a:off x="685800" y="5660269"/>
            <a:ext cx="6140828" cy="1840687"/>
          </a:xfrm>
          <a:prstGeom prst="rect">
            <a:avLst/>
          </a:prstGeom>
          <a:noFill/>
        </p:spPr>
        <p:txBody>
          <a:bodyPr wrap="square" lIns="0" rIns="0" tIns="0" bIns="0" anchor="t">
            <a:noAutofit/>
          </a:bodyPr>
          <a:lstStyle/>
          <a:p>
            <a:pPr algn="l">
              <a:lnSpc>
                <a:spcPts val="3294"/>
              </a:lnSpc>
              <a:spcBef>
                <a:spcPts val="0"/>
              </a:spcBef>
              <a:spcAft>
                <a:spcPts val="0"/>
              </a:spcAft>
            </a:pPr>
            <a:r>
              <a:rPr b="0" sz="2700" i="0" spc="-13">
                <a:solidFill>
                  <a:srgbClr val="ECE9E0"/>
                </a:solidFill>
                <a:latin typeface="Archivo Medium"/>
              </a:rPr>
              <a:t>Cosmic is a hands-on Austin crew built around clear communication, proper work, and taking responsibility for the spaces we touch.</a:t>
            </a:r>
          </a:p>
        </p:txBody>
      </p:sp>
      <p:sp>
        <p:nvSpPr>
          <p:cNvPr id="8" name="Box"/>
          <p:cNvSpPr/>
          <p:nvPr/>
        </p:nvSpPr>
        <p:spPr>
          <a:xfrm>
            <a:off x="685800" y="9048750"/>
            <a:ext cx="8915400" cy="3143250"/>
          </a:xfrm>
          <a:prstGeom prst="roundRect">
            <a:avLst>
              <a:gd name="adj" fmla="val 6666"/>
            </a:avLst>
          </a:prstGeom>
          <a:solidFill>
            <a:srgbClr val="17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hoto" descr="photo-a1fa86d7f13f45ad.jpg"/>
          <p:cNvPicPr>
            <a:picLocks noChangeAspect="1"/>
          </p:cNvPicPr>
          <p:nvPr/>
        </p:nvPicPr>
        <p:blipFill>
          <a:blip r:embed="rId2"/>
          <a:srcRect t="14942" b="22414"/>
          <a:stretch>
            <a:fillRect/>
          </a:stretch>
        </p:blipFill>
        <p:spPr>
          <a:xfrm>
            <a:off x="685800" y="9048750"/>
            <a:ext cx="8915400" cy="3143250"/>
          </a:xfrm>
          <a:prstGeom prst="roundRect">
            <a:avLst>
              <a:gd name="adj" fmla="val 6666"/>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0287000" cy="12858750"/>
          </a:xfrm>
          <a:prstGeom prst="rect">
            <a:avLst/>
          </a:prstGeom>
          <a:solidFill>
            <a:srgbClr val="362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ox"/>
          <p:cNvSpPr/>
          <p:nvPr/>
        </p:nvSpPr>
        <p:spPr>
          <a:xfrm>
            <a:off x="247650" y="247650"/>
            <a:ext cx="9791700" cy="12363450"/>
          </a:xfrm>
          <a:prstGeom prst="roundRect">
            <a:avLst>
              <a:gd name="adj" fmla="val 2918"/>
            </a:avLst>
          </a:prstGeom>
          <a:solidFill>
            <a:srgbClr val="E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
          <p:cNvSpPr txBox="1"/>
          <p:nvPr/>
        </p:nvSpPr>
        <p:spPr>
          <a:xfrm>
            <a:off x="914400" y="834314"/>
            <a:ext cx="1926565" cy="390182"/>
          </a:xfrm>
          <a:prstGeom prst="rect">
            <a:avLst/>
          </a:prstGeom>
          <a:noFill/>
        </p:spPr>
        <p:txBody>
          <a:bodyPr wrap="none" lIns="0" rIns="0" tIns="0" bIns="0" anchor="t">
            <a:noAutofit/>
          </a:bodyPr>
          <a:lstStyle/>
          <a:p>
            <a:pPr algn="l">
              <a:lnSpc>
                <a:spcPts val="2194"/>
              </a:lnSpc>
              <a:spcBef>
                <a:spcPts val="0"/>
              </a:spcBef>
              <a:spcAft>
                <a:spcPts val="0"/>
              </a:spcAft>
            </a:pPr>
            <a:r>
              <a:rPr b="0" sz="1800" i="1" spc="72">
                <a:solidFill>
                  <a:srgbClr val="362CFF"/>
                </a:solidFill>
                <a:latin typeface="Archivo ExtraBold"/>
              </a:rPr>
              <a:t>WHO WE ARE</a:t>
            </a:r>
          </a:p>
        </p:txBody>
      </p:sp>
      <p:sp>
        <p:nvSpPr>
          <p:cNvPr id="5" name="Text"/>
          <p:cNvSpPr txBox="1"/>
          <p:nvPr/>
        </p:nvSpPr>
        <p:spPr>
          <a:xfrm>
            <a:off x="8581549" y="834314"/>
            <a:ext cx="962177" cy="390182"/>
          </a:xfrm>
          <a:prstGeom prst="rect">
            <a:avLst/>
          </a:prstGeom>
          <a:noFill/>
        </p:spPr>
        <p:txBody>
          <a:bodyPr wrap="none" lIns="0" rIns="0" tIns="0" bIns="0" anchor="t">
            <a:noAutofit/>
          </a:bodyPr>
          <a:lstStyle/>
          <a:p>
            <a:pPr algn="l">
              <a:lnSpc>
                <a:spcPts val="2194"/>
              </a:lnSpc>
              <a:spcBef>
                <a:spcPts val="0"/>
              </a:spcBef>
              <a:spcAft>
                <a:spcPts val="0"/>
              </a:spcAft>
            </a:pPr>
            <a:r>
              <a:rPr b="0" sz="1800" i="1" spc="72">
                <a:solidFill>
                  <a:srgbClr val="362CFF"/>
                </a:solidFill>
                <a:latin typeface="Archivo ExtraBold"/>
              </a:rPr>
              <a:t>03 / 06</a:t>
            </a:r>
          </a:p>
        </p:txBody>
      </p:sp>
      <p:sp>
        <p:nvSpPr>
          <p:cNvPr id="6" name="Box"/>
          <p:cNvSpPr/>
          <p:nvPr/>
        </p:nvSpPr>
        <p:spPr>
          <a:xfrm>
            <a:off x="914400" y="1485900"/>
            <a:ext cx="4095750" cy="6096000"/>
          </a:xfrm>
          <a:prstGeom prst="roundRect">
            <a:avLst>
              <a:gd name="adj" fmla="val 5116"/>
            </a:avLst>
          </a:prstGeom>
          <a:solidFill>
            <a:srgbClr val="17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hoto" descr="photo-6e29d9d9e86199ad.jpg"/>
          <p:cNvPicPr>
            <a:picLocks noChangeAspect="1"/>
          </p:cNvPicPr>
          <p:nvPr/>
        </p:nvPicPr>
        <p:blipFill>
          <a:blip r:embed="rId2"/>
          <a:srcRect l="8023" r="8023"/>
          <a:stretch>
            <a:fillRect/>
          </a:stretch>
        </p:blipFill>
        <p:spPr>
          <a:xfrm>
            <a:off x="914400" y="1485900"/>
            <a:ext cx="4095750" cy="6096000"/>
          </a:xfrm>
          <a:prstGeom prst="roundRect">
            <a:avLst>
              <a:gd name="adj" fmla="val 5116"/>
            </a:avLst>
          </a:prstGeom>
        </p:spPr>
      </p:pic>
      <p:sp>
        <p:nvSpPr>
          <p:cNvPr id="8" name="Text"/>
          <p:cNvSpPr txBox="1"/>
          <p:nvPr/>
        </p:nvSpPr>
        <p:spPr>
          <a:xfrm>
            <a:off x="5391150" y="1722501"/>
            <a:ext cx="4485604" cy="936117"/>
          </a:xfrm>
          <a:prstGeom prst="rect">
            <a:avLst/>
          </a:prstGeom>
          <a:noFill/>
        </p:spPr>
        <p:txBody>
          <a:bodyPr wrap="none" lIns="0" rIns="0" tIns="0" bIns="0" anchor="t">
            <a:noAutofit/>
          </a:bodyPr>
          <a:lstStyle/>
          <a:p>
            <a:pPr algn="l">
              <a:lnSpc>
                <a:spcPts val="5265"/>
              </a:lnSpc>
              <a:spcBef>
                <a:spcPts val="0"/>
              </a:spcBef>
              <a:spcAft>
                <a:spcPts val="0"/>
              </a:spcAft>
            </a:pPr>
            <a:r>
              <a:rPr b="0" sz="5850" i="0" spc="-87">
                <a:solidFill>
                  <a:srgbClr val="171726"/>
                </a:solidFill>
                <a:latin typeface="Archivo Black"/>
              </a:rPr>
              <a:t>ROBERTO</a:t>
            </a:r>
          </a:p>
        </p:txBody>
      </p:sp>
      <p:pic>
        <p:nvPicPr>
          <p:cNvPr id="9" name="Graphic" descr="logo-384524ea7d787553.png"/>
          <p:cNvPicPr>
            <a:picLocks noChangeAspect="1"/>
          </p:cNvPicPr>
          <p:nvPr/>
        </p:nvPicPr>
        <p:blipFill>
          <a:blip r:embed="rId3"/>
          <a:stretch>
            <a:fillRect/>
          </a:stretch>
        </p:blipFill>
        <p:spPr>
          <a:xfrm>
            <a:off x="5391490" y="2402110"/>
            <a:ext cx="3980770" cy="650367"/>
          </a:xfrm>
          <a:prstGeom prst="rect">
            <a:avLst/>
          </a:prstGeom>
        </p:spPr>
      </p:pic>
      <p:sp>
        <p:nvSpPr>
          <p:cNvPr id="10" name="Text"/>
          <p:cNvSpPr txBox="1"/>
          <p:nvPr/>
        </p:nvSpPr>
        <p:spPr>
          <a:xfrm>
            <a:off x="5391150" y="3451231"/>
            <a:ext cx="4140708" cy="1004011"/>
          </a:xfrm>
          <a:prstGeom prst="rect">
            <a:avLst/>
          </a:prstGeom>
          <a:noFill/>
        </p:spPr>
        <p:txBody>
          <a:bodyPr wrap="square" lIns="0" rIns="0" tIns="0" bIns="0" anchor="t">
            <a:noAutofit/>
          </a:bodyPr>
          <a:lstStyle/>
          <a:p>
            <a:pPr algn="l">
              <a:lnSpc>
                <a:spcPts val="3294"/>
              </a:lnSpc>
              <a:spcBef>
                <a:spcPts val="0"/>
              </a:spcBef>
              <a:spcAft>
                <a:spcPts val="0"/>
              </a:spcAft>
            </a:pPr>
            <a:r>
              <a:rPr b="1" sz="2700" i="0" spc="-13">
                <a:solidFill>
                  <a:srgbClr val="362CFF"/>
                </a:solidFill>
                <a:latin typeface="Archivo"/>
              </a:rPr>
              <a:t>An architect's eye. A builder's discipline.</a:t>
            </a:r>
          </a:p>
        </p:txBody>
      </p:sp>
      <p:sp>
        <p:nvSpPr>
          <p:cNvPr id="11" name="Text"/>
          <p:cNvSpPr txBox="1"/>
          <p:nvPr/>
        </p:nvSpPr>
        <p:spPr>
          <a:xfrm>
            <a:off x="914400" y="7903464"/>
            <a:ext cx="8796528" cy="3224403"/>
          </a:xfrm>
          <a:prstGeom prst="rect">
            <a:avLst/>
          </a:prstGeom>
          <a:noFill/>
        </p:spPr>
        <p:txBody>
          <a:bodyPr wrap="square" lIns="0" rIns="0" tIns="0" bIns="0" anchor="t">
            <a:noAutofit/>
          </a:bodyPr>
          <a:lstStyle/>
          <a:p>
            <a:pPr algn="l">
              <a:lnSpc>
                <a:spcPts val="3022"/>
              </a:lnSpc>
              <a:spcBef>
                <a:spcPts val="0"/>
              </a:spcBef>
              <a:spcAft>
                <a:spcPts val="0"/>
              </a:spcAft>
            </a:pPr>
            <a:r>
              <a:rPr b="0" sz="2325" i="0" spc="-11">
                <a:solidFill>
                  <a:srgbClr val="171726"/>
                </a:solidFill>
                <a:latin typeface="Archivo Medium"/>
              </a:rPr>
              <a:t>Roberto blends an architect's eye with a builder's discipline. He started in commercial construction, moved into single-family spec homes while completing a Master of Architecture at UT, then managed large residential projects and later served as an owner's representative for Austin ISD, delivering and renovating K–12 schools. He also holds bachelor's degrees in Mechanical Engineering and Industrial Engineering, which shape his process-driven approach and attention to detail.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0287000" cy="12858750"/>
          </a:xfrm>
          <a:prstGeom prst="rect">
            <a:avLst/>
          </a:prstGeom>
          <a:solidFill>
            <a:srgbClr val="362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
          <p:cNvSpPr txBox="1"/>
          <p:nvPr/>
        </p:nvSpPr>
        <p:spPr>
          <a:xfrm>
            <a:off x="685800" y="643814"/>
            <a:ext cx="1926565" cy="390182"/>
          </a:xfrm>
          <a:prstGeom prst="rect">
            <a:avLst/>
          </a:prstGeom>
          <a:noFill/>
        </p:spPr>
        <p:txBody>
          <a:bodyPr wrap="none" lIns="0" rIns="0" tIns="0" bIns="0" anchor="t">
            <a:noAutofit/>
          </a:bodyPr>
          <a:lstStyle/>
          <a:p>
            <a:pPr algn="l">
              <a:lnSpc>
                <a:spcPts val="2194"/>
              </a:lnSpc>
              <a:spcBef>
                <a:spcPts val="0"/>
              </a:spcBef>
              <a:spcAft>
                <a:spcPts val="0"/>
              </a:spcAft>
            </a:pPr>
            <a:r>
              <a:rPr b="0" sz="1800" i="1" spc="72">
                <a:solidFill>
                  <a:srgbClr val="ECE9E0"/>
                </a:solidFill>
                <a:latin typeface="Archivo ExtraBold"/>
              </a:rPr>
              <a:t>WHO WE ARE</a:t>
            </a:r>
          </a:p>
        </p:txBody>
      </p:sp>
      <p:sp>
        <p:nvSpPr>
          <p:cNvPr id="4" name="Text"/>
          <p:cNvSpPr txBox="1"/>
          <p:nvPr/>
        </p:nvSpPr>
        <p:spPr>
          <a:xfrm>
            <a:off x="8809863" y="643814"/>
            <a:ext cx="962497" cy="390182"/>
          </a:xfrm>
          <a:prstGeom prst="rect">
            <a:avLst/>
          </a:prstGeom>
          <a:noFill/>
        </p:spPr>
        <p:txBody>
          <a:bodyPr wrap="none" lIns="0" rIns="0" tIns="0" bIns="0" anchor="t">
            <a:noAutofit/>
          </a:bodyPr>
          <a:lstStyle/>
          <a:p>
            <a:pPr algn="l">
              <a:lnSpc>
                <a:spcPts val="2194"/>
              </a:lnSpc>
              <a:spcBef>
                <a:spcPts val="0"/>
              </a:spcBef>
              <a:spcAft>
                <a:spcPts val="0"/>
              </a:spcAft>
            </a:pPr>
            <a:r>
              <a:rPr b="0" sz="1800" i="1" spc="72">
                <a:solidFill>
                  <a:srgbClr val="ECE9E0"/>
                </a:solidFill>
                <a:latin typeface="Archivo ExtraBold"/>
              </a:rPr>
              <a:t>04 / 06</a:t>
            </a:r>
          </a:p>
        </p:txBody>
      </p:sp>
      <p:pic>
        <p:nvPicPr>
          <p:cNvPr id="5" name="Graphic" descr="logo-2c0d745a74ac28cb.png"/>
          <p:cNvPicPr>
            <a:picLocks noChangeAspect="1"/>
          </p:cNvPicPr>
          <p:nvPr/>
        </p:nvPicPr>
        <p:blipFill>
          <a:blip r:embed="rId2"/>
          <a:stretch>
            <a:fillRect/>
          </a:stretch>
        </p:blipFill>
        <p:spPr>
          <a:xfrm>
            <a:off x="685889" y="1428750"/>
            <a:ext cx="2762072" cy="806958"/>
          </a:xfrm>
          <a:prstGeom prst="rect">
            <a:avLst/>
          </a:prstGeom>
        </p:spPr>
      </p:pic>
      <p:pic>
        <p:nvPicPr>
          <p:cNvPr id="6" name="Graphic" descr="logo-1133f7c388cc266a.png"/>
          <p:cNvPicPr>
            <a:picLocks noChangeAspect="1"/>
          </p:cNvPicPr>
          <p:nvPr/>
        </p:nvPicPr>
        <p:blipFill>
          <a:blip r:embed="rId3"/>
          <a:stretch>
            <a:fillRect/>
          </a:stretch>
        </p:blipFill>
        <p:spPr>
          <a:xfrm>
            <a:off x="3581400" y="1607077"/>
            <a:ext cx="793432" cy="628612"/>
          </a:xfrm>
          <a:prstGeom prst="rect">
            <a:avLst/>
          </a:prstGeom>
        </p:spPr>
      </p:pic>
      <p:sp>
        <p:nvSpPr>
          <p:cNvPr id="7" name="Text"/>
          <p:cNvSpPr txBox="1"/>
          <p:nvPr/>
        </p:nvSpPr>
        <p:spPr>
          <a:xfrm>
            <a:off x="685800" y="2408682"/>
            <a:ext cx="4034348" cy="864108"/>
          </a:xfrm>
          <a:prstGeom prst="rect">
            <a:avLst/>
          </a:prstGeom>
          <a:noFill/>
        </p:spPr>
        <p:txBody>
          <a:bodyPr wrap="none" lIns="0" rIns="0" tIns="0" bIns="0" anchor="t">
            <a:noAutofit/>
          </a:bodyPr>
          <a:lstStyle/>
          <a:p>
            <a:pPr algn="l">
              <a:lnSpc>
                <a:spcPts val="4859"/>
              </a:lnSpc>
              <a:spcBef>
                <a:spcPts val="0"/>
              </a:spcBef>
              <a:spcAft>
                <a:spcPts val="0"/>
              </a:spcAft>
            </a:pPr>
            <a:r>
              <a:rPr b="0" sz="5400" i="0" spc="-81">
                <a:solidFill>
                  <a:srgbClr val="ECE9E0"/>
                </a:solidFill>
                <a:latin typeface="Archivo Black"/>
              </a:rPr>
              <a:t>ESTRADA</a:t>
            </a:r>
          </a:p>
        </p:txBody>
      </p:sp>
      <p:sp>
        <p:nvSpPr>
          <p:cNvPr id="8" name="Text"/>
          <p:cNvSpPr txBox="1"/>
          <p:nvPr/>
        </p:nvSpPr>
        <p:spPr>
          <a:xfrm>
            <a:off x="685800" y="3385033"/>
            <a:ext cx="4140708" cy="1004011"/>
          </a:xfrm>
          <a:prstGeom prst="rect">
            <a:avLst/>
          </a:prstGeom>
          <a:noFill/>
        </p:spPr>
        <p:txBody>
          <a:bodyPr wrap="square" lIns="0" rIns="0" tIns="0" bIns="0" anchor="t">
            <a:noAutofit/>
          </a:bodyPr>
          <a:lstStyle/>
          <a:p>
            <a:pPr algn="l">
              <a:lnSpc>
                <a:spcPts val="3294"/>
              </a:lnSpc>
              <a:spcBef>
                <a:spcPts val="0"/>
              </a:spcBef>
              <a:spcAft>
                <a:spcPts val="0"/>
              </a:spcAft>
            </a:pPr>
            <a:r>
              <a:rPr b="1" sz="2700" i="0" spc="-13">
                <a:solidFill>
                  <a:srgbClr val="ECE9E0"/>
                </a:solidFill>
                <a:latin typeface="Archivo"/>
              </a:rPr>
              <a:t>Customer experience first, every time.</a:t>
            </a:r>
          </a:p>
        </p:txBody>
      </p:sp>
      <p:sp>
        <p:nvSpPr>
          <p:cNvPr id="9" name="Box"/>
          <p:cNvSpPr/>
          <p:nvPr/>
        </p:nvSpPr>
        <p:spPr>
          <a:xfrm>
            <a:off x="5048250" y="1295400"/>
            <a:ext cx="4095750" cy="6096000"/>
          </a:xfrm>
          <a:prstGeom prst="roundRect">
            <a:avLst>
              <a:gd name="adj" fmla="val 5116"/>
            </a:avLst>
          </a:prstGeom>
          <a:solidFill>
            <a:srgbClr val="17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hoto" descr="photo-86ff3d6a419d0037.jpg"/>
          <p:cNvPicPr>
            <a:picLocks noChangeAspect="1"/>
          </p:cNvPicPr>
          <p:nvPr/>
        </p:nvPicPr>
        <p:blipFill>
          <a:blip r:embed="rId4"/>
          <a:srcRect l="8023" r="8023"/>
          <a:stretch>
            <a:fillRect/>
          </a:stretch>
        </p:blipFill>
        <p:spPr>
          <a:xfrm>
            <a:off x="5048250" y="1295400"/>
            <a:ext cx="4095750" cy="6096000"/>
          </a:xfrm>
          <a:prstGeom prst="roundRect">
            <a:avLst>
              <a:gd name="adj" fmla="val 5116"/>
            </a:avLst>
          </a:prstGeom>
        </p:spPr>
      </p:pic>
      <p:sp>
        <p:nvSpPr>
          <p:cNvPr id="11" name="Text"/>
          <p:cNvSpPr txBox="1"/>
          <p:nvPr/>
        </p:nvSpPr>
        <p:spPr>
          <a:xfrm>
            <a:off x="685800" y="7712964"/>
            <a:ext cx="9272016" cy="2456688"/>
          </a:xfrm>
          <a:prstGeom prst="rect">
            <a:avLst/>
          </a:prstGeom>
          <a:noFill/>
        </p:spPr>
        <p:txBody>
          <a:bodyPr wrap="square" lIns="0" rIns="0" tIns="0" bIns="0" anchor="t">
            <a:noAutofit/>
          </a:bodyPr>
          <a:lstStyle/>
          <a:p>
            <a:pPr algn="l">
              <a:lnSpc>
                <a:spcPts val="3022"/>
              </a:lnSpc>
              <a:spcBef>
                <a:spcPts val="0"/>
              </a:spcBef>
              <a:spcAft>
                <a:spcPts val="0"/>
              </a:spcAft>
            </a:pPr>
            <a:r>
              <a:rPr b="0" sz="2325" i="0" spc="-11">
                <a:solidFill>
                  <a:srgbClr val="ECE9E0"/>
                </a:solidFill>
                <a:latin typeface="Archivo Medium"/>
              </a:rPr>
              <a:t>Carlos pairs a strong business foundation with a personal touch. He earned a B.B.A. and an MBA, then built deep experience in home services as a top-performing Senior Project Manager and sales leader. After seeing too many companies put profits before people, he co-founded Cosmic to do it differently — customer experience first, every 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0287000" cy="12858750"/>
          </a:xfrm>
          <a:prstGeom prst="rect">
            <a:avLst/>
          </a:prstGeom>
          <a:solidFill>
            <a:srgbClr val="362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ox"/>
          <p:cNvSpPr/>
          <p:nvPr/>
        </p:nvSpPr>
        <p:spPr>
          <a:xfrm>
            <a:off x="247650" y="247650"/>
            <a:ext cx="9791700" cy="12363450"/>
          </a:xfrm>
          <a:prstGeom prst="roundRect">
            <a:avLst>
              <a:gd name="adj" fmla="val 2918"/>
            </a:avLst>
          </a:prstGeom>
          <a:solidFill>
            <a:srgbClr val="E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
          <p:cNvSpPr txBox="1"/>
          <p:nvPr/>
        </p:nvSpPr>
        <p:spPr>
          <a:xfrm>
            <a:off x="914400" y="834314"/>
            <a:ext cx="1926565" cy="390182"/>
          </a:xfrm>
          <a:prstGeom prst="rect">
            <a:avLst/>
          </a:prstGeom>
          <a:noFill/>
        </p:spPr>
        <p:txBody>
          <a:bodyPr wrap="none" lIns="0" rIns="0" tIns="0" bIns="0" anchor="t">
            <a:noAutofit/>
          </a:bodyPr>
          <a:lstStyle/>
          <a:p>
            <a:pPr algn="l">
              <a:lnSpc>
                <a:spcPts val="2194"/>
              </a:lnSpc>
              <a:spcBef>
                <a:spcPts val="0"/>
              </a:spcBef>
              <a:spcAft>
                <a:spcPts val="0"/>
              </a:spcAft>
            </a:pPr>
            <a:r>
              <a:rPr b="0" sz="1800" i="1" spc="72">
                <a:solidFill>
                  <a:srgbClr val="362CFF"/>
                </a:solidFill>
                <a:latin typeface="Archivo ExtraBold"/>
              </a:rPr>
              <a:t>WHO WE ARE</a:t>
            </a:r>
          </a:p>
        </p:txBody>
      </p:sp>
      <p:sp>
        <p:nvSpPr>
          <p:cNvPr id="5" name="Text"/>
          <p:cNvSpPr txBox="1"/>
          <p:nvPr/>
        </p:nvSpPr>
        <p:spPr>
          <a:xfrm>
            <a:off x="8581549" y="834314"/>
            <a:ext cx="962177" cy="390182"/>
          </a:xfrm>
          <a:prstGeom prst="rect">
            <a:avLst/>
          </a:prstGeom>
          <a:noFill/>
        </p:spPr>
        <p:txBody>
          <a:bodyPr wrap="none" lIns="0" rIns="0" tIns="0" bIns="0" anchor="t">
            <a:noAutofit/>
          </a:bodyPr>
          <a:lstStyle/>
          <a:p>
            <a:pPr algn="l">
              <a:lnSpc>
                <a:spcPts val="2194"/>
              </a:lnSpc>
              <a:spcBef>
                <a:spcPts val="0"/>
              </a:spcBef>
              <a:spcAft>
                <a:spcPts val="0"/>
              </a:spcAft>
            </a:pPr>
            <a:r>
              <a:rPr b="0" sz="1800" i="1" spc="72">
                <a:solidFill>
                  <a:srgbClr val="362CFF"/>
                </a:solidFill>
                <a:latin typeface="Archivo ExtraBold"/>
              </a:rPr>
              <a:t>05 / 06</a:t>
            </a:r>
          </a:p>
        </p:txBody>
      </p:sp>
      <p:sp>
        <p:nvSpPr>
          <p:cNvPr id="6" name="Text"/>
          <p:cNvSpPr txBox="1"/>
          <p:nvPr/>
        </p:nvSpPr>
        <p:spPr>
          <a:xfrm>
            <a:off x="914400" y="2160460"/>
            <a:ext cx="3608802" cy="1248156"/>
          </a:xfrm>
          <a:prstGeom prst="rect">
            <a:avLst/>
          </a:prstGeom>
          <a:noFill/>
        </p:spPr>
        <p:txBody>
          <a:bodyPr wrap="none" lIns="0" rIns="0" tIns="0" bIns="0" anchor="t">
            <a:noAutofit/>
          </a:bodyPr>
          <a:lstStyle/>
          <a:p>
            <a:pPr algn="l">
              <a:lnSpc>
                <a:spcPts val="7019"/>
              </a:lnSpc>
              <a:spcBef>
                <a:spcPts val="0"/>
              </a:spcBef>
              <a:spcAft>
                <a:spcPts val="0"/>
              </a:spcAft>
            </a:pPr>
            <a:r>
              <a:rPr b="0" sz="7800" i="0" spc="-117">
                <a:solidFill>
                  <a:srgbClr val="171726"/>
                </a:solidFill>
                <a:latin typeface="Archivo Black"/>
              </a:rPr>
              <a:t>BUILT</a:t>
            </a:r>
          </a:p>
        </p:txBody>
      </p:sp>
      <p:pic>
        <p:nvPicPr>
          <p:cNvPr id="7" name="Graphic" descr="logo-1a5d04e5a06d05ce.png"/>
          <p:cNvPicPr>
            <a:picLocks noChangeAspect="1"/>
          </p:cNvPicPr>
          <p:nvPr/>
        </p:nvPicPr>
        <p:blipFill>
          <a:blip r:embed="rId2"/>
          <a:stretch>
            <a:fillRect/>
          </a:stretch>
        </p:blipFill>
        <p:spPr>
          <a:xfrm>
            <a:off x="4259008" y="1524011"/>
            <a:ext cx="4490276" cy="2047853"/>
          </a:xfrm>
          <a:prstGeom prst="rect">
            <a:avLst/>
          </a:prstGeom>
        </p:spPr>
      </p:pic>
      <p:pic>
        <p:nvPicPr>
          <p:cNvPr id="8" name="Graphic" descr="logo-18986d44d47bd9a6.png"/>
          <p:cNvPicPr>
            <a:picLocks noChangeAspect="1"/>
          </p:cNvPicPr>
          <p:nvPr/>
        </p:nvPicPr>
        <p:blipFill>
          <a:blip r:embed="rId3"/>
          <a:stretch>
            <a:fillRect/>
          </a:stretch>
        </p:blipFill>
        <p:spPr>
          <a:xfrm>
            <a:off x="914440" y="3800475"/>
            <a:ext cx="8458120" cy="3754374"/>
          </a:xfrm>
          <a:prstGeom prst="rect">
            <a:avLst/>
          </a:prstGeom>
        </p:spPr>
      </p:pic>
      <p:sp>
        <p:nvSpPr>
          <p:cNvPr id="9" name="Box"/>
          <p:cNvSpPr/>
          <p:nvPr/>
        </p:nvSpPr>
        <p:spPr>
          <a:xfrm>
            <a:off x="914400" y="9144000"/>
            <a:ext cx="8458200" cy="2857500"/>
          </a:xfrm>
          <a:prstGeom prst="roundRect">
            <a:avLst>
              <a:gd name="adj" fmla="val 7333"/>
            </a:avLst>
          </a:prstGeom>
          <a:solidFill>
            <a:srgbClr val="1717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hoto" descr="photo-0d432c798dff239b.jpg"/>
          <p:cNvPicPr>
            <a:picLocks noChangeAspect="1"/>
          </p:cNvPicPr>
          <p:nvPr/>
        </p:nvPicPr>
        <p:blipFill>
          <a:blip r:embed="rId4"/>
          <a:srcRect t="27981" b="11992"/>
          <a:stretch>
            <a:fillRect/>
          </a:stretch>
        </p:blipFill>
        <p:spPr>
          <a:xfrm>
            <a:off x="914400" y="9144000"/>
            <a:ext cx="8458200" cy="2857500"/>
          </a:xfrm>
          <a:prstGeom prst="roundRect">
            <a:avLst>
              <a:gd name="adj" fmla="val 7333"/>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0287000" cy="12858750"/>
          </a:xfrm>
          <a:prstGeom prst="rect">
            <a:avLst/>
          </a:prstGeom>
          <a:solidFill>
            <a:srgbClr val="362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
          <p:cNvSpPr txBox="1"/>
          <p:nvPr/>
        </p:nvSpPr>
        <p:spPr>
          <a:xfrm>
            <a:off x="685800" y="643814"/>
            <a:ext cx="1926565" cy="390182"/>
          </a:xfrm>
          <a:prstGeom prst="rect">
            <a:avLst/>
          </a:prstGeom>
          <a:noFill/>
        </p:spPr>
        <p:txBody>
          <a:bodyPr wrap="none" lIns="0" rIns="0" tIns="0" bIns="0" anchor="t">
            <a:noAutofit/>
          </a:bodyPr>
          <a:lstStyle/>
          <a:p>
            <a:pPr algn="l">
              <a:lnSpc>
                <a:spcPts val="2194"/>
              </a:lnSpc>
              <a:spcBef>
                <a:spcPts val="0"/>
              </a:spcBef>
              <a:spcAft>
                <a:spcPts val="0"/>
              </a:spcAft>
            </a:pPr>
            <a:r>
              <a:rPr b="0" sz="1800" i="1" spc="72">
                <a:solidFill>
                  <a:srgbClr val="ECE9E0"/>
                </a:solidFill>
                <a:latin typeface="Archivo ExtraBold"/>
              </a:rPr>
              <a:t>WHO WE ARE</a:t>
            </a:r>
          </a:p>
        </p:txBody>
      </p:sp>
      <p:sp>
        <p:nvSpPr>
          <p:cNvPr id="4" name="Text"/>
          <p:cNvSpPr txBox="1"/>
          <p:nvPr/>
        </p:nvSpPr>
        <p:spPr>
          <a:xfrm>
            <a:off x="8810149" y="643814"/>
            <a:ext cx="962177" cy="390182"/>
          </a:xfrm>
          <a:prstGeom prst="rect">
            <a:avLst/>
          </a:prstGeom>
          <a:noFill/>
        </p:spPr>
        <p:txBody>
          <a:bodyPr wrap="none" lIns="0" rIns="0" tIns="0" bIns="0" anchor="t">
            <a:noAutofit/>
          </a:bodyPr>
          <a:lstStyle/>
          <a:p>
            <a:pPr algn="l">
              <a:lnSpc>
                <a:spcPts val="2194"/>
              </a:lnSpc>
              <a:spcBef>
                <a:spcPts val="0"/>
              </a:spcBef>
              <a:spcAft>
                <a:spcPts val="0"/>
              </a:spcAft>
            </a:pPr>
            <a:r>
              <a:rPr b="0" sz="1800" i="1" spc="72">
                <a:solidFill>
                  <a:srgbClr val="ECE9E0"/>
                </a:solidFill>
                <a:latin typeface="Archivo ExtraBold"/>
              </a:rPr>
              <a:t>06 / 06</a:t>
            </a:r>
          </a:p>
        </p:txBody>
      </p:sp>
      <p:sp>
        <p:nvSpPr>
          <p:cNvPr id="5" name="Headline"/>
          <p:cNvSpPr txBox="1"/>
          <p:nvPr/>
        </p:nvSpPr>
        <p:spPr>
          <a:xfrm>
            <a:off x="685800" y="1666875"/>
            <a:ext cx="8834095" cy="4371975"/>
          </a:xfrm>
          <a:prstGeom prst="rect">
            <a:avLst/>
          </a:prstGeom>
          <a:noFill/>
        </p:spPr>
        <p:txBody>
          <a:bodyPr wrap="none" lIns="0" rIns="0" tIns="0" bIns="0" anchor="t">
            <a:noAutofit/>
          </a:bodyPr>
          <a:lstStyle/>
          <a:p>
            <a:pPr algn="l">
              <a:lnSpc>
                <a:spcPts val="10125"/>
              </a:lnSpc>
              <a:spcBef>
                <a:spcPts val="0"/>
              </a:spcBef>
              <a:spcAft>
                <a:spcPts val="0"/>
              </a:spcAft>
            </a:pPr>
            <a:r>
              <a:rPr b="0" sz="11250" i="0" spc="-168">
                <a:solidFill>
                  <a:srgbClr val="ECE9E0"/>
                </a:solidFill>
                <a:latin typeface="Archivo Black"/>
              </a:rPr>
              <a:t>HERE FOR</a:t>
            </a:r>
          </a:p>
          <a:p>
            <a:pPr algn="l">
              <a:lnSpc>
                <a:spcPts val="10125"/>
              </a:lnSpc>
              <a:spcBef>
                <a:spcPts val="0"/>
              </a:spcBef>
              <a:spcAft>
                <a:spcPts val="0"/>
              </a:spcAft>
            </a:pPr>
            <a:r>
              <a:rPr b="0" sz="11250" i="0" spc="-168">
                <a:solidFill>
                  <a:srgbClr val="ECE9E0"/>
                </a:solidFill>
                <a:latin typeface="Archivo Black"/>
              </a:rPr>
              <a:t>THE LONG</a:t>
            </a:r>
          </a:p>
          <a:p>
            <a:pPr algn="l">
              <a:lnSpc>
                <a:spcPts val="10125"/>
              </a:lnSpc>
              <a:spcBef>
                <a:spcPts val="0"/>
              </a:spcBef>
              <a:spcAft>
                <a:spcPts val="0"/>
              </a:spcAft>
            </a:pPr>
            <a:r>
              <a:rPr b="0" sz="11250" i="0" spc="-168">
                <a:solidFill>
                  <a:srgbClr val="ECE9E0"/>
                </a:solidFill>
                <a:latin typeface="Archivo Black"/>
              </a:rPr>
              <a:t>HAUL.</a:t>
            </a:r>
          </a:p>
        </p:txBody>
      </p:sp>
      <p:sp>
        <p:nvSpPr>
          <p:cNvPr id="6" name="Text"/>
          <p:cNvSpPr txBox="1"/>
          <p:nvPr/>
        </p:nvSpPr>
        <p:spPr>
          <a:xfrm>
            <a:off x="685800" y="5800344"/>
            <a:ext cx="5458503" cy="1115568"/>
          </a:xfrm>
          <a:prstGeom prst="rect">
            <a:avLst/>
          </a:prstGeom>
          <a:noFill/>
        </p:spPr>
        <p:txBody>
          <a:bodyPr wrap="square" lIns="0" rIns="0" tIns="0" bIns="0" anchor="t">
            <a:noAutofit/>
          </a:bodyPr>
          <a:lstStyle/>
          <a:p>
            <a:pPr algn="l">
              <a:lnSpc>
                <a:spcPts val="3659"/>
              </a:lnSpc>
              <a:spcBef>
                <a:spcPts val="0"/>
              </a:spcBef>
              <a:spcAft>
                <a:spcPts val="0"/>
              </a:spcAft>
            </a:pPr>
            <a:r>
              <a:rPr b="0" sz="3000" i="0" spc="-15">
                <a:solidFill>
                  <a:srgbClr val="ECE9E0"/>
                </a:solidFill>
                <a:latin typeface="Archivo Medium"/>
              </a:rPr>
              <a:t>Owner-led. Austin-built. We care, it shows.</a:t>
            </a:r>
          </a:p>
        </p:txBody>
      </p:sp>
      <p:sp>
        <p:nvSpPr>
          <p:cNvPr id="7" name="Box"/>
          <p:cNvSpPr/>
          <p:nvPr/>
        </p:nvSpPr>
        <p:spPr>
          <a:xfrm>
            <a:off x="685800" y="10925175"/>
            <a:ext cx="3526060" cy="704850"/>
          </a:xfrm>
          <a:prstGeom prst="roundRect">
            <a:avLst>
              <a:gd name="adj" fmla="val 50000"/>
            </a:avLst>
          </a:prstGeom>
          <a:solidFill>
            <a:srgbClr val="ECE9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
          <p:cNvSpPr txBox="1"/>
          <p:nvPr/>
        </p:nvSpPr>
        <p:spPr>
          <a:xfrm>
            <a:off x="905528" y="11144250"/>
            <a:ext cx="3086603" cy="400050"/>
          </a:xfrm>
          <a:prstGeom prst="rect">
            <a:avLst/>
          </a:prstGeom>
          <a:noFill/>
        </p:spPr>
        <p:txBody>
          <a:bodyPr wrap="none" lIns="0" rIns="0" tIns="0" bIns="0" anchor="t">
            <a:noAutofit/>
          </a:bodyPr>
          <a:lstStyle/>
          <a:p>
            <a:pPr algn="ctr">
              <a:lnSpc>
                <a:spcPts val="2250"/>
              </a:lnSpc>
              <a:spcBef>
                <a:spcPts val="0"/>
              </a:spcBef>
              <a:spcAft>
                <a:spcPts val="0"/>
              </a:spcAft>
            </a:pPr>
            <a:r>
              <a:rPr b="1" sz="2250" i="0">
                <a:solidFill>
                  <a:srgbClr val="362CFF"/>
                </a:solidFill>
                <a:latin typeface="Archivo"/>
              </a:rPr>
              <a:t>Get a clear estimate</a:t>
            </a:r>
          </a:p>
        </p:txBody>
      </p:sp>
      <p:sp>
        <p:nvSpPr>
          <p:cNvPr id="9" name="Text"/>
          <p:cNvSpPr txBox="1"/>
          <p:nvPr/>
        </p:nvSpPr>
        <p:spPr>
          <a:xfrm>
            <a:off x="685800" y="11864264"/>
            <a:ext cx="1274003" cy="390182"/>
          </a:xfrm>
          <a:prstGeom prst="rect">
            <a:avLst/>
          </a:prstGeom>
          <a:noFill/>
        </p:spPr>
        <p:txBody>
          <a:bodyPr wrap="none" lIns="0" rIns="0" tIns="0" bIns="0" anchor="t">
            <a:noAutofit/>
          </a:bodyPr>
          <a:lstStyle/>
          <a:p>
            <a:pPr algn="l">
              <a:lnSpc>
                <a:spcPts val="2194"/>
              </a:lnSpc>
              <a:spcBef>
                <a:spcPts val="0"/>
              </a:spcBef>
              <a:spcAft>
                <a:spcPts val="0"/>
              </a:spcAft>
            </a:pPr>
            <a:r>
              <a:rPr b="0" sz="1800" i="1" spc="72">
                <a:solidFill>
                  <a:srgbClr val="ECE9E0"/>
                </a:solidFill>
                <a:latin typeface="Archivo ExtraBold"/>
              </a:rPr>
              <a:t>FOLLOW</a:t>
            </a:r>
          </a:p>
        </p:txBody>
      </p:sp>
      <p:sp>
        <p:nvSpPr>
          <p:cNvPr id="10" name="Box frame"/>
          <p:cNvSpPr/>
          <p:nvPr/>
        </p:nvSpPr>
        <p:spPr>
          <a:xfrm>
            <a:off x="1821942" y="11891962"/>
            <a:ext cx="1589532" cy="285750"/>
          </a:xfrm>
          <a:prstGeom prst="roundRect">
            <a:avLst>
              <a:gd name="adj" fmla="val 33333"/>
            </a:avLst>
          </a:prstGeom>
          <a:noFill/>
          <a:ln w="28575">
            <a:solidFill>
              <a:srgbClr val="ECE9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
          <p:cNvSpPr txBox="1"/>
          <p:nvPr/>
        </p:nvSpPr>
        <p:spPr>
          <a:xfrm>
            <a:off x="1969580" y="11931167"/>
            <a:ext cx="1525768" cy="273101"/>
          </a:xfrm>
          <a:prstGeom prst="rect">
            <a:avLst/>
          </a:prstGeom>
          <a:noFill/>
        </p:spPr>
        <p:txBody>
          <a:bodyPr wrap="none" lIns="0" rIns="0" tIns="0" bIns="0" anchor="t">
            <a:noAutofit/>
          </a:bodyPr>
          <a:lstStyle/>
          <a:p>
            <a:pPr algn="l">
              <a:lnSpc>
                <a:spcPts val="1536"/>
              </a:lnSpc>
              <a:spcBef>
                <a:spcPts val="0"/>
              </a:spcBef>
              <a:spcAft>
                <a:spcPts val="0"/>
              </a:spcAft>
            </a:pPr>
            <a:r>
              <a:rPr b="1" sz="1260" i="1" spc="50">
                <a:solidFill>
                  <a:srgbClr val="ECE9E0"/>
                </a:solidFill>
                <a:latin typeface="Archivo"/>
              </a:rPr>
              <a:t>[TBC: HANDLE]</a:t>
            </a:r>
          </a:p>
        </p:txBody>
      </p:sp>
      <p:pic>
        <p:nvPicPr>
          <p:cNvPr id="12" name="Graphic" descr="logo-357453e273abb927.png"/>
          <p:cNvPicPr>
            <a:picLocks noChangeAspect="1"/>
          </p:cNvPicPr>
          <p:nvPr/>
        </p:nvPicPr>
        <p:blipFill>
          <a:blip r:embed="rId2"/>
          <a:stretch>
            <a:fillRect/>
          </a:stretch>
        </p:blipFill>
        <p:spPr>
          <a:xfrm>
            <a:off x="6432994" y="9334518"/>
            <a:ext cx="3168301" cy="285746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