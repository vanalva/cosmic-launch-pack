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8288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merch/01-patch-sheet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merch/02-tee-white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merch/03-tee-blue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merch/04-jacket-current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merch/05-jacket-patch-cluster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merch/06-jacket-leave-it-better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merch/07-jacket-blue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merch/08-chest-patches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8288000" cy="1143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17792700" cy="10934700"/>
          </a:xfrm>
          <a:prstGeom prst="roundRect">
            <a:avLst>
              <a:gd name="adj" fmla="val 2613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720014"/>
            <a:ext cx="410518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UNIFORMS &amp; MERCH · 01 / 08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914400" y="1183767"/>
            <a:ext cx="6790212" cy="9121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130"/>
              </a:lnSpc>
              <a:spcBef>
                <a:spcPts val="0"/>
              </a:spcBef>
              <a:spcAft>
                <a:spcPts val="0"/>
              </a:spcAft>
            </a:pPr>
            <a:r>
              <a:rPr b="0" sz="5700" i="0" spc="-85">
                <a:solidFill>
                  <a:srgbClr val="171726"/>
                </a:solidFill>
                <a:latin typeface="Archivo Black"/>
              </a:rPr>
              <a:t>THE PATCH SET</a:t>
            </a:r>
          </a:p>
        </p:txBody>
      </p:sp>
      <p:pic>
        <p:nvPicPr>
          <p:cNvPr id="6" name="Graphic" descr="logo-d62770192cba5f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036" y="800117"/>
            <a:ext cx="1841564" cy="438116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914400" y="1925326"/>
            <a:ext cx="15405903" cy="5043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6"/>
              </a:lnSpc>
              <a:spcBef>
                <a:spcPts val="0"/>
              </a:spcBef>
              <a:spcAft>
                <a:spcPts val="0"/>
              </a:spcAft>
            </a:pPr>
            <a:r>
              <a:rPr b="0" sz="2325" i="0" spc="-11">
                <a:solidFill>
                  <a:srgbClr val="362CFF"/>
                </a:solidFill>
                <a:latin typeface="Archivo Medium"/>
              </a:rPr>
              <a:t>Twelve patches from Cosmic's own marks, lettering and stickers. Blue first; every one also comes in navy.</a:t>
            </a:r>
          </a:p>
        </p:txBody>
      </p:sp>
      <p:sp>
        <p:nvSpPr>
          <p:cNvPr id="8" name="Rule top"/>
          <p:cNvSpPr/>
          <p:nvPr/>
        </p:nvSpPr>
        <p:spPr>
          <a:xfrm>
            <a:off x="914400" y="2497455"/>
            <a:ext cx="16459200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914400" y="2674544"/>
            <a:ext cx="1120170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MARKS</a:t>
            </a:r>
          </a:p>
        </p:txBody>
      </p:sp>
      <p:pic>
        <p:nvPicPr>
          <p:cNvPr id="10" name="Logo" descr="logo-0e90a1de9645f4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420" y="3583305"/>
            <a:ext cx="2051384" cy="885825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2914650" y="4597908"/>
            <a:ext cx="1906402" cy="3080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Comet wordmark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2914650" y="4872799"/>
            <a:ext cx="1049015" cy="2787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0">
                <a:solidFill>
                  <a:srgbClr val="362CFF"/>
                </a:solidFill>
                <a:latin typeface="Archivo Medium"/>
              </a:rPr>
              <a:t>3.5 x 1.5 in</a:t>
            </a:r>
          </a:p>
        </p:txBody>
      </p:sp>
      <p:pic>
        <p:nvPicPr>
          <p:cNvPr id="13" name="Mark" descr="logo-6b55c99046fd8b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775" y="2697480"/>
            <a:ext cx="1771650" cy="1771650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5438775" y="4597908"/>
            <a:ext cx="1107049" cy="3080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Arlo mark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438775" y="4872799"/>
            <a:ext cx="1055202" cy="2787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0">
                <a:solidFill>
                  <a:srgbClr val="362CFF"/>
                </a:solidFill>
                <a:latin typeface="Archivo Medium"/>
              </a:rPr>
              <a:t>3.0 x 3.0 in</a:t>
            </a:r>
          </a:p>
        </p:txBody>
      </p:sp>
      <p:pic>
        <p:nvPicPr>
          <p:cNvPr id="16" name="Graphic" descr="logo-309ba75521d9ac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625" y="3288030"/>
            <a:ext cx="1181100" cy="1181100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7667625" y="4597908"/>
            <a:ext cx="972632" cy="3080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Arlo curl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7667625" y="4872799"/>
            <a:ext cx="1053495" cy="2787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0">
                <a:solidFill>
                  <a:srgbClr val="362CFF"/>
                </a:solidFill>
                <a:latin typeface="Archivo Medium"/>
              </a:rPr>
              <a:t>2.0 x 2.0 in</a:t>
            </a:r>
          </a:p>
        </p:txBody>
      </p:sp>
      <p:pic>
        <p:nvPicPr>
          <p:cNvPr id="19" name="Graphic" descr="logo-7a1cfbd600141f6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5925" y="2995715"/>
            <a:ext cx="1295400" cy="1470454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9305925" y="4597908"/>
            <a:ext cx="1301740" cy="3080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Arlo, sitting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305925" y="4872799"/>
            <a:ext cx="1052642" cy="2787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0">
                <a:solidFill>
                  <a:srgbClr val="362CFF"/>
                </a:solidFill>
                <a:latin typeface="Archivo Medium"/>
              </a:rPr>
              <a:t>2.2 x 2.5 in</a:t>
            </a:r>
          </a:p>
        </p:txBody>
      </p:sp>
      <p:pic>
        <p:nvPicPr>
          <p:cNvPr id="22" name="Graphic" descr="logo-a0e7569b649c930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1089" y="3402330"/>
            <a:ext cx="2004646" cy="1066800"/>
          </a:xfrm>
          <a:prstGeom prst="rect">
            <a:avLst/>
          </a:prstGeom>
        </p:spPr>
      </p:pic>
      <p:sp>
        <p:nvSpPr>
          <p:cNvPr id="23" name="Text"/>
          <p:cNvSpPr txBox="1"/>
          <p:nvPr/>
        </p:nvSpPr>
        <p:spPr>
          <a:xfrm>
            <a:off x="11058525" y="4597908"/>
            <a:ext cx="1420901" cy="3080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Arlo, leaping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1058525" y="4872799"/>
            <a:ext cx="1047948" cy="2787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0">
                <a:solidFill>
                  <a:srgbClr val="362CFF"/>
                </a:solidFill>
                <a:latin typeface="Archivo Medium"/>
              </a:rPr>
              <a:t>3.4 x 1.8 in</a:t>
            </a:r>
          </a:p>
        </p:txBody>
      </p:sp>
      <p:sp>
        <p:nvSpPr>
          <p:cNvPr id="25" name="Rule top"/>
          <p:cNvSpPr/>
          <p:nvPr/>
        </p:nvSpPr>
        <p:spPr>
          <a:xfrm>
            <a:off x="914400" y="5231035"/>
            <a:ext cx="16459200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914400" y="5408124"/>
            <a:ext cx="114481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WORDS</a:t>
            </a:r>
          </a:p>
        </p:txBody>
      </p:sp>
      <p:pic>
        <p:nvPicPr>
          <p:cNvPr id="27" name="Graphic" descr="logo-372c72528f14e20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4650" y="5431060"/>
            <a:ext cx="1657350" cy="1657350"/>
          </a:xfrm>
          <a:prstGeom prst="rect">
            <a:avLst/>
          </a:prstGeom>
        </p:spPr>
      </p:pic>
      <p:sp>
        <p:nvSpPr>
          <p:cNvPr id="28" name="Text"/>
          <p:cNvSpPr txBox="1"/>
          <p:nvPr/>
        </p:nvSpPr>
        <p:spPr>
          <a:xfrm>
            <a:off x="2914650" y="7217188"/>
            <a:ext cx="1583375" cy="3080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Leave it better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2914650" y="7491984"/>
            <a:ext cx="1053816" cy="2787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0">
                <a:solidFill>
                  <a:srgbClr val="362CFF"/>
                </a:solidFill>
                <a:latin typeface="Archivo Medium"/>
              </a:rPr>
              <a:t>2.8 x 2.8 in</a:t>
            </a:r>
          </a:p>
        </p:txBody>
      </p:sp>
      <p:pic>
        <p:nvPicPr>
          <p:cNvPr id="30" name="Graphic" descr="logo-1c12294558a2799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4171" y="6288310"/>
            <a:ext cx="2114133" cy="800100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5029200" y="7217188"/>
            <a:ext cx="994181" cy="3080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Show up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5029200" y="7491984"/>
            <a:ext cx="1047948" cy="2787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0">
                <a:solidFill>
                  <a:srgbClr val="362CFF"/>
                </a:solidFill>
                <a:latin typeface="Archivo Medium"/>
              </a:rPr>
              <a:t>3.6 x 1.4 in</a:t>
            </a:r>
          </a:p>
        </p:txBody>
      </p:sp>
      <p:pic>
        <p:nvPicPr>
          <p:cNvPr id="33" name="Graphic" descr="logo-6e2ad390f4ebaac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3306" y="5707285"/>
            <a:ext cx="1785039" cy="1381125"/>
          </a:xfrm>
          <a:prstGeom prst="rect">
            <a:avLst/>
          </a:prstGeom>
        </p:spPr>
      </p:pic>
      <p:sp>
        <p:nvSpPr>
          <p:cNvPr id="34" name="Text"/>
          <p:cNvSpPr txBox="1"/>
          <p:nvPr/>
        </p:nvSpPr>
        <p:spPr>
          <a:xfrm>
            <a:off x="7610475" y="7217188"/>
            <a:ext cx="1131479" cy="3080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Top notch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7610475" y="7491984"/>
            <a:ext cx="1054456" cy="2787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0">
                <a:solidFill>
                  <a:srgbClr val="362CFF"/>
                </a:solidFill>
                <a:latin typeface="Archivo Medium"/>
              </a:rPr>
              <a:t>3.0 x 2.3 in</a:t>
            </a:r>
          </a:p>
        </p:txBody>
      </p:sp>
      <p:pic>
        <p:nvPicPr>
          <p:cNvPr id="36" name="Graphic" descr="logo-eb46e5e0074d7f0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9552" y="5612035"/>
            <a:ext cx="1674046" cy="1476375"/>
          </a:xfrm>
          <a:prstGeom prst="rect">
            <a:avLst/>
          </a:prstGeom>
        </p:spPr>
      </p:pic>
      <p:sp>
        <p:nvSpPr>
          <p:cNvPr id="37" name="Text"/>
          <p:cNvSpPr txBox="1"/>
          <p:nvPr/>
        </p:nvSpPr>
        <p:spPr>
          <a:xfrm>
            <a:off x="9858375" y="7217188"/>
            <a:ext cx="1682374" cy="3080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Will book again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9858375" y="7491984"/>
            <a:ext cx="1053495" cy="2787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0">
                <a:solidFill>
                  <a:srgbClr val="362CFF"/>
                </a:solidFill>
                <a:latin typeface="Archivo Medium"/>
              </a:rPr>
              <a:t>2.8 x 2.5 in</a:t>
            </a:r>
          </a:p>
        </p:txBody>
      </p:sp>
      <p:pic>
        <p:nvPicPr>
          <p:cNvPr id="39" name="Graphic" descr="logo-a14ad66f8612c52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91975" y="5730621"/>
            <a:ext cx="2657475" cy="364521"/>
          </a:xfrm>
          <a:prstGeom prst="rect">
            <a:avLst/>
          </a:prstGeom>
        </p:spPr>
      </p:pic>
      <p:pic>
        <p:nvPicPr>
          <p:cNvPr id="40" name="Graphic" descr="logo-1ab76100c8b10b4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92376" y="6228493"/>
            <a:ext cx="2208998" cy="363284"/>
          </a:xfrm>
          <a:prstGeom prst="rect">
            <a:avLst/>
          </a:prstGeom>
        </p:spPr>
      </p:pic>
      <p:pic>
        <p:nvPicPr>
          <p:cNvPr id="41" name="Graphic" descr="logo-541e3854e8306e6b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992376" y="6725126"/>
            <a:ext cx="2208998" cy="363284"/>
          </a:xfrm>
          <a:prstGeom prst="rect">
            <a:avLst/>
          </a:prstGeom>
        </p:spPr>
      </p:pic>
      <p:sp>
        <p:nvSpPr>
          <p:cNvPr id="42" name="Text"/>
          <p:cNvSpPr txBox="1"/>
          <p:nvPr/>
        </p:nvSpPr>
        <p:spPr>
          <a:xfrm>
            <a:off x="11991975" y="7217188"/>
            <a:ext cx="1341318" cy="3080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Three tapes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11991975" y="7491984"/>
            <a:ext cx="1601511" cy="2787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0">
                <a:solidFill>
                  <a:srgbClr val="362CFF"/>
                </a:solidFill>
                <a:latin typeface="Archivo Medium"/>
              </a:rPr>
              <a:t>3.75 / 4.5 x 0.6 in</a:t>
            </a:r>
          </a:p>
        </p:txBody>
      </p:sp>
      <p:sp>
        <p:nvSpPr>
          <p:cNvPr id="44" name="Rule top"/>
          <p:cNvSpPr/>
          <p:nvPr/>
        </p:nvSpPr>
        <p:spPr>
          <a:xfrm>
            <a:off x="914400" y="7850219"/>
            <a:ext cx="16459200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"/>
          <p:cNvSpPr txBox="1"/>
          <p:nvPr/>
        </p:nvSpPr>
        <p:spPr>
          <a:xfrm>
            <a:off x="914400" y="8027308"/>
            <a:ext cx="867659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NAVY</a:t>
            </a:r>
          </a:p>
        </p:txBody>
      </p:sp>
      <p:pic>
        <p:nvPicPr>
          <p:cNvPr id="46" name="Logo" descr="logo-8533c054575e1dbb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14770" y="8242744"/>
            <a:ext cx="895109" cy="386524"/>
          </a:xfrm>
          <a:prstGeom prst="rect">
            <a:avLst/>
          </a:prstGeom>
        </p:spPr>
      </p:pic>
      <p:pic>
        <p:nvPicPr>
          <p:cNvPr id="47" name="Mark" descr="logo-bcca5f5304fd3f6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19550" y="8050244"/>
            <a:ext cx="771525" cy="771525"/>
          </a:xfrm>
          <a:prstGeom prst="rect">
            <a:avLst/>
          </a:prstGeom>
        </p:spPr>
      </p:pic>
      <p:pic>
        <p:nvPicPr>
          <p:cNvPr id="48" name="Graphic" descr="logo-6d47770a052c3b7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00625" y="8178832"/>
            <a:ext cx="514350" cy="514350"/>
          </a:xfrm>
          <a:prstGeom prst="rect">
            <a:avLst/>
          </a:prstGeom>
        </p:spPr>
      </p:pic>
      <p:pic>
        <p:nvPicPr>
          <p:cNvPr id="49" name="Graphic" descr="logo-38eb7398e94c1224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24537" y="8117110"/>
            <a:ext cx="561950" cy="637889"/>
          </a:xfrm>
          <a:prstGeom prst="rect">
            <a:avLst/>
          </a:prstGeom>
        </p:spPr>
      </p:pic>
      <p:pic>
        <p:nvPicPr>
          <p:cNvPr id="50" name="Graphic" descr="logo-0471aa4b72e41032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96131" y="8202835"/>
            <a:ext cx="876138" cy="466249"/>
          </a:xfrm>
          <a:prstGeom prst="rect">
            <a:avLst/>
          </a:prstGeom>
        </p:spPr>
      </p:pic>
      <p:pic>
        <p:nvPicPr>
          <p:cNvPr id="51" name="Graphic" descr="logo-b5fc92372de8073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81900" y="8074057"/>
            <a:ext cx="723900" cy="723900"/>
          </a:xfrm>
          <a:prstGeom prst="rect">
            <a:avLst/>
          </a:prstGeom>
        </p:spPr>
      </p:pic>
      <p:pic>
        <p:nvPicPr>
          <p:cNvPr id="52" name="Graphic" descr="logo-b4eae1c14c43df18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15475" y="8261128"/>
            <a:ext cx="923675" cy="349568"/>
          </a:xfrm>
          <a:prstGeom prst="rect">
            <a:avLst/>
          </a:prstGeom>
        </p:spPr>
      </p:pic>
      <p:pic>
        <p:nvPicPr>
          <p:cNvPr id="53" name="Graphic" descr="logo-186c8db363069ab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48857" y="8133874"/>
            <a:ext cx="780985" cy="604266"/>
          </a:xfrm>
          <a:prstGeom prst="rect">
            <a:avLst/>
          </a:prstGeom>
        </p:spPr>
      </p:pic>
      <p:pic>
        <p:nvPicPr>
          <p:cNvPr id="54" name="Graphic" descr="logo-1bc240867686b109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39425" y="8112643"/>
            <a:ext cx="733425" cy="646822"/>
          </a:xfrm>
          <a:prstGeom prst="rect">
            <a:avLst/>
          </a:prstGeom>
        </p:spPr>
      </p:pic>
      <p:pic>
        <p:nvPicPr>
          <p:cNvPr id="55" name="Graphic" descr="logo-9a5e8d8b76199dda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582557" y="8356282"/>
            <a:ext cx="1161737" cy="159353"/>
          </a:xfrm>
          <a:prstGeom prst="rect">
            <a:avLst/>
          </a:prstGeom>
        </p:spPr>
      </p:pic>
      <p:pic>
        <p:nvPicPr>
          <p:cNvPr id="56" name="Graphic" descr="logo-c4792704da999b07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954002" y="8356854"/>
            <a:ext cx="962020" cy="158210"/>
          </a:xfrm>
          <a:prstGeom prst="rect">
            <a:avLst/>
          </a:prstGeom>
        </p:spPr>
      </p:pic>
      <p:pic>
        <p:nvPicPr>
          <p:cNvPr id="57" name="Graphic" descr="logo-7aeba110d45b6de9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125577" y="8356854"/>
            <a:ext cx="962020" cy="158210"/>
          </a:xfrm>
          <a:prstGeom prst="rect">
            <a:avLst/>
          </a:prstGeom>
        </p:spPr>
      </p:pic>
      <p:sp>
        <p:nvSpPr>
          <p:cNvPr id="58" name="Text"/>
          <p:cNvSpPr txBox="1"/>
          <p:nvPr/>
        </p:nvSpPr>
        <p:spPr>
          <a:xfrm>
            <a:off x="914400" y="10260330"/>
            <a:ext cx="1711756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i="0">
                <a:solidFill>
                  <a:srgbClr val="171726"/>
                </a:solidFill>
                <a:latin typeface="Archivo Medium"/>
              </a:rPr>
              <a:t>Twill body, merrow edge in the body colour, a thin cream keyline inside it, art in cream thread. Blue #362cff on canvas and white; navy #171726 on blue fabric. Die-cut patches follow each sticker's own outline. Finished sizes, edge included.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8288000" cy="1143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17792700" cy="10934700"/>
          </a:xfrm>
          <a:prstGeom prst="roundRect">
            <a:avLst>
              <a:gd name="adj" fmla="val 2613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720014"/>
            <a:ext cx="410518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UNIFORMS &amp; MERCH · 02 / 08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914400" y="1183767"/>
            <a:ext cx="7653680" cy="9121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130"/>
              </a:lnSpc>
              <a:spcBef>
                <a:spcPts val="0"/>
              </a:spcBef>
              <a:spcAft>
                <a:spcPts val="0"/>
              </a:spcAft>
            </a:pPr>
            <a:r>
              <a:rPr b="0" sz="5700" i="0" spc="-85">
                <a:solidFill>
                  <a:srgbClr val="171726"/>
                </a:solidFill>
                <a:latin typeface="Archivo Black"/>
              </a:rPr>
              <a:t>T-SHIRT A, WHITE</a:t>
            </a:r>
          </a:p>
        </p:txBody>
      </p:sp>
      <p:pic>
        <p:nvPicPr>
          <p:cNvPr id="6" name="Graphic" descr="logo-d62770192cba5f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036" y="800117"/>
            <a:ext cx="1841564" cy="438116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914400" y="1925326"/>
            <a:ext cx="11891223" cy="5043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6"/>
              </a:lnSpc>
              <a:spcBef>
                <a:spcPts val="0"/>
              </a:spcBef>
              <a:spcAft>
                <a:spcPts val="0"/>
              </a:spcAft>
            </a:pPr>
            <a:r>
              <a:rPr b="0" sz="2325" i="0" spc="-11">
                <a:solidFill>
                  <a:srgbClr val="362CFF"/>
                </a:solidFill>
                <a:latin typeface="Archivo Medium"/>
              </a:rPr>
              <a:t>Left-chest comet up front. On the back: COSMIC painting, the phone and the site.</a:t>
            </a:r>
          </a:p>
        </p:txBody>
      </p:sp>
      <p:pic>
        <p:nvPicPr>
          <p:cNvPr id="8" name="Graphic" descr="logo-2406e9d08bbae2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30009"/>
            <a:ext cx="13144500" cy="5383413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4439900" y="3811162"/>
            <a:ext cx="213064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CHEST DETAIL</a:t>
            </a:r>
          </a:p>
        </p:txBody>
      </p:sp>
      <p:sp>
        <p:nvSpPr>
          <p:cNvPr id="10" name="Box"/>
          <p:cNvSpPr/>
          <p:nvPr/>
        </p:nvSpPr>
        <p:spPr>
          <a:xfrm>
            <a:off x="14439900" y="4196048"/>
            <a:ext cx="2933700" cy="3413093"/>
          </a:xfrm>
          <a:prstGeom prst="roundRect">
            <a:avLst>
              <a:gd name="adj" fmla="val 5844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Box frame"/>
          <p:cNvSpPr/>
          <p:nvPr/>
        </p:nvSpPr>
        <p:spPr>
          <a:xfrm>
            <a:off x="14454188" y="4210336"/>
            <a:ext cx="2905125" cy="3384518"/>
          </a:xfrm>
          <a:prstGeom prst="roundRect">
            <a:avLst>
              <a:gd name="adj" fmla="val 5901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Graphic" descr="logo-4434faeb9f6236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8489" y="4224623"/>
            <a:ext cx="2876523" cy="3355943"/>
          </a:xfrm>
          <a:prstGeom prst="rect">
            <a:avLst/>
          </a:prstGeom>
        </p:spPr>
      </p:pic>
      <p:sp>
        <p:nvSpPr>
          <p:cNvPr id="13" name="Rule top"/>
          <p:cNvSpPr/>
          <p:nvPr/>
        </p:nvSpPr>
        <p:spPr>
          <a:xfrm>
            <a:off x="914400" y="9327070"/>
            <a:ext cx="7896225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914400" y="9466059"/>
            <a:ext cx="106480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171726"/>
                </a:solidFill>
                <a:latin typeface="Archivo ExtraBold"/>
              </a:rPr>
              <a:t>FRONT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14400" y="9794558"/>
            <a:ext cx="6407978" cy="3987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b="0" sz="1725" i="0">
                <a:solidFill>
                  <a:srgbClr val="171726"/>
                </a:solidFill>
                <a:latin typeface="Archivo Medium"/>
              </a:rPr>
              <a:t>Left chest · comet wordmark · 4 in wide · screen print, blue</a:t>
            </a:r>
          </a:p>
        </p:txBody>
      </p:sp>
      <p:sp>
        <p:nvSpPr>
          <p:cNvPr id="16" name="Rule top"/>
          <p:cNvSpPr/>
          <p:nvPr/>
        </p:nvSpPr>
        <p:spPr>
          <a:xfrm>
            <a:off x="9477375" y="9327070"/>
            <a:ext cx="7896225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9477375" y="9466059"/>
            <a:ext cx="884088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171726"/>
                </a:solidFill>
                <a:latin typeface="Archivo ExtraBold"/>
              </a:rPr>
              <a:t>BACK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9477375" y="9794558"/>
            <a:ext cx="8212074" cy="6835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b="0" sz="1725" i="0">
                <a:solidFill>
                  <a:srgbClr val="171726"/>
                </a:solidFill>
                <a:latin typeface="Archivo Medium"/>
              </a:rPr>
              <a:t>COSMIC painting lockup 11 in wide, 3 in below the collar · (512) 348-6433 and CHOOSECOSMIC.COM in Archivo caps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914400" y="10507980"/>
            <a:ext cx="5190333" cy="3467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i="0">
                <a:solidFill>
                  <a:srgbClr val="171726"/>
                </a:solidFill>
                <a:latin typeface="Archivo Medium"/>
              </a:rPr>
              <a:t>White 100% cotton jersey, 6 oz. One ink: blue #362cff.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8288000" cy="1143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17792700" cy="10934700"/>
          </a:xfrm>
          <a:prstGeom prst="roundRect">
            <a:avLst>
              <a:gd name="adj" fmla="val 2613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720014"/>
            <a:ext cx="410518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UNIFORMS &amp; MERCH · 03 / 08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914400" y="1183767"/>
            <a:ext cx="7113773" cy="9121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130"/>
              </a:lnSpc>
              <a:spcBef>
                <a:spcPts val="0"/>
              </a:spcBef>
              <a:spcAft>
                <a:spcPts val="0"/>
              </a:spcAft>
            </a:pPr>
            <a:r>
              <a:rPr b="0" sz="5700" i="0" spc="-85">
                <a:solidFill>
                  <a:srgbClr val="171726"/>
                </a:solidFill>
                <a:latin typeface="Archivo Black"/>
              </a:rPr>
              <a:t>T-SHIRT B, BLUE</a:t>
            </a:r>
          </a:p>
        </p:txBody>
      </p:sp>
      <p:pic>
        <p:nvPicPr>
          <p:cNvPr id="6" name="Graphic" descr="logo-d62770192cba5f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036" y="800117"/>
            <a:ext cx="1841564" cy="438116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914400" y="1925326"/>
            <a:ext cx="6262467" cy="5043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6"/>
              </a:lnSpc>
              <a:spcBef>
                <a:spcPts val="0"/>
              </a:spcBef>
              <a:spcAft>
                <a:spcPts val="0"/>
              </a:spcAft>
            </a:pPr>
            <a:r>
              <a:rPr b="0" sz="2325" i="0" spc="-11">
                <a:solidFill>
                  <a:srgbClr val="362CFF"/>
                </a:solidFill>
                <a:latin typeface="Archivo Medium"/>
              </a:rPr>
              <a:t>The same tee in Cosmic blue, art in cream.</a:t>
            </a:r>
          </a:p>
        </p:txBody>
      </p:sp>
      <p:pic>
        <p:nvPicPr>
          <p:cNvPr id="8" name="Graphic" descr="logo-2ea77aabb6abc4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72407"/>
            <a:ext cx="13144500" cy="5383413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4439900" y="3953561"/>
            <a:ext cx="213064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CHEST DETAIL</a:t>
            </a:r>
          </a:p>
        </p:txBody>
      </p:sp>
      <p:sp>
        <p:nvSpPr>
          <p:cNvPr id="10" name="Box"/>
          <p:cNvSpPr/>
          <p:nvPr/>
        </p:nvSpPr>
        <p:spPr>
          <a:xfrm>
            <a:off x="14439900" y="4338447"/>
            <a:ext cx="2933700" cy="3413093"/>
          </a:xfrm>
          <a:prstGeom prst="roundRect">
            <a:avLst>
              <a:gd name="adj" fmla="val 5844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Box frame"/>
          <p:cNvSpPr/>
          <p:nvPr/>
        </p:nvSpPr>
        <p:spPr>
          <a:xfrm>
            <a:off x="14454188" y="4352734"/>
            <a:ext cx="2905125" cy="3384518"/>
          </a:xfrm>
          <a:prstGeom prst="roundRect">
            <a:avLst>
              <a:gd name="adj" fmla="val 5901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Graphic" descr="logo-ed5969f696a066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8489" y="4367022"/>
            <a:ext cx="2876523" cy="3355943"/>
          </a:xfrm>
          <a:prstGeom prst="rect">
            <a:avLst/>
          </a:prstGeom>
        </p:spPr>
      </p:pic>
      <p:sp>
        <p:nvSpPr>
          <p:cNvPr id="13" name="Rule top"/>
          <p:cNvSpPr/>
          <p:nvPr/>
        </p:nvSpPr>
        <p:spPr>
          <a:xfrm>
            <a:off x="914400" y="9611773"/>
            <a:ext cx="7896225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914400" y="9750762"/>
            <a:ext cx="106480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171726"/>
                </a:solidFill>
                <a:latin typeface="Archivo ExtraBold"/>
              </a:rPr>
              <a:t>FRONT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14400" y="10079260"/>
            <a:ext cx="6626032" cy="3987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b="0" sz="1725" i="0">
                <a:solidFill>
                  <a:srgbClr val="171726"/>
                </a:solidFill>
                <a:latin typeface="Archivo Medium"/>
              </a:rPr>
              <a:t>Left chest · comet wordmark · 4 in wide · screen print, cream</a:t>
            </a:r>
          </a:p>
        </p:txBody>
      </p:sp>
      <p:sp>
        <p:nvSpPr>
          <p:cNvPr id="16" name="Rule top"/>
          <p:cNvSpPr/>
          <p:nvPr/>
        </p:nvSpPr>
        <p:spPr>
          <a:xfrm>
            <a:off x="9477375" y="9611773"/>
            <a:ext cx="7896225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9477375" y="9750762"/>
            <a:ext cx="884088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171726"/>
                </a:solidFill>
                <a:latin typeface="Archivo ExtraBold"/>
              </a:rPr>
              <a:t>BACK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9477375" y="10079260"/>
            <a:ext cx="8289066" cy="3987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b="0" sz="1725" i="0">
                <a:solidFill>
                  <a:srgbClr val="171726"/>
                </a:solidFill>
                <a:latin typeface="Archivo Medium"/>
              </a:rPr>
              <a:t>COSMIC painting lockup 11 in wide · phone and site in Archivo caps, cream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914400" y="10507980"/>
            <a:ext cx="8576142" cy="3467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i="0">
                <a:solidFill>
                  <a:srgbClr val="171726"/>
                </a:solidFill>
                <a:latin typeface="Archivo Medium"/>
              </a:rPr>
              <a:t>Cosmic blue jersey (match #362cff). One ink: cream #ece9e0, printed over an underbase.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8288000" cy="1143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17792700" cy="10934700"/>
          </a:xfrm>
          <a:prstGeom prst="roundRect">
            <a:avLst>
              <a:gd name="adj" fmla="val 2613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720014"/>
            <a:ext cx="410539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UNIFORMS &amp; MERCH · 04 / 08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914400" y="1183767"/>
            <a:ext cx="9018331" cy="9121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130"/>
              </a:lnSpc>
              <a:spcBef>
                <a:spcPts val="0"/>
              </a:spcBef>
              <a:spcAft>
                <a:spcPts val="0"/>
              </a:spcAft>
            </a:pPr>
            <a:r>
              <a:rPr b="0" sz="5700" i="0" spc="-85">
                <a:solidFill>
                  <a:srgbClr val="171726"/>
                </a:solidFill>
                <a:latin typeface="Archivo Black"/>
              </a:rPr>
              <a:t>JACKET 1, CURRENT</a:t>
            </a:r>
          </a:p>
        </p:txBody>
      </p:sp>
      <p:pic>
        <p:nvPicPr>
          <p:cNvPr id="6" name="Graphic" descr="logo-d62770192cba5f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036" y="800117"/>
            <a:ext cx="1841564" cy="438116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914400" y="1925326"/>
            <a:ext cx="8809772" cy="5043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6"/>
              </a:lnSpc>
              <a:spcBef>
                <a:spcPts val="0"/>
              </a:spcBef>
              <a:spcAft>
                <a:spcPts val="0"/>
              </a:spcAft>
            </a:pPr>
            <a:r>
              <a:rPr b="0" sz="2325" i="0" spc="-11">
                <a:solidFill>
                  <a:srgbClr val="362CFF"/>
                </a:solidFill>
                <a:latin typeface="Archivo Medium"/>
              </a:rPr>
              <a:t>The chore coat the crew already wears, finished with a back.</a:t>
            </a:r>
          </a:p>
        </p:txBody>
      </p:sp>
      <p:pic>
        <p:nvPicPr>
          <p:cNvPr id="8" name="Graphic" descr="logo-82a02ff702a927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95" y="3048476"/>
            <a:ext cx="13144110" cy="5346478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4439900" y="3425590"/>
            <a:ext cx="213064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CHEST DETAIL</a:t>
            </a:r>
          </a:p>
        </p:txBody>
      </p:sp>
      <p:sp>
        <p:nvSpPr>
          <p:cNvPr id="10" name="Box"/>
          <p:cNvSpPr/>
          <p:nvPr/>
        </p:nvSpPr>
        <p:spPr>
          <a:xfrm>
            <a:off x="14439900" y="3810476"/>
            <a:ext cx="2933700" cy="4184332"/>
          </a:xfrm>
          <a:prstGeom prst="roundRect">
            <a:avLst>
              <a:gd name="adj" fmla="val 5844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Box frame"/>
          <p:cNvSpPr/>
          <p:nvPr/>
        </p:nvSpPr>
        <p:spPr>
          <a:xfrm>
            <a:off x="14454188" y="3824764"/>
            <a:ext cx="2905125" cy="4155758"/>
          </a:xfrm>
          <a:prstGeom prst="roundRect">
            <a:avLst>
              <a:gd name="adj" fmla="val 5901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Graphic" descr="logo-69bc60dd12d518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8489" y="3839051"/>
            <a:ext cx="2876521" cy="4127182"/>
          </a:xfrm>
          <a:prstGeom prst="rect">
            <a:avLst/>
          </a:prstGeom>
        </p:spPr>
      </p:pic>
      <p:sp>
        <p:nvSpPr>
          <p:cNvPr id="13" name="Rule top"/>
          <p:cNvSpPr/>
          <p:nvPr/>
        </p:nvSpPr>
        <p:spPr>
          <a:xfrm>
            <a:off x="914400" y="9327070"/>
            <a:ext cx="7896225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914400" y="9466059"/>
            <a:ext cx="106480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171726"/>
                </a:solidFill>
                <a:latin typeface="Archivo ExtraBold"/>
              </a:rPr>
              <a:t>FRONT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14400" y="9794558"/>
            <a:ext cx="8212074" cy="6835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b="0" sz="1725" i="0">
                <a:solidFill>
                  <a:srgbClr val="171726"/>
                </a:solidFill>
                <a:latin typeface="Archivo Medium"/>
              </a:rPr>
              <a:t>As today: COSMIC build above the chest pocket, 5.4 in · Arlo curl on the right sleeve, 2.6 in · direct embroidery, blue</a:t>
            </a:r>
          </a:p>
        </p:txBody>
      </p:sp>
      <p:sp>
        <p:nvSpPr>
          <p:cNvPr id="16" name="Rule top"/>
          <p:cNvSpPr/>
          <p:nvPr/>
        </p:nvSpPr>
        <p:spPr>
          <a:xfrm>
            <a:off x="9477375" y="9327070"/>
            <a:ext cx="7896225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9477375" y="9466059"/>
            <a:ext cx="884088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171726"/>
                </a:solidFill>
                <a:latin typeface="Archivo ExtraBold"/>
              </a:rPr>
              <a:t>BACK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9477375" y="9794558"/>
            <a:ext cx="8212074" cy="6835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b="0" sz="1725" i="0">
                <a:solidFill>
                  <a:srgbClr val="171726"/>
                </a:solidFill>
                <a:latin typeface="Archivo Medium"/>
              </a:rPr>
              <a:t>One thing: the comet wordmark, 13 in wide across the upper back · embroidery, blue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914400" y="10507980"/>
            <a:ext cx="10601996" cy="3467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i="0">
                <a:solidFill>
                  <a:srgbClr val="171726"/>
                </a:solidFill>
                <a:latin typeface="Archivo Medium"/>
              </a:rPr>
              <a:t>Natural canvas chore coat: point collar, five shank buttons, chest pocket, two lower patch pockets, button cuffs.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8288000" cy="1143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17792700" cy="10934700"/>
          </a:xfrm>
          <a:prstGeom prst="roundRect">
            <a:avLst>
              <a:gd name="adj" fmla="val 2613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720014"/>
            <a:ext cx="410518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UNIFORMS &amp; MERCH · 05 / 08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914400" y="1183767"/>
            <a:ext cx="11860820" cy="9121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130"/>
              </a:lnSpc>
              <a:spcBef>
                <a:spcPts val="0"/>
              </a:spcBef>
              <a:spcAft>
                <a:spcPts val="0"/>
              </a:spcAft>
            </a:pPr>
            <a:r>
              <a:rPr b="0" sz="5700" i="0" spc="-85">
                <a:solidFill>
                  <a:srgbClr val="171726"/>
                </a:solidFill>
                <a:latin typeface="Archivo Black"/>
              </a:rPr>
              <a:t>JACKET 2, PATCH CLUSTER</a:t>
            </a:r>
          </a:p>
        </p:txBody>
      </p:sp>
      <p:pic>
        <p:nvPicPr>
          <p:cNvPr id="6" name="Graphic" descr="logo-d62770192cba5f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036" y="800117"/>
            <a:ext cx="1841564" cy="438116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914400" y="1925326"/>
            <a:ext cx="9218889" cy="5043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6"/>
              </a:lnSpc>
              <a:spcBef>
                <a:spcPts val="0"/>
              </a:spcBef>
              <a:spcAft>
                <a:spcPts val="0"/>
              </a:spcAft>
            </a:pPr>
            <a:r>
              <a:rPr b="0" sz="2325" i="0" spc="-11">
                <a:solidFill>
                  <a:srgbClr val="362CFF"/>
                </a:solidFill>
                <a:latin typeface="Archivo Medium"/>
              </a:rPr>
              <a:t>The blue patch block on the chest. One big phrase on the back.</a:t>
            </a:r>
          </a:p>
        </p:txBody>
      </p:sp>
      <p:pic>
        <p:nvPicPr>
          <p:cNvPr id="8" name="Graphic" descr="logo-b163ebe1fc8a88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95" y="3048476"/>
            <a:ext cx="13144110" cy="5346478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4439900" y="3704292"/>
            <a:ext cx="213064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CHEST DETAIL</a:t>
            </a:r>
          </a:p>
        </p:txBody>
      </p:sp>
      <p:sp>
        <p:nvSpPr>
          <p:cNvPr id="10" name="Box"/>
          <p:cNvSpPr/>
          <p:nvPr/>
        </p:nvSpPr>
        <p:spPr>
          <a:xfrm>
            <a:off x="14439900" y="4089178"/>
            <a:ext cx="2933700" cy="3626834"/>
          </a:xfrm>
          <a:prstGeom prst="roundRect">
            <a:avLst>
              <a:gd name="adj" fmla="val 5844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Box frame"/>
          <p:cNvSpPr/>
          <p:nvPr/>
        </p:nvSpPr>
        <p:spPr>
          <a:xfrm>
            <a:off x="14454188" y="4103465"/>
            <a:ext cx="2905125" cy="3598259"/>
          </a:xfrm>
          <a:prstGeom prst="roundRect">
            <a:avLst>
              <a:gd name="adj" fmla="val 5901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Graphic" descr="logo-3a3584ab473111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8479" y="4117753"/>
            <a:ext cx="2876542" cy="3569684"/>
          </a:xfrm>
          <a:prstGeom prst="rect">
            <a:avLst/>
          </a:prstGeom>
        </p:spPr>
      </p:pic>
      <p:sp>
        <p:nvSpPr>
          <p:cNvPr id="13" name="Rule top"/>
          <p:cNvSpPr/>
          <p:nvPr/>
        </p:nvSpPr>
        <p:spPr>
          <a:xfrm>
            <a:off x="914400" y="9327070"/>
            <a:ext cx="7896225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914400" y="9466059"/>
            <a:ext cx="106480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171726"/>
                </a:solidFill>
                <a:latin typeface="Archivo ExtraBold"/>
              </a:rPr>
              <a:t>FRONT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14400" y="9794558"/>
            <a:ext cx="8212074" cy="6835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b="0" sz="1725" i="0">
                <a:solidFill>
                  <a:srgbClr val="171726"/>
                </a:solidFill>
                <a:latin typeface="Archivo Medium"/>
              </a:rPr>
              <a:t>Blue patch block 4.5 x 4 in on the right chest, under the collar point, 1.2 in from the placket · close-up on board 08</a:t>
            </a:r>
          </a:p>
        </p:txBody>
      </p:sp>
      <p:sp>
        <p:nvSpPr>
          <p:cNvPr id="16" name="Rule top"/>
          <p:cNvSpPr/>
          <p:nvPr/>
        </p:nvSpPr>
        <p:spPr>
          <a:xfrm>
            <a:off x="9477375" y="9327070"/>
            <a:ext cx="7896225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9477375" y="9466059"/>
            <a:ext cx="884088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171726"/>
                </a:solidFill>
                <a:latin typeface="Archivo ExtraBold"/>
              </a:rPr>
              <a:t>BACK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9477375" y="9794558"/>
            <a:ext cx="8212074" cy="6835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b="0" sz="1725" i="0">
                <a:solidFill>
                  <a:srgbClr val="171726"/>
                </a:solidFill>
                <a:latin typeface="Archivo Medium"/>
              </a:rPr>
              <a:t>One thing: WE CARE, IT SHOWS. in Archivo Black caps, 15 in wide, one blue · embroidery or print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914400" y="10507980"/>
            <a:ext cx="9041160" cy="3467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i="0">
                <a:solidFill>
                  <a:srgbClr val="171726"/>
                </a:solidFill>
                <a:latin typeface="Archivo Medium"/>
              </a:rPr>
              <a:t>Same natural canvas jacket. The chest pocket stays clear; the block sits on the opposite chest.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8288000" cy="1143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17792700" cy="10934700"/>
          </a:xfrm>
          <a:prstGeom prst="roundRect">
            <a:avLst>
              <a:gd name="adj" fmla="val 2613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720014"/>
            <a:ext cx="410518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UNIFORMS &amp; MERCH · 06 / 08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914400" y="1183767"/>
            <a:ext cx="12219264" cy="9121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130"/>
              </a:lnSpc>
              <a:spcBef>
                <a:spcPts val="0"/>
              </a:spcBef>
              <a:spcAft>
                <a:spcPts val="0"/>
              </a:spcAft>
            </a:pPr>
            <a:r>
              <a:rPr b="0" sz="5700" i="0" spc="-85">
                <a:solidFill>
                  <a:srgbClr val="171726"/>
                </a:solidFill>
                <a:latin typeface="Archivo Black"/>
              </a:rPr>
              <a:t>JACKET 3, LEAVE IT BETTER</a:t>
            </a:r>
          </a:p>
        </p:txBody>
      </p:sp>
      <p:pic>
        <p:nvPicPr>
          <p:cNvPr id="6" name="Graphic" descr="logo-d62770192cba5f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036" y="800117"/>
            <a:ext cx="1841564" cy="438116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914400" y="1925326"/>
            <a:ext cx="9034333" cy="5043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6"/>
              </a:lnSpc>
              <a:spcBef>
                <a:spcPts val="0"/>
              </a:spcBef>
              <a:spcAft>
                <a:spcPts val="0"/>
              </a:spcAft>
            </a:pPr>
            <a:r>
              <a:rPr b="0" sz="2325" i="0" spc="-11">
                <a:solidFill>
                  <a:srgbClr val="362CFF"/>
                </a:solidFill>
                <a:latin typeface="Archivo Medium"/>
              </a:rPr>
              <a:t>A single wordmark patch up front. The value, big, on the back.</a:t>
            </a:r>
          </a:p>
        </p:txBody>
      </p:sp>
      <p:pic>
        <p:nvPicPr>
          <p:cNvPr id="8" name="Graphic" descr="logo-fb2e2d4dd822e7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95" y="3190875"/>
            <a:ext cx="13144110" cy="5346478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4439900" y="3567989"/>
            <a:ext cx="213064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CHEST DETAIL</a:t>
            </a:r>
          </a:p>
        </p:txBody>
      </p:sp>
      <p:sp>
        <p:nvSpPr>
          <p:cNvPr id="10" name="Box"/>
          <p:cNvSpPr/>
          <p:nvPr/>
        </p:nvSpPr>
        <p:spPr>
          <a:xfrm>
            <a:off x="14439900" y="3952875"/>
            <a:ext cx="2933700" cy="4184332"/>
          </a:xfrm>
          <a:prstGeom prst="roundRect">
            <a:avLst>
              <a:gd name="adj" fmla="val 5844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Box frame"/>
          <p:cNvSpPr/>
          <p:nvPr/>
        </p:nvSpPr>
        <p:spPr>
          <a:xfrm>
            <a:off x="14454188" y="3967162"/>
            <a:ext cx="2905125" cy="4155758"/>
          </a:xfrm>
          <a:prstGeom prst="roundRect">
            <a:avLst>
              <a:gd name="adj" fmla="val 5901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Graphic" descr="logo-5a9eae622b6ed2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8489" y="3981450"/>
            <a:ext cx="2876521" cy="4127182"/>
          </a:xfrm>
          <a:prstGeom prst="rect">
            <a:avLst/>
          </a:prstGeom>
        </p:spPr>
      </p:pic>
      <p:sp>
        <p:nvSpPr>
          <p:cNvPr id="13" name="Rule top"/>
          <p:cNvSpPr/>
          <p:nvPr/>
        </p:nvSpPr>
        <p:spPr>
          <a:xfrm>
            <a:off x="914400" y="9611773"/>
            <a:ext cx="7896225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914400" y="9750762"/>
            <a:ext cx="106480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171726"/>
                </a:solidFill>
                <a:latin typeface="Archivo ExtraBold"/>
              </a:rPr>
              <a:t>FRONT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14400" y="10079260"/>
            <a:ext cx="7828529" cy="3987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b="0" sz="1725" i="0">
                <a:solidFill>
                  <a:srgbClr val="171726"/>
                </a:solidFill>
                <a:latin typeface="Archivo Medium"/>
              </a:rPr>
              <a:t>Blue wordmark patch above the chest pocket, 3.5 x 1.5 in · nothing else</a:t>
            </a:r>
          </a:p>
        </p:txBody>
      </p:sp>
      <p:sp>
        <p:nvSpPr>
          <p:cNvPr id="16" name="Rule top"/>
          <p:cNvSpPr/>
          <p:nvPr/>
        </p:nvSpPr>
        <p:spPr>
          <a:xfrm>
            <a:off x="9477375" y="9611773"/>
            <a:ext cx="7896225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9477375" y="9750762"/>
            <a:ext cx="884088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171726"/>
                </a:solidFill>
                <a:latin typeface="Archivo ExtraBold"/>
              </a:rPr>
              <a:t>BACK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9477375" y="10079260"/>
            <a:ext cx="8864178" cy="3987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b="0" sz="1725" i="0">
                <a:solidFill>
                  <a:srgbClr val="171726"/>
                </a:solidFill>
                <a:latin typeface="Archivo Medium"/>
              </a:rPr>
              <a:t>One thing: the leave it better lettering, 12.5 in wide, one blue · embroidery or print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914400" y="10507980"/>
            <a:ext cx="2758242" cy="3467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i="0">
                <a:solidFill>
                  <a:srgbClr val="171726"/>
                </a:solidFill>
                <a:latin typeface="Archivo Medium"/>
              </a:rPr>
              <a:t>Same natural canvas jacket.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8288000" cy="1143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17792700" cy="10934700"/>
          </a:xfrm>
          <a:prstGeom prst="roundRect">
            <a:avLst>
              <a:gd name="adj" fmla="val 2613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720014"/>
            <a:ext cx="410518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UNIFORMS &amp; MERCH · 07 / 08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914400" y="1183767"/>
            <a:ext cx="9787600" cy="9121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130"/>
              </a:lnSpc>
              <a:spcBef>
                <a:spcPts val="0"/>
              </a:spcBef>
              <a:spcAft>
                <a:spcPts val="0"/>
              </a:spcAft>
            </a:pPr>
            <a:r>
              <a:rPr b="0" sz="5700" i="0" spc="-85">
                <a:solidFill>
                  <a:srgbClr val="171726"/>
                </a:solidFill>
                <a:latin typeface="Archivo Black"/>
              </a:rPr>
              <a:t>JACKET 4, BLUE CREW</a:t>
            </a:r>
          </a:p>
        </p:txBody>
      </p:sp>
      <p:pic>
        <p:nvPicPr>
          <p:cNvPr id="6" name="Graphic" descr="logo-d62770192cba5f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036" y="800117"/>
            <a:ext cx="1841564" cy="438116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914400" y="1925326"/>
            <a:ext cx="9962556" cy="5043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6"/>
              </a:lnSpc>
              <a:spcBef>
                <a:spcPts val="0"/>
              </a:spcBef>
              <a:spcAft>
                <a:spcPts val="0"/>
              </a:spcAft>
            </a:pPr>
            <a:r>
              <a:rPr b="0" sz="2325" i="0" spc="-11">
                <a:solidFill>
                  <a:srgbClr val="362CFF"/>
                </a:solidFill>
                <a:latin typeface="Archivo Medium"/>
              </a:rPr>
              <a:t>Cosmic blue canvas, navy patches, the comet in cream on the back.</a:t>
            </a:r>
          </a:p>
        </p:txBody>
      </p:sp>
      <p:pic>
        <p:nvPicPr>
          <p:cNvPr id="8" name="Graphic" descr="logo-c4455021702110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95" y="3048476"/>
            <a:ext cx="13144110" cy="5346478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4439900" y="3425590"/>
            <a:ext cx="213064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CHEST DETAIL</a:t>
            </a:r>
          </a:p>
        </p:txBody>
      </p:sp>
      <p:sp>
        <p:nvSpPr>
          <p:cNvPr id="10" name="Box"/>
          <p:cNvSpPr/>
          <p:nvPr/>
        </p:nvSpPr>
        <p:spPr>
          <a:xfrm>
            <a:off x="14439900" y="3810476"/>
            <a:ext cx="2933700" cy="4184332"/>
          </a:xfrm>
          <a:prstGeom prst="roundRect">
            <a:avLst>
              <a:gd name="adj" fmla="val 5844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Box frame"/>
          <p:cNvSpPr/>
          <p:nvPr/>
        </p:nvSpPr>
        <p:spPr>
          <a:xfrm>
            <a:off x="14454188" y="3824764"/>
            <a:ext cx="2905125" cy="4155758"/>
          </a:xfrm>
          <a:prstGeom prst="roundRect">
            <a:avLst>
              <a:gd name="adj" fmla="val 5901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Graphic" descr="logo-3245be4c2e06dd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8489" y="3839051"/>
            <a:ext cx="2876521" cy="4127182"/>
          </a:xfrm>
          <a:prstGeom prst="rect">
            <a:avLst/>
          </a:prstGeom>
        </p:spPr>
      </p:pic>
      <p:sp>
        <p:nvSpPr>
          <p:cNvPr id="13" name="Rule top"/>
          <p:cNvSpPr/>
          <p:nvPr/>
        </p:nvSpPr>
        <p:spPr>
          <a:xfrm>
            <a:off x="914400" y="9327070"/>
            <a:ext cx="7896225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914400" y="9466059"/>
            <a:ext cx="106480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171726"/>
                </a:solidFill>
                <a:latin typeface="Archivo ExtraBold"/>
              </a:rPr>
              <a:t>FRONT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14400" y="9794558"/>
            <a:ext cx="8212074" cy="6835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b="0" sz="1725" i="0">
                <a:solidFill>
                  <a:srgbClr val="171726"/>
                </a:solidFill>
                <a:latin typeface="Archivo Medium"/>
              </a:rPr>
              <a:t>Navy wordmark patch above the pocket, 3.5 in · navy Arlo curl patch on the right sleeve, 2 in</a:t>
            </a:r>
          </a:p>
        </p:txBody>
      </p:sp>
      <p:sp>
        <p:nvSpPr>
          <p:cNvPr id="16" name="Rule top"/>
          <p:cNvSpPr/>
          <p:nvPr/>
        </p:nvSpPr>
        <p:spPr>
          <a:xfrm>
            <a:off x="9477375" y="9327070"/>
            <a:ext cx="7896225" cy="28575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9477375" y="9466059"/>
            <a:ext cx="884088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171726"/>
                </a:solidFill>
                <a:latin typeface="Archivo ExtraBold"/>
              </a:rPr>
              <a:t>BACK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9477375" y="9794558"/>
            <a:ext cx="5564246" cy="3987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b="0" sz="1725" i="0">
                <a:solidFill>
                  <a:srgbClr val="171726"/>
                </a:solidFill>
                <a:latin typeface="Archivo Medium"/>
              </a:rPr>
              <a:t>One thing: the comet wordmark, 13 in wide, cream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914400" y="10507980"/>
            <a:ext cx="10574045" cy="3467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i="0">
                <a:solidFill>
                  <a:srgbClr val="171726"/>
                </a:solidFill>
                <a:latin typeface="Archivo Medium"/>
              </a:rPr>
              <a:t>Cosmic blue canvas (match #362cff), same cut. Navy patches on blue fabric: blue patches would vanish into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8288000" cy="1143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17792700" cy="10934700"/>
          </a:xfrm>
          <a:prstGeom prst="roundRect">
            <a:avLst>
              <a:gd name="adj" fmla="val 2613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720014"/>
            <a:ext cx="410518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UNIFORMS &amp; MERCH · 08 / 08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914400" y="1183767"/>
            <a:ext cx="7275073" cy="9121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130"/>
              </a:lnSpc>
              <a:spcBef>
                <a:spcPts val="0"/>
              </a:spcBef>
              <a:spcAft>
                <a:spcPts val="0"/>
              </a:spcAft>
            </a:pPr>
            <a:r>
              <a:rPr b="0" sz="5700" i="0" spc="-85">
                <a:solidFill>
                  <a:srgbClr val="171726"/>
                </a:solidFill>
                <a:latin typeface="Archivo Black"/>
              </a:rPr>
              <a:t>CHEST PATCHES</a:t>
            </a:r>
          </a:p>
        </p:txBody>
      </p:sp>
      <p:pic>
        <p:nvPicPr>
          <p:cNvPr id="6" name="Graphic" descr="logo-d62770192cba5f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036" y="800117"/>
            <a:ext cx="1841564" cy="438116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914400" y="1925326"/>
            <a:ext cx="9311061" cy="5043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6"/>
              </a:lnSpc>
              <a:spcBef>
                <a:spcPts val="0"/>
              </a:spcBef>
              <a:spcAft>
                <a:spcPts val="0"/>
              </a:spcAft>
            </a:pPr>
            <a:r>
              <a:rPr b="0" sz="2325" i="0" spc="-11">
                <a:solidFill>
                  <a:srgbClr val="362CFF"/>
                </a:solidFill>
                <a:latin typeface="Archivo Medium"/>
              </a:rPr>
              <a:t>Five patches in one tight column. Blue on canvas, navy on blue.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914400" y="2422017"/>
            <a:ext cx="17117568" cy="6835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b="0" sz="1725" i="0">
                <a:solidFill>
                  <a:srgbClr val="171726"/>
                </a:solidFill>
                <a:latin typeface="Archivo Medium"/>
              </a:rPr>
              <a:t>Block 4.5 x 3.95 in · tapes 2.15 and 2.20 x 0.55 in · wordmark 4.5 x 1.6 in · Arlo 2.85 x 1.5 in · We care, it shows. 1.5 in square · gutters 0.15 in · body-colour merrow, cream keyline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14400" y="3320339"/>
            <a:ext cx="5853455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BLUE BLOCK, NATURAL CANVAS JACKET</a:t>
            </a:r>
          </a:p>
        </p:txBody>
      </p:sp>
      <p:sp>
        <p:nvSpPr>
          <p:cNvPr id="10" name="Box"/>
          <p:cNvSpPr/>
          <p:nvPr/>
        </p:nvSpPr>
        <p:spPr>
          <a:xfrm>
            <a:off x="914400" y="3705225"/>
            <a:ext cx="7524750" cy="7058025"/>
          </a:xfrm>
          <a:prstGeom prst="roundRect">
            <a:avLst>
              <a:gd name="adj" fmla="val 2429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Box frame"/>
          <p:cNvSpPr/>
          <p:nvPr/>
        </p:nvSpPr>
        <p:spPr>
          <a:xfrm>
            <a:off x="928688" y="3719512"/>
            <a:ext cx="7496175" cy="7029450"/>
          </a:xfrm>
          <a:prstGeom prst="roundRect">
            <a:avLst>
              <a:gd name="adj" fmla="val 2439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Graphic" descr="logo-6816a79b242cbb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" y="3733800"/>
            <a:ext cx="7467600" cy="7000875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8972550" y="3320339"/>
            <a:ext cx="402549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NAVY BLOCK, BLUE JACKET</a:t>
            </a:r>
          </a:p>
        </p:txBody>
      </p:sp>
      <p:sp>
        <p:nvSpPr>
          <p:cNvPr id="14" name="Box"/>
          <p:cNvSpPr/>
          <p:nvPr/>
        </p:nvSpPr>
        <p:spPr>
          <a:xfrm>
            <a:off x="8972550" y="3705225"/>
            <a:ext cx="7524750" cy="7058025"/>
          </a:xfrm>
          <a:prstGeom prst="roundRect">
            <a:avLst>
              <a:gd name="adj" fmla="val 2429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Box frame"/>
          <p:cNvSpPr/>
          <p:nvPr/>
        </p:nvSpPr>
        <p:spPr>
          <a:xfrm>
            <a:off x="8986838" y="3719512"/>
            <a:ext cx="7496175" cy="7029450"/>
          </a:xfrm>
          <a:prstGeom prst="roundRect">
            <a:avLst>
              <a:gd name="adj" fmla="val 2439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Graphic" descr="logo-a61e99367a585b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3733800"/>
            <a:ext cx="7467600" cy="7000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