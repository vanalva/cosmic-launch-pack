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15000" cy="1920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rebrand/01-email-rebrand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5715000" cy="192024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0" y="0"/>
            <a:ext cx="5715000" cy="7429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1a51abbe91474f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13"/>
            <a:ext cx="1201007" cy="285725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729353" y="298094"/>
            <a:ext cx="838749" cy="1950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7"/>
              </a:lnSpc>
              <a:spcBef>
                <a:spcPts val="0"/>
              </a:spcBef>
              <a:spcAft>
                <a:spcPts val="0"/>
              </a:spcAft>
            </a:pPr>
            <a:r>
              <a:rPr b="0" sz="900" i="1" spc="36">
                <a:solidFill>
                  <a:srgbClr val="ECE9E0"/>
                </a:solidFill>
                <a:latin typeface="Archivo ExtraBold"/>
              </a:rPr>
              <a:t>NEW LOOK</a:t>
            </a:r>
          </a:p>
        </p:txBody>
      </p:sp>
      <p:sp>
        <p:nvSpPr>
          <p:cNvPr id="6" name="Box"/>
          <p:cNvSpPr/>
          <p:nvPr/>
        </p:nvSpPr>
        <p:spPr>
          <a:xfrm>
            <a:off x="0" y="742950"/>
            <a:ext cx="5715000" cy="2883122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ox frame"/>
          <p:cNvSpPr/>
          <p:nvPr/>
        </p:nvSpPr>
        <p:spPr>
          <a:xfrm>
            <a:off x="357188" y="1042988"/>
            <a:ext cx="1267682" cy="200025"/>
          </a:xfrm>
          <a:prstGeom prst="roundRect">
            <a:avLst>
              <a:gd name="adj" fmla="val 47619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504825" y="1087069"/>
            <a:ext cx="1165296" cy="1478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31"/>
              </a:lnSpc>
              <a:spcBef>
                <a:spcPts val="0"/>
              </a:spcBef>
              <a:spcAft>
                <a:spcPts val="0"/>
              </a:spcAft>
            </a:pPr>
            <a:r>
              <a:rPr b="1" sz="682" i="1" spc="27">
                <a:solidFill>
                  <a:srgbClr val="ECE9E0"/>
                </a:solidFill>
                <a:latin typeface="Archivo"/>
              </a:rPr>
              <a:t>[TBC: LAUNCH DATE]</a:t>
            </a:r>
          </a:p>
        </p:txBody>
      </p:sp>
      <p:sp>
        <p:nvSpPr>
          <p:cNvPr id="9" name="Headline"/>
          <p:cNvSpPr txBox="1"/>
          <p:nvPr/>
        </p:nvSpPr>
        <p:spPr>
          <a:xfrm>
            <a:off x="342900" y="1479804"/>
            <a:ext cx="4517715" cy="12755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184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ECE9E0"/>
                </a:solidFill>
                <a:latin typeface="Archivo Black"/>
              </a:rPr>
              <a:t>NEW LOOK.</a:t>
            </a:r>
          </a:p>
          <a:p>
            <a:pPr algn="l">
              <a:lnSpc>
                <a:spcPts val="4184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ECE9E0"/>
                </a:solidFill>
                <a:latin typeface="Archivo Black"/>
              </a:rPr>
              <a:t>SAME CREW.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42900" y="2700814"/>
            <a:ext cx="5230368" cy="629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 spc="-6">
                <a:solidFill>
                  <a:srgbClr val="ECE9E0"/>
                </a:solidFill>
                <a:latin typeface="Archivo Medium"/>
              </a:rPr>
              <a:t>Cosmic has a fresh identity. The people and the standard behind it are the ones you already know.</a:t>
            </a:r>
          </a:p>
        </p:txBody>
      </p:sp>
      <p:sp>
        <p:nvSpPr>
          <p:cNvPr id="11" name="Box"/>
          <p:cNvSpPr/>
          <p:nvPr/>
        </p:nvSpPr>
        <p:spPr>
          <a:xfrm>
            <a:off x="0" y="3626072"/>
            <a:ext cx="5715000" cy="32004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Box"/>
          <p:cNvSpPr/>
          <p:nvPr/>
        </p:nvSpPr>
        <p:spPr>
          <a:xfrm>
            <a:off x="342900" y="3626072"/>
            <a:ext cx="5029200" cy="2857500"/>
          </a:xfrm>
          <a:prstGeom prst="roundRect">
            <a:avLst>
              <a:gd name="adj" fmla="val 4666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hoto" descr="photo-965325eededd230f.jpg"/>
          <p:cNvPicPr>
            <a:picLocks noChangeAspect="1"/>
          </p:cNvPicPr>
          <p:nvPr/>
        </p:nvPicPr>
        <p:blipFill>
          <a:blip r:embed="rId3"/>
          <a:srcRect t="12121" b="12121"/>
          <a:stretch>
            <a:fillRect/>
          </a:stretch>
        </p:blipFill>
        <p:spPr>
          <a:xfrm>
            <a:off x="342900" y="3626072"/>
            <a:ext cx="5029200" cy="2857500"/>
          </a:xfrm>
          <a:prstGeom prst="roundRect">
            <a:avLst>
              <a:gd name="adj" fmla="val 4666"/>
            </a:avLst>
          </a:prstGeom>
        </p:spPr>
      </p:pic>
      <p:sp>
        <p:nvSpPr>
          <p:cNvPr id="14" name="Text"/>
          <p:cNvSpPr txBox="1"/>
          <p:nvPr/>
        </p:nvSpPr>
        <p:spPr>
          <a:xfrm>
            <a:off x="342900" y="7229570"/>
            <a:ext cx="1381216" cy="211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b="0" sz="975" i="1" spc="39">
                <a:solidFill>
                  <a:srgbClr val="362CFF"/>
                </a:solidFill>
                <a:latin typeface="Archivo ExtraBold"/>
              </a:rPr>
              <a:t>A NOTE FROM US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42900" y="7512272"/>
            <a:ext cx="5230368" cy="971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 spc="-7">
                <a:solidFill>
                  <a:srgbClr val="171726"/>
                </a:solidFill>
                <a:latin typeface="Archivo Medium"/>
              </a:rPr>
              <a:t>You've trusted us with your places, so you should hear this from us first: Cosmic looks different now. A new logo, new colours, new uniforms, a new website.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342900" y="8502872"/>
            <a:ext cx="523036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 spc="-7">
                <a:solidFill>
                  <a:srgbClr val="171726"/>
                </a:solidFill>
                <a:latin typeface="Archivo Medium"/>
              </a:rPr>
              <a:t>What hasn't moved is how we work. Same crew, same standard, still owner-led, still here for the long haul.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42900" y="9326061"/>
            <a:ext cx="1641516" cy="2763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b="0" sz="1275" i="0">
                <a:solidFill>
                  <a:srgbClr val="171726"/>
                </a:solidFill>
                <a:latin typeface="Archivo ExtraBold"/>
              </a:rPr>
              <a:t>Roberto Martínez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342900" y="9553213"/>
            <a:ext cx="958764" cy="178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b="0" sz="825" i="1" spc="33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2083403" y="9326061"/>
            <a:ext cx="1644716" cy="2763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b="0" sz="1275" i="0">
                <a:solidFill>
                  <a:srgbClr val="171726"/>
                </a:solidFill>
                <a:latin typeface="Archivo ExtraBold"/>
              </a:rPr>
              <a:t>Carlos R. Estrada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083403" y="9553213"/>
            <a:ext cx="958764" cy="1788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b="0" sz="825" i="1" spc="33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342900" y="10115645"/>
            <a:ext cx="1092114" cy="211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b="0" sz="975" i="1" spc="39">
                <a:solidFill>
                  <a:srgbClr val="362CFF"/>
                </a:solidFill>
                <a:latin typeface="Archivo ExtraBold"/>
              </a:rPr>
              <a:t>AT A GLANCE</a:t>
            </a:r>
          </a:p>
        </p:txBody>
      </p:sp>
      <p:sp>
        <p:nvSpPr>
          <p:cNvPr id="22" name="Box"/>
          <p:cNvSpPr/>
          <p:nvPr/>
        </p:nvSpPr>
        <p:spPr>
          <a:xfrm>
            <a:off x="342900" y="10417397"/>
            <a:ext cx="2457450" cy="2146364"/>
          </a:xfrm>
          <a:prstGeom prst="roundRect">
            <a:avLst>
              <a:gd name="adj" fmla="val 71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Box frame"/>
          <p:cNvSpPr/>
          <p:nvPr/>
        </p:nvSpPr>
        <p:spPr>
          <a:xfrm>
            <a:off x="357188" y="10431685"/>
            <a:ext cx="2428875" cy="2117788"/>
          </a:xfrm>
          <a:prstGeom prst="roundRect">
            <a:avLst>
              <a:gd name="adj" fmla="val 7196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581025" y="10667714"/>
            <a:ext cx="1972970" cy="312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b="0" sz="1950" i="0" spc="-29">
                <a:solidFill>
                  <a:srgbClr val="ECE9E0"/>
                </a:solidFill>
                <a:latin typeface="Archivo Black"/>
              </a:rPr>
              <a:t>WHAT'S NEW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81025" y="10993374"/>
            <a:ext cx="1989933" cy="2987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 spc="-6">
                <a:solidFill>
                  <a:srgbClr val="ECE9E0"/>
                </a:solidFill>
                <a:latin typeface="Archivo Medium"/>
              </a:rPr>
              <a:t>The logo and the colours.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81025" y="11282839"/>
            <a:ext cx="2143765" cy="2987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 spc="-6">
                <a:solidFill>
                  <a:srgbClr val="ECE9E0"/>
                </a:solidFill>
                <a:latin typeface="Archivo Medium"/>
              </a:rPr>
              <a:t>The uniforms and the truck.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81025" y="11572303"/>
            <a:ext cx="206044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 spc="-6">
                <a:solidFill>
                  <a:srgbClr val="ECE9E0"/>
                </a:solidFill>
                <a:latin typeface="Archivo Medium"/>
              </a:rPr>
              <a:t>Arlo, the newest member of the crew.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81025" y="12075033"/>
            <a:ext cx="1043041" cy="2987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 spc="-6">
                <a:solidFill>
                  <a:srgbClr val="ECE9E0"/>
                </a:solidFill>
                <a:latin typeface="Archivo Medium"/>
              </a:rPr>
              <a:t>The website.</a:t>
            </a:r>
          </a:p>
        </p:txBody>
      </p:sp>
      <p:sp>
        <p:nvSpPr>
          <p:cNvPr id="29" name="Box"/>
          <p:cNvSpPr/>
          <p:nvPr/>
        </p:nvSpPr>
        <p:spPr>
          <a:xfrm>
            <a:off x="2914650" y="10417397"/>
            <a:ext cx="2457450" cy="2146364"/>
          </a:xfrm>
          <a:prstGeom prst="roundRect">
            <a:avLst>
              <a:gd name="adj" fmla="val 71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Box frame"/>
          <p:cNvSpPr/>
          <p:nvPr/>
        </p:nvSpPr>
        <p:spPr>
          <a:xfrm>
            <a:off x="2928938" y="10431685"/>
            <a:ext cx="2428875" cy="2117788"/>
          </a:xfrm>
          <a:prstGeom prst="roundRect">
            <a:avLst>
              <a:gd name="adj" fmla="val 7196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3152775" y="10667714"/>
            <a:ext cx="1955475" cy="312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b="0" sz="1950" i="0" spc="-29">
                <a:solidFill>
                  <a:srgbClr val="362CFF"/>
                </a:solidFill>
                <a:latin typeface="Archivo Black"/>
              </a:rPr>
              <a:t>WHAT STAYS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3152775" y="10993374"/>
            <a:ext cx="1558519" cy="2987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 spc="-6">
                <a:solidFill>
                  <a:srgbClr val="171726"/>
                </a:solidFill>
                <a:latin typeface="Archivo Medium"/>
              </a:rPr>
              <a:t>The crew you know.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3152775" y="11282839"/>
            <a:ext cx="1991426" cy="2987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 spc="-6">
                <a:solidFill>
                  <a:srgbClr val="171726"/>
                </a:solidFill>
                <a:latin typeface="Archivo Medium"/>
              </a:rPr>
              <a:t>The standard of the work.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3152775" y="11572303"/>
            <a:ext cx="2060448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 spc="-6">
                <a:solidFill>
                  <a:srgbClr val="171726"/>
                </a:solidFill>
                <a:latin typeface="Archivo Medium"/>
              </a:rPr>
              <a:t>Owner-led, from first call to final walk-through.</a:t>
            </a:r>
          </a:p>
        </p:txBody>
      </p:sp>
      <p:sp>
        <p:nvSpPr>
          <p:cNvPr id="35" name="Rule top"/>
          <p:cNvSpPr/>
          <p:nvPr/>
        </p:nvSpPr>
        <p:spPr>
          <a:xfrm>
            <a:off x="342900" y="12982861"/>
            <a:ext cx="2400300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342900" y="13146310"/>
            <a:ext cx="1189833" cy="2640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b="0" sz="1650" i="0" spc="-24">
                <a:solidFill>
                  <a:srgbClr val="362CFF"/>
                </a:solidFill>
                <a:latin typeface="Archivo Black"/>
              </a:rPr>
              <a:t>CLARITY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342900" y="13384435"/>
            <a:ext cx="1028639" cy="2440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2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-5">
                <a:solidFill>
                  <a:srgbClr val="171726"/>
                </a:solidFill>
                <a:latin typeface="Archivo Medium"/>
              </a:rPr>
              <a:t>No surprises.</a:t>
            </a:r>
          </a:p>
        </p:txBody>
      </p:sp>
      <p:sp>
        <p:nvSpPr>
          <p:cNvPr id="38" name="Rule top"/>
          <p:cNvSpPr/>
          <p:nvPr/>
        </p:nvSpPr>
        <p:spPr>
          <a:xfrm>
            <a:off x="2971800" y="12982861"/>
            <a:ext cx="2400300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2971800" y="13146310"/>
            <a:ext cx="932520" cy="2640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b="0" sz="1650" i="0" spc="-24">
                <a:solidFill>
                  <a:srgbClr val="362CFF"/>
                </a:solidFill>
                <a:latin typeface="Archivo Black"/>
              </a:rPr>
              <a:t>CRAFT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2971800" y="13384435"/>
            <a:ext cx="1051042" cy="2440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2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-5">
                <a:solidFill>
                  <a:srgbClr val="171726"/>
                </a:solidFill>
                <a:latin typeface="Archivo Medium"/>
              </a:rPr>
              <a:t>Do it properly.</a:t>
            </a:r>
          </a:p>
        </p:txBody>
      </p:sp>
      <p:sp>
        <p:nvSpPr>
          <p:cNvPr id="41" name="Rule top"/>
          <p:cNvSpPr/>
          <p:nvPr/>
        </p:nvSpPr>
        <p:spPr>
          <a:xfrm>
            <a:off x="342900" y="13717238"/>
            <a:ext cx="2400300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342900" y="13880687"/>
            <a:ext cx="774741" cy="2640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b="0" sz="1650" i="0" spc="-24">
                <a:solidFill>
                  <a:srgbClr val="362CFF"/>
                </a:solidFill>
                <a:latin typeface="Archivo Black"/>
              </a:rPr>
              <a:t>CARE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342900" y="14118717"/>
            <a:ext cx="1103635" cy="2440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2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-5">
                <a:solidFill>
                  <a:srgbClr val="171726"/>
                </a:solidFill>
                <a:latin typeface="Archivo Medium"/>
              </a:rPr>
              <a:t>Leave it better.</a:t>
            </a:r>
          </a:p>
        </p:txBody>
      </p:sp>
      <p:sp>
        <p:nvSpPr>
          <p:cNvPr id="44" name="Rule top"/>
          <p:cNvSpPr/>
          <p:nvPr/>
        </p:nvSpPr>
        <p:spPr>
          <a:xfrm>
            <a:off x="2971800" y="13717238"/>
            <a:ext cx="2400300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2971800" y="13880687"/>
            <a:ext cx="1145454" cy="2640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b="0" sz="1650" i="0" spc="-24">
                <a:solidFill>
                  <a:srgbClr val="362CFF"/>
                </a:solidFill>
                <a:latin typeface="Archivo Black"/>
              </a:rPr>
              <a:t>COMMIT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2971800" y="14118717"/>
            <a:ext cx="1109823" cy="2440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2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-5">
                <a:solidFill>
                  <a:srgbClr val="171726"/>
                </a:solidFill>
                <a:latin typeface="Archivo Medium"/>
              </a:rPr>
              <a:t>See it through.</a:t>
            </a:r>
          </a:p>
        </p:txBody>
      </p:sp>
      <p:pic>
        <p:nvPicPr>
          <p:cNvPr id="47" name="Graphic" descr="logo-a059cf6e41a09f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4737300"/>
            <a:ext cx="1201960" cy="1142941"/>
          </a:xfrm>
          <a:prstGeom prst="rect">
            <a:avLst/>
          </a:prstGeom>
        </p:spPr>
      </p:pic>
      <p:sp>
        <p:nvSpPr>
          <p:cNvPr id="48" name="Text"/>
          <p:cNvSpPr txBox="1"/>
          <p:nvPr/>
        </p:nvSpPr>
        <p:spPr>
          <a:xfrm>
            <a:off x="1792510" y="15175420"/>
            <a:ext cx="3556635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33">
                <a:solidFill>
                  <a:srgbClr val="171726"/>
                </a:solidFill>
                <a:latin typeface="Archivo Black"/>
              </a:rPr>
              <a:t>WE CARE, IT SHOWS.</a:t>
            </a:r>
          </a:p>
        </p:txBody>
      </p:sp>
      <p:sp>
        <p:nvSpPr>
          <p:cNvPr id="49" name="Box"/>
          <p:cNvSpPr/>
          <p:nvPr/>
        </p:nvSpPr>
        <p:spPr>
          <a:xfrm>
            <a:off x="0" y="16261270"/>
            <a:ext cx="5715000" cy="2941606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398736" y="16651414"/>
            <a:ext cx="491733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ECE9E0"/>
                </a:solidFill>
                <a:latin typeface="Archivo Black"/>
              </a:rPr>
              <a:t>HAVE A PROJECT IN MIND?</a:t>
            </a:r>
          </a:p>
        </p:txBody>
      </p:sp>
      <p:sp>
        <p:nvSpPr>
          <p:cNvPr id="51" name="Box"/>
          <p:cNvSpPr/>
          <p:nvPr/>
        </p:nvSpPr>
        <p:spPr>
          <a:xfrm>
            <a:off x="1765364" y="17126140"/>
            <a:ext cx="2184178" cy="476250"/>
          </a:xfrm>
          <a:prstGeom prst="roundRect">
            <a:avLst>
              <a:gd name="adj" fmla="val 500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"/>
          <p:cNvSpPr txBox="1"/>
          <p:nvPr/>
        </p:nvSpPr>
        <p:spPr>
          <a:xfrm>
            <a:off x="1916253" y="17284256"/>
            <a:ext cx="1882399" cy="2400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1" sz="1350" i="0">
                <a:solidFill>
                  <a:srgbClr val="362CFF"/>
                </a:solidFill>
                <a:latin typeface="Archivo"/>
              </a:rPr>
              <a:t>Get a clear estimate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2162145" y="17862766"/>
            <a:ext cx="1390711" cy="227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sz="1050" i="0" spc="-5">
                <a:solidFill>
                  <a:srgbClr val="ECE9E0"/>
                </a:solidFill>
                <a:latin typeface="Archivo Medium"/>
              </a:rPr>
              <a:t>choosecosmic.com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1727311" y="18082508"/>
            <a:ext cx="2260473" cy="227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sz="1050" i="0" spc="-5">
                <a:solidFill>
                  <a:srgbClr val="ECE9E0"/>
                </a:solidFill>
                <a:latin typeface="Archivo Medium"/>
              </a:rPr>
              <a:t>(512) 348-6433 · (512) 348-6232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965307" y="18330920"/>
            <a:ext cx="3784290" cy="2277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sz="1050" i="0" spc="-5">
                <a:solidFill>
                  <a:srgbClr val="ECE9E0"/>
                </a:solidFill>
                <a:latin typeface="Archivo Medium"/>
              </a:rPr>
              <a:t>2301 W Anderson Ln , Austin, TX 78757</a:t>
            </a:r>
          </a:p>
        </p:txBody>
      </p:sp>
      <p:sp>
        <p:nvSpPr>
          <p:cNvPr id="56" name="Box frame"/>
          <p:cNvSpPr/>
          <p:nvPr/>
        </p:nvSpPr>
        <p:spPr>
          <a:xfrm>
            <a:off x="2480786" y="18322957"/>
            <a:ext cx="935546" cy="218504"/>
          </a:xfrm>
          <a:prstGeom prst="roundRect">
            <a:avLst>
              <a:gd name="adj" fmla="val 43591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"/>
          <p:cNvSpPr txBox="1"/>
          <p:nvPr/>
        </p:nvSpPr>
        <p:spPr>
          <a:xfrm>
            <a:off x="2551908" y="18369934"/>
            <a:ext cx="793303" cy="1594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7"/>
              </a:lnSpc>
              <a:spcBef>
                <a:spcPts val="0"/>
              </a:spcBef>
              <a:spcAft>
                <a:spcPts val="0"/>
              </a:spcAft>
            </a:pPr>
            <a:r>
              <a:rPr b="1" sz="735" i="0" spc="29">
                <a:solidFill>
                  <a:srgbClr val="ECE9E0"/>
                </a:solidFill>
                <a:latin typeface="Archivo"/>
              </a:rPr>
              <a:t>[TBC: SUITE]</a:t>
            </a:r>
          </a:p>
        </p:txBody>
      </p:sp>
      <p:sp>
        <p:nvSpPr>
          <p:cNvPr id="58" name="Box frame"/>
          <p:cNvSpPr/>
          <p:nvPr/>
        </p:nvSpPr>
        <p:spPr>
          <a:xfrm>
            <a:off x="2332101" y="18627185"/>
            <a:ext cx="1050703" cy="218504"/>
          </a:xfrm>
          <a:prstGeom prst="roundRect">
            <a:avLst>
              <a:gd name="adj" fmla="val 43591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"/>
          <p:cNvSpPr txBox="1"/>
          <p:nvPr/>
        </p:nvSpPr>
        <p:spPr>
          <a:xfrm>
            <a:off x="2396313" y="18674163"/>
            <a:ext cx="922279" cy="1594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7"/>
              </a:lnSpc>
              <a:spcBef>
                <a:spcPts val="0"/>
              </a:spcBef>
              <a:spcAft>
                <a:spcPts val="0"/>
              </a:spcAft>
            </a:pPr>
            <a:r>
              <a:rPr b="1" sz="735" i="0" spc="29">
                <a:solidFill>
                  <a:srgbClr val="ECE9E0"/>
                </a:solidFill>
                <a:latin typeface="Archivo"/>
              </a:rPr>
              <a:t>[TBC: HANDLE]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