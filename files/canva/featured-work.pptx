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featured-work/01-cover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featured-work/02-zilker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featured-work/03-the-facts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featured-work/04-scope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featured-work/05-scope-finish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featured-work/06-review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featured-work/07-cta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2b8dc7ca46ed3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9610"/>
            <a:ext cx="2241994" cy="533380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8810149" y="72953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01 / 07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685800" y="2284095"/>
            <a:ext cx="9976104" cy="32918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800"/>
              </a:lnSpc>
              <a:spcBef>
                <a:spcPts val="0"/>
              </a:spcBef>
              <a:spcAft>
                <a:spcPts val="0"/>
              </a:spcAft>
            </a:pPr>
            <a:r>
              <a:rPr b="0" sz="12000" i="0" spc="-179">
                <a:solidFill>
                  <a:srgbClr val="ECE9E0"/>
                </a:solidFill>
                <a:latin typeface="Archivo Black"/>
              </a:rPr>
              <a:t>FEATURED</a:t>
            </a:r>
          </a:p>
          <a:p>
            <a:pPr algn="l">
              <a:lnSpc>
                <a:spcPts val="10800"/>
              </a:lnSpc>
              <a:spcBef>
                <a:spcPts val="0"/>
              </a:spcBef>
              <a:spcAft>
                <a:spcPts val="0"/>
              </a:spcAft>
            </a:pPr>
            <a:r>
              <a:rPr b="0" sz="12000" i="0" spc="-179">
                <a:solidFill>
                  <a:srgbClr val="ECE9E0"/>
                </a:solidFill>
                <a:latin typeface="Archivo Black"/>
              </a:rPr>
              <a:t>WORK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685800" y="5334076"/>
            <a:ext cx="4943155" cy="6832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843"/>
              </a:lnSpc>
              <a:spcBef>
                <a:spcPts val="0"/>
              </a:spcBef>
              <a:spcAft>
                <a:spcPts val="0"/>
              </a:spcAft>
            </a:pPr>
            <a:r>
              <a:rPr b="0" sz="3150" i="0" spc="-15">
                <a:solidFill>
                  <a:srgbClr val="ECE9E0"/>
                </a:solidFill>
                <a:latin typeface="Archivo Medium"/>
              </a:rPr>
              <a:t>Real places, real people.</a:t>
            </a:r>
          </a:p>
        </p:txBody>
      </p:sp>
      <p:pic>
        <p:nvPicPr>
          <p:cNvPr id="7" name="Graphic" descr="logo-0c32d6477cf3fe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885" y="7772428"/>
            <a:ext cx="5566315" cy="44766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5b6b764610415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57260"/>
            <a:ext cx="2241994" cy="53338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8581549" y="97718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02 / 07</a:t>
            </a:r>
          </a:p>
        </p:txBody>
      </p:sp>
      <p:sp>
        <p:nvSpPr>
          <p:cNvPr id="6" name="Box"/>
          <p:cNvSpPr/>
          <p:nvPr/>
        </p:nvSpPr>
        <p:spPr>
          <a:xfrm>
            <a:off x="914400" y="1733550"/>
            <a:ext cx="8458200" cy="5334000"/>
          </a:xfrm>
          <a:prstGeom prst="roundRect">
            <a:avLst>
              <a:gd name="adj" fmla="val 3928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hoto" descr="photo-8488522b832d1eb1.jpg"/>
          <p:cNvPicPr>
            <a:picLocks noChangeAspect="1"/>
          </p:cNvPicPr>
          <p:nvPr/>
        </p:nvPicPr>
        <p:blipFill>
          <a:blip r:embed="rId3"/>
          <a:srcRect t="9550" b="6366"/>
          <a:stretch>
            <a:fillRect/>
          </a:stretch>
        </p:blipFill>
        <p:spPr>
          <a:xfrm>
            <a:off x="914400" y="1733550"/>
            <a:ext cx="8458200" cy="5334000"/>
          </a:xfrm>
          <a:prstGeom prst="roundRect">
            <a:avLst>
              <a:gd name="adj" fmla="val 3928"/>
            </a:avLst>
          </a:prstGeom>
        </p:spPr>
      </p:pic>
      <p:sp>
        <p:nvSpPr>
          <p:cNvPr id="8" name="Text"/>
          <p:cNvSpPr txBox="1"/>
          <p:nvPr/>
        </p:nvSpPr>
        <p:spPr>
          <a:xfrm>
            <a:off x="914400" y="7387514"/>
            <a:ext cx="189178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CASE STUDY</a:t>
            </a:r>
          </a:p>
        </p:txBody>
      </p:sp>
      <p:sp>
        <p:nvSpPr>
          <p:cNvPr id="9" name="Headline"/>
          <p:cNvSpPr txBox="1"/>
          <p:nvPr/>
        </p:nvSpPr>
        <p:spPr>
          <a:xfrm>
            <a:off x="914400" y="7833360"/>
            <a:ext cx="6358479" cy="16459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</a:pPr>
            <a:r>
              <a:rPr b="0" sz="6000" i="0" spc="-89">
                <a:solidFill>
                  <a:srgbClr val="171726"/>
                </a:solidFill>
                <a:latin typeface="Archivo Black"/>
              </a:rPr>
              <a:t>THE ZILKER</a:t>
            </a:r>
          </a:p>
          <a:p>
            <a:pPr algn="l">
              <a:lnSpc>
                <a:spcPts val="5400"/>
              </a:lnSpc>
              <a:spcBef>
                <a:spcPts val="0"/>
              </a:spcBef>
              <a:spcAft>
                <a:spcPts val="0"/>
              </a:spcAft>
            </a:pPr>
            <a:r>
              <a:rPr b="0" sz="6000" i="0" spc="-89">
                <a:solidFill>
                  <a:srgbClr val="171726"/>
                </a:solidFill>
                <a:latin typeface="Archivo Black"/>
              </a:rPr>
              <a:t>FAMILY HOME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914400" y="9371305"/>
            <a:ext cx="6049427" cy="5856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b="0" sz="2700" i="0" spc="-13">
                <a:solidFill>
                  <a:srgbClr val="362CFF"/>
                </a:solidFill>
                <a:latin typeface="Archivo Medium"/>
              </a:rPr>
              <a:t>Exterior refresh with lasting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2b8dc7ca46ed3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9610"/>
            <a:ext cx="2241994" cy="533380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8810149" y="72953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03 / 07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685800" y="1719453"/>
            <a:ext cx="6232596" cy="17282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70"/>
              </a:lnSpc>
              <a:spcBef>
                <a:spcPts val="0"/>
              </a:spcBef>
              <a:spcAft>
                <a:spcPts val="0"/>
              </a:spcAft>
            </a:pPr>
            <a:r>
              <a:rPr b="0" sz="6300" i="0" spc="-94">
                <a:solidFill>
                  <a:srgbClr val="ECE9E0"/>
                </a:solidFill>
                <a:latin typeface="Archivo Black"/>
              </a:rPr>
              <a:t>THE JOB,</a:t>
            </a:r>
          </a:p>
          <a:p>
            <a:pPr algn="l">
              <a:lnSpc>
                <a:spcPts val="5670"/>
              </a:lnSpc>
              <a:spcBef>
                <a:spcPts val="0"/>
              </a:spcBef>
              <a:spcAft>
                <a:spcPts val="0"/>
              </a:spcAft>
            </a:pPr>
            <a:r>
              <a:rPr b="0" sz="6300" i="0" spc="-94">
                <a:solidFill>
                  <a:srgbClr val="ECE9E0"/>
                </a:solidFill>
                <a:latin typeface="Archivo Black"/>
              </a:rPr>
              <a:t>IN NUMBERS</a:t>
            </a:r>
          </a:p>
        </p:txBody>
      </p:sp>
      <p:sp>
        <p:nvSpPr>
          <p:cNvPr id="6" name="Box"/>
          <p:cNvSpPr/>
          <p:nvPr/>
        </p:nvSpPr>
        <p:spPr>
          <a:xfrm>
            <a:off x="685800" y="3535585"/>
            <a:ext cx="4352925" cy="3893629"/>
          </a:xfrm>
          <a:prstGeom prst="roundRect">
            <a:avLst>
              <a:gd name="adj" fmla="val 5381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Box frame"/>
          <p:cNvSpPr/>
          <p:nvPr/>
        </p:nvSpPr>
        <p:spPr>
          <a:xfrm>
            <a:off x="704850" y="3554635"/>
            <a:ext cx="4314825" cy="3855529"/>
          </a:xfrm>
          <a:prstGeom prst="roundRect">
            <a:avLst>
              <a:gd name="adj" fmla="val 5435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1066800" y="3913156"/>
            <a:ext cx="2823210" cy="10561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40"/>
              </a:lnSpc>
              <a:spcBef>
                <a:spcPts val="0"/>
              </a:spcBef>
              <a:spcAft>
                <a:spcPts val="0"/>
              </a:spcAft>
            </a:pPr>
            <a:r>
              <a:rPr b="0" sz="6600" i="0" spc="-99">
                <a:solidFill>
                  <a:srgbClr val="362CFF"/>
                </a:solidFill>
                <a:latin typeface="Archivo Black"/>
              </a:rPr>
              <a:t>2,850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066800" y="6721869"/>
            <a:ext cx="718414" cy="520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b="0" sz="2400" i="0" spc="-12">
                <a:solidFill>
                  <a:srgbClr val="362CFF"/>
                </a:solidFill>
                <a:latin typeface="Archivo Medium"/>
              </a:rPr>
              <a:t>sq ft</a:t>
            </a:r>
          </a:p>
        </p:txBody>
      </p:sp>
      <p:sp>
        <p:nvSpPr>
          <p:cNvPr id="10" name="Box"/>
          <p:cNvSpPr/>
          <p:nvPr/>
        </p:nvSpPr>
        <p:spPr>
          <a:xfrm>
            <a:off x="5248275" y="3535585"/>
            <a:ext cx="4352925" cy="3893629"/>
          </a:xfrm>
          <a:prstGeom prst="roundRect">
            <a:avLst>
              <a:gd name="adj" fmla="val 5381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Box frame"/>
          <p:cNvSpPr/>
          <p:nvPr/>
        </p:nvSpPr>
        <p:spPr>
          <a:xfrm>
            <a:off x="5267325" y="3554635"/>
            <a:ext cx="4314825" cy="3855529"/>
          </a:xfrm>
          <a:prstGeom prst="roundRect">
            <a:avLst>
              <a:gd name="adj" fmla="val 5435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5629275" y="3913156"/>
            <a:ext cx="688437" cy="10561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40"/>
              </a:lnSpc>
              <a:spcBef>
                <a:spcPts val="0"/>
              </a:spcBef>
              <a:spcAft>
                <a:spcPts val="0"/>
              </a:spcAft>
            </a:pPr>
            <a:r>
              <a:rPr b="0" sz="6600" i="0" spc="-99">
                <a:solidFill>
                  <a:srgbClr val="362CFF"/>
                </a:solidFill>
                <a:latin typeface="Archivo Black"/>
              </a:rPr>
              <a:t>6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5629275" y="6721869"/>
            <a:ext cx="2087758" cy="520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b="0" sz="2400" i="0" spc="-12">
                <a:solidFill>
                  <a:srgbClr val="362CFF"/>
                </a:solidFill>
                <a:latin typeface="Archivo Medium"/>
              </a:rPr>
              <a:t>working days</a:t>
            </a:r>
          </a:p>
        </p:txBody>
      </p:sp>
      <p:sp>
        <p:nvSpPr>
          <p:cNvPr id="14" name="Box"/>
          <p:cNvSpPr/>
          <p:nvPr/>
        </p:nvSpPr>
        <p:spPr>
          <a:xfrm>
            <a:off x="685800" y="7638764"/>
            <a:ext cx="4352925" cy="4076986"/>
          </a:xfrm>
          <a:prstGeom prst="roundRect">
            <a:avLst>
              <a:gd name="adj" fmla="val 5139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Box frame"/>
          <p:cNvSpPr/>
          <p:nvPr/>
        </p:nvSpPr>
        <p:spPr>
          <a:xfrm>
            <a:off x="704850" y="7657814"/>
            <a:ext cx="4314825" cy="4038886"/>
          </a:xfrm>
          <a:prstGeom prst="roundRect">
            <a:avLst>
              <a:gd name="adj" fmla="val 5188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1066800" y="8016335"/>
            <a:ext cx="688437" cy="10561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40"/>
              </a:lnSpc>
              <a:spcBef>
                <a:spcPts val="0"/>
              </a:spcBef>
              <a:spcAft>
                <a:spcPts val="0"/>
              </a:spcAft>
            </a:pPr>
            <a:r>
              <a:rPr b="0" sz="6600" i="0" spc="-99">
                <a:solidFill>
                  <a:srgbClr val="362CFF"/>
                </a:solidFill>
                <a:latin typeface="Archivo Black"/>
              </a:rPr>
              <a:t>4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066800" y="11008404"/>
            <a:ext cx="2323948" cy="52059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b="0" sz="2400" i="0" spc="-12">
                <a:solidFill>
                  <a:srgbClr val="362CFF"/>
                </a:solidFill>
                <a:latin typeface="Archivo Medium"/>
              </a:rPr>
              <a:t>crew members</a:t>
            </a:r>
          </a:p>
        </p:txBody>
      </p:sp>
      <p:sp>
        <p:nvSpPr>
          <p:cNvPr id="18" name="Box"/>
          <p:cNvSpPr/>
          <p:nvPr/>
        </p:nvSpPr>
        <p:spPr>
          <a:xfrm>
            <a:off x="5248275" y="7638764"/>
            <a:ext cx="4352925" cy="4076986"/>
          </a:xfrm>
          <a:prstGeom prst="roundRect">
            <a:avLst>
              <a:gd name="adj" fmla="val 5139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Box frame"/>
          <p:cNvSpPr/>
          <p:nvPr/>
        </p:nvSpPr>
        <p:spPr>
          <a:xfrm>
            <a:off x="5267325" y="7657814"/>
            <a:ext cx="4314825" cy="4038886"/>
          </a:xfrm>
          <a:prstGeom prst="roundRect">
            <a:avLst>
              <a:gd name="adj" fmla="val 5188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5629275" y="7995761"/>
            <a:ext cx="2893405" cy="7920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455"/>
              </a:lnSpc>
              <a:spcBef>
                <a:spcPts val="0"/>
              </a:spcBef>
              <a:spcAft>
                <a:spcPts val="0"/>
              </a:spcAft>
            </a:pPr>
            <a:r>
              <a:rPr b="0" sz="4950" i="0" spc="-74">
                <a:solidFill>
                  <a:srgbClr val="362CFF"/>
                </a:solidFill>
                <a:latin typeface="Archivo Black"/>
              </a:rPr>
              <a:t>ZILKER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5629275" y="10636644"/>
            <a:ext cx="3734562" cy="892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928"/>
              </a:lnSpc>
              <a:spcBef>
                <a:spcPts val="0"/>
              </a:spcBef>
              <a:spcAft>
                <a:spcPts val="0"/>
              </a:spcAft>
            </a:pPr>
            <a:r>
              <a:rPr b="0" sz="2400" i="0" spc="-12">
                <a:solidFill>
                  <a:srgbClr val="362CFF"/>
                </a:solidFill>
                <a:latin typeface="Archivo Medium"/>
              </a:rPr>
              <a:t>Austin · single-family home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85800" y="11978564"/>
            <a:ext cx="2360646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ZILKER, AUSTIN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5b6b764610415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57260"/>
            <a:ext cx="2241994" cy="53338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8581263" y="977189"/>
            <a:ext cx="96249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04 / 07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914400" y="1901114"/>
            <a:ext cx="1706270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THE SCOPE</a:t>
            </a:r>
          </a:p>
        </p:txBody>
      </p:sp>
      <p:sp>
        <p:nvSpPr>
          <p:cNvPr id="7" name="Headline"/>
          <p:cNvSpPr txBox="1"/>
          <p:nvPr/>
        </p:nvSpPr>
        <p:spPr>
          <a:xfrm>
            <a:off x="914400" y="2361057"/>
            <a:ext cx="5248153" cy="1975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</a:pPr>
            <a:r>
              <a:rPr b="0" sz="7200" i="0" spc="-108">
                <a:solidFill>
                  <a:srgbClr val="171726"/>
                </a:solidFill>
                <a:latin typeface="Archivo Black"/>
              </a:rPr>
              <a:t>WHAT WE</a:t>
            </a:r>
          </a:p>
          <a:p>
            <a:pPr algn="l">
              <a:lnSpc>
                <a:spcPts val="6480"/>
              </a:lnSpc>
              <a:spcBef>
                <a:spcPts val="0"/>
              </a:spcBef>
              <a:spcAft>
                <a:spcPts val="0"/>
              </a:spcAft>
            </a:pPr>
            <a:r>
              <a:rPr b="0" sz="7200" i="0" spc="-108">
                <a:solidFill>
                  <a:srgbClr val="171726"/>
                </a:solidFill>
                <a:latin typeface="Archivo Black"/>
              </a:rPr>
              <a:t>DID</a:t>
            </a:r>
          </a:p>
        </p:txBody>
      </p:sp>
      <p:sp>
        <p:nvSpPr>
          <p:cNvPr id="8" name="Box"/>
          <p:cNvSpPr/>
          <p:nvPr/>
        </p:nvSpPr>
        <p:spPr>
          <a:xfrm>
            <a:off x="914400" y="4369880"/>
            <a:ext cx="8458200" cy="933450"/>
          </a:xfrm>
          <a:prstGeom prst="roundRect">
            <a:avLst>
              <a:gd name="adj" fmla="val 18367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Box frame"/>
          <p:cNvSpPr/>
          <p:nvPr/>
        </p:nvSpPr>
        <p:spPr>
          <a:xfrm>
            <a:off x="933450" y="4388930"/>
            <a:ext cx="8420100" cy="895350"/>
          </a:xfrm>
          <a:prstGeom prst="roundRect">
            <a:avLst>
              <a:gd name="adj" fmla="val 19148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Graphic" descr="logo-639136c33fcc0c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111" y="4627116"/>
            <a:ext cx="380238" cy="418977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1924050" y="4708588"/>
            <a:ext cx="7558629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0" sz="2400" i="0" spc="-36">
                <a:solidFill>
                  <a:srgbClr val="362CFF"/>
                </a:solidFill>
                <a:latin typeface="Archivo Black"/>
              </a:rPr>
              <a:t>FULL EXTERIOR REPAINT (SIDING + TRIM)</a:t>
            </a:r>
          </a:p>
        </p:txBody>
      </p:sp>
      <p:sp>
        <p:nvSpPr>
          <p:cNvPr id="12" name="Box"/>
          <p:cNvSpPr/>
          <p:nvPr/>
        </p:nvSpPr>
        <p:spPr>
          <a:xfrm>
            <a:off x="914400" y="5474780"/>
            <a:ext cx="8458200" cy="933450"/>
          </a:xfrm>
          <a:prstGeom prst="roundRect">
            <a:avLst>
              <a:gd name="adj" fmla="val 18367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Box frame"/>
          <p:cNvSpPr/>
          <p:nvPr/>
        </p:nvSpPr>
        <p:spPr>
          <a:xfrm>
            <a:off x="933450" y="5493830"/>
            <a:ext cx="8420100" cy="895350"/>
          </a:xfrm>
          <a:prstGeom prst="roundRect">
            <a:avLst>
              <a:gd name="adj" fmla="val 19148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Graphic" descr="logo-639136c33fcc0c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111" y="5732016"/>
            <a:ext cx="380238" cy="418977"/>
          </a:xfrm>
          <a:prstGeom prst="rect">
            <a:avLst/>
          </a:prstGeom>
        </p:spPr>
      </p:pic>
      <p:sp>
        <p:nvSpPr>
          <p:cNvPr id="15" name="Text"/>
          <p:cNvSpPr txBox="1"/>
          <p:nvPr/>
        </p:nvSpPr>
        <p:spPr>
          <a:xfrm>
            <a:off x="1924050" y="5813488"/>
            <a:ext cx="3919134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0" sz="2400" i="0" spc="-36">
                <a:solidFill>
                  <a:srgbClr val="362CFF"/>
                </a:solidFill>
                <a:latin typeface="Archivo Black"/>
              </a:rPr>
              <a:t>PRESSURE WASHING</a:t>
            </a:r>
          </a:p>
        </p:txBody>
      </p:sp>
      <p:sp>
        <p:nvSpPr>
          <p:cNvPr id="16" name="Box"/>
          <p:cNvSpPr/>
          <p:nvPr/>
        </p:nvSpPr>
        <p:spPr>
          <a:xfrm>
            <a:off x="914400" y="6579680"/>
            <a:ext cx="8458200" cy="933450"/>
          </a:xfrm>
          <a:prstGeom prst="roundRect">
            <a:avLst>
              <a:gd name="adj" fmla="val 18367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Box frame"/>
          <p:cNvSpPr/>
          <p:nvPr/>
        </p:nvSpPr>
        <p:spPr>
          <a:xfrm>
            <a:off x="933450" y="6598730"/>
            <a:ext cx="8420100" cy="895350"/>
          </a:xfrm>
          <a:prstGeom prst="roundRect">
            <a:avLst>
              <a:gd name="adj" fmla="val 19148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Graphic" descr="logo-639136c33fcc0c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111" y="6836916"/>
            <a:ext cx="380238" cy="418977"/>
          </a:xfrm>
          <a:prstGeom prst="rect">
            <a:avLst/>
          </a:prstGeom>
        </p:spPr>
      </p:pic>
      <p:sp>
        <p:nvSpPr>
          <p:cNvPr id="19" name="Text"/>
          <p:cNvSpPr txBox="1"/>
          <p:nvPr/>
        </p:nvSpPr>
        <p:spPr>
          <a:xfrm>
            <a:off x="1924050" y="6918388"/>
            <a:ext cx="5772379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0" sz="2400" i="0" spc="-36">
                <a:solidFill>
                  <a:srgbClr val="362CFF"/>
                </a:solidFill>
                <a:latin typeface="Archivo Black"/>
              </a:rPr>
              <a:t>WOOD REPAIRS AND CAULKING</a:t>
            </a:r>
          </a:p>
        </p:txBody>
      </p:sp>
      <p:sp>
        <p:nvSpPr>
          <p:cNvPr id="20" name="Box"/>
          <p:cNvSpPr/>
          <p:nvPr/>
        </p:nvSpPr>
        <p:spPr>
          <a:xfrm>
            <a:off x="914400" y="7684580"/>
            <a:ext cx="8458200" cy="933450"/>
          </a:xfrm>
          <a:prstGeom prst="roundRect">
            <a:avLst>
              <a:gd name="adj" fmla="val 18367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Box frame"/>
          <p:cNvSpPr/>
          <p:nvPr/>
        </p:nvSpPr>
        <p:spPr>
          <a:xfrm>
            <a:off x="933450" y="7703630"/>
            <a:ext cx="8420100" cy="895350"/>
          </a:xfrm>
          <a:prstGeom prst="roundRect">
            <a:avLst>
              <a:gd name="adj" fmla="val 19148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Graphic" descr="logo-639136c33fcc0c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111" y="7941816"/>
            <a:ext cx="380238" cy="418977"/>
          </a:xfrm>
          <a:prstGeom prst="rect">
            <a:avLst/>
          </a:prstGeom>
        </p:spPr>
      </p:pic>
      <p:sp>
        <p:nvSpPr>
          <p:cNvPr id="23" name="Text"/>
          <p:cNvSpPr txBox="1"/>
          <p:nvPr/>
        </p:nvSpPr>
        <p:spPr>
          <a:xfrm>
            <a:off x="1924050" y="8023288"/>
            <a:ext cx="4539478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0" sz="2400" i="0" spc="-36">
                <a:solidFill>
                  <a:srgbClr val="362CFF"/>
                </a:solidFill>
                <a:latin typeface="Archivo Black"/>
              </a:rPr>
              <a:t>FRONT PORCH REFRESH</a:t>
            </a:r>
          </a:p>
        </p:txBody>
      </p:sp>
      <p:sp>
        <p:nvSpPr>
          <p:cNvPr id="24" name="Box"/>
          <p:cNvSpPr/>
          <p:nvPr/>
        </p:nvSpPr>
        <p:spPr>
          <a:xfrm>
            <a:off x="914400" y="8960930"/>
            <a:ext cx="8458200" cy="3238500"/>
          </a:xfrm>
          <a:prstGeom prst="roundRect">
            <a:avLst>
              <a:gd name="adj" fmla="val 6470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hoto" descr="photo-ae0af34e63434ba2.jpg"/>
          <p:cNvPicPr>
            <a:picLocks noChangeAspect="1"/>
          </p:cNvPicPr>
          <p:nvPr/>
        </p:nvPicPr>
        <p:blipFill>
          <a:blip r:embed="rId4"/>
          <a:srcRect t="29369" b="19580"/>
          <a:stretch>
            <a:fillRect/>
          </a:stretch>
        </p:blipFill>
        <p:spPr>
          <a:xfrm>
            <a:off x="914400" y="8960930"/>
            <a:ext cx="8458200" cy="3238500"/>
          </a:xfrm>
          <a:prstGeom prst="roundRect">
            <a:avLst>
              <a:gd name="adj" fmla="val 6470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2b8dc7ca46ed3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9610"/>
            <a:ext cx="2241994" cy="533380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8810149" y="72953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05 / 07</a:t>
            </a:r>
          </a:p>
        </p:txBody>
      </p:sp>
      <p:sp>
        <p:nvSpPr>
          <p:cNvPr id="5" name="Box"/>
          <p:cNvSpPr/>
          <p:nvPr/>
        </p:nvSpPr>
        <p:spPr>
          <a:xfrm>
            <a:off x="685800" y="1562100"/>
            <a:ext cx="8915400" cy="4953000"/>
          </a:xfrm>
          <a:prstGeom prst="roundRect">
            <a:avLst>
              <a:gd name="adj" fmla="val 4230"/>
            </a:avLst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hoto" descr="photo-a1fa86d7f13f45ad.jpg"/>
          <p:cNvPicPr>
            <a:picLocks noChangeAspect="1"/>
          </p:cNvPicPr>
          <p:nvPr/>
        </p:nvPicPr>
        <p:blipFill>
          <a:blip r:embed="rId3"/>
          <a:srcRect t="514" b="773"/>
          <a:stretch>
            <a:fillRect/>
          </a:stretch>
        </p:blipFill>
        <p:spPr>
          <a:xfrm>
            <a:off x="685800" y="1562100"/>
            <a:ext cx="8915400" cy="4953000"/>
          </a:xfrm>
          <a:prstGeom prst="roundRect">
            <a:avLst>
              <a:gd name="adj" fmla="val 4230"/>
            </a:avLst>
          </a:prstGeom>
        </p:spPr>
      </p:pic>
      <p:sp>
        <p:nvSpPr>
          <p:cNvPr id="7" name="Text"/>
          <p:cNvSpPr txBox="1"/>
          <p:nvPr/>
        </p:nvSpPr>
        <p:spPr>
          <a:xfrm>
            <a:off x="685800" y="6835064"/>
            <a:ext cx="2179183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AND TO FINISH</a:t>
            </a:r>
          </a:p>
        </p:txBody>
      </p:sp>
      <p:sp>
        <p:nvSpPr>
          <p:cNvPr id="8" name="Box"/>
          <p:cNvSpPr/>
          <p:nvPr/>
        </p:nvSpPr>
        <p:spPr>
          <a:xfrm>
            <a:off x="685800" y="7315200"/>
            <a:ext cx="8915400" cy="933450"/>
          </a:xfrm>
          <a:prstGeom prst="roundRect">
            <a:avLst>
              <a:gd name="adj" fmla="val 18367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Box frame"/>
          <p:cNvSpPr/>
          <p:nvPr/>
        </p:nvSpPr>
        <p:spPr>
          <a:xfrm>
            <a:off x="704850" y="7334250"/>
            <a:ext cx="8877300" cy="895350"/>
          </a:xfrm>
          <a:prstGeom prst="roundRect">
            <a:avLst>
              <a:gd name="adj" fmla="val 19148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Graphic" descr="logo-639136c33fcc0c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511" y="7572437"/>
            <a:ext cx="380238" cy="418977"/>
          </a:xfrm>
          <a:prstGeom prst="rect">
            <a:avLst/>
          </a:prstGeom>
        </p:spPr>
      </p:pic>
      <p:sp>
        <p:nvSpPr>
          <p:cNvPr id="11" name="Text"/>
          <p:cNvSpPr txBox="1"/>
          <p:nvPr/>
        </p:nvSpPr>
        <p:spPr>
          <a:xfrm>
            <a:off x="1695450" y="7653814"/>
            <a:ext cx="4470776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0" sz="2400" i="0" spc="-36">
                <a:solidFill>
                  <a:srgbClr val="362CFF"/>
                </a:solidFill>
                <a:latin typeface="Archivo Black"/>
              </a:rPr>
              <a:t>GARAGE DOOR REPAINT</a:t>
            </a:r>
          </a:p>
        </p:txBody>
      </p:sp>
      <p:sp>
        <p:nvSpPr>
          <p:cNvPr id="12" name="Box"/>
          <p:cNvSpPr/>
          <p:nvPr/>
        </p:nvSpPr>
        <p:spPr>
          <a:xfrm>
            <a:off x="685800" y="8420100"/>
            <a:ext cx="8915400" cy="933450"/>
          </a:xfrm>
          <a:prstGeom prst="roundRect">
            <a:avLst>
              <a:gd name="adj" fmla="val 18367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Box frame"/>
          <p:cNvSpPr/>
          <p:nvPr/>
        </p:nvSpPr>
        <p:spPr>
          <a:xfrm>
            <a:off x="704850" y="8439150"/>
            <a:ext cx="8877300" cy="895350"/>
          </a:xfrm>
          <a:prstGeom prst="roundRect">
            <a:avLst>
              <a:gd name="adj" fmla="val 19148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Graphic" descr="logo-639136c33fcc0c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511" y="8677337"/>
            <a:ext cx="380238" cy="418977"/>
          </a:xfrm>
          <a:prstGeom prst="rect">
            <a:avLst/>
          </a:prstGeom>
        </p:spPr>
      </p:pic>
      <p:sp>
        <p:nvSpPr>
          <p:cNvPr id="15" name="Text"/>
          <p:cNvSpPr txBox="1"/>
          <p:nvPr/>
        </p:nvSpPr>
        <p:spPr>
          <a:xfrm>
            <a:off x="1695450" y="8758714"/>
            <a:ext cx="6747861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0" sz="2400" i="0" spc="-36">
                <a:solidFill>
                  <a:srgbClr val="362CFF"/>
                </a:solidFill>
                <a:latin typeface="Archivo Black"/>
              </a:rPr>
              <a:t>TWO-COAT EXTERIOR PAINT SYSTEM</a:t>
            </a:r>
          </a:p>
        </p:txBody>
      </p:sp>
      <p:sp>
        <p:nvSpPr>
          <p:cNvPr id="16" name="Box"/>
          <p:cNvSpPr/>
          <p:nvPr/>
        </p:nvSpPr>
        <p:spPr>
          <a:xfrm>
            <a:off x="685800" y="9525000"/>
            <a:ext cx="8915400" cy="933450"/>
          </a:xfrm>
          <a:prstGeom prst="roundRect">
            <a:avLst>
              <a:gd name="adj" fmla="val 18367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Box frame"/>
          <p:cNvSpPr/>
          <p:nvPr/>
        </p:nvSpPr>
        <p:spPr>
          <a:xfrm>
            <a:off x="704850" y="9544050"/>
            <a:ext cx="8877300" cy="895350"/>
          </a:xfrm>
          <a:prstGeom prst="roundRect">
            <a:avLst>
              <a:gd name="adj" fmla="val 19148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Graphic" descr="logo-639136c33fcc0c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511" y="9782237"/>
            <a:ext cx="380238" cy="418977"/>
          </a:xfrm>
          <a:prstGeom prst="rect">
            <a:avLst/>
          </a:prstGeom>
        </p:spPr>
      </p:pic>
      <p:sp>
        <p:nvSpPr>
          <p:cNvPr id="19" name="Text"/>
          <p:cNvSpPr txBox="1"/>
          <p:nvPr/>
        </p:nvSpPr>
        <p:spPr>
          <a:xfrm>
            <a:off x="1695450" y="9863614"/>
            <a:ext cx="6888038" cy="384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0" sz="2400" i="0" spc="-36">
                <a:solidFill>
                  <a:srgbClr val="362CFF"/>
                </a:solidFill>
                <a:latin typeface="Archivo Black"/>
              </a:rPr>
              <a:t>CLEANUP AND FINAL WALKTHROUGH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5b6b764610415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57260"/>
            <a:ext cx="2241994" cy="53338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8581549" y="97718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06 / 07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914400" y="1901114"/>
            <a:ext cx="231882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CLIENT REVIEW</a:t>
            </a:r>
          </a:p>
        </p:txBody>
      </p:sp>
      <p:sp>
        <p:nvSpPr>
          <p:cNvPr id="7" name="Box"/>
          <p:cNvSpPr/>
          <p:nvPr/>
        </p:nvSpPr>
        <p:spPr>
          <a:xfrm>
            <a:off x="914400" y="2438400"/>
            <a:ext cx="8458200" cy="9563100"/>
          </a:xfrm>
          <a:prstGeom prst="roundRect">
            <a:avLst>
              <a:gd name="adj" fmla="val 2477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Box frame"/>
          <p:cNvSpPr/>
          <p:nvPr/>
        </p:nvSpPr>
        <p:spPr>
          <a:xfrm>
            <a:off x="933450" y="2457450"/>
            <a:ext cx="8420100" cy="9525000"/>
          </a:xfrm>
          <a:prstGeom prst="roundRect">
            <a:avLst>
              <a:gd name="adj" fmla="val 2488"/>
            </a:avLst>
          </a:prstGeom>
          <a:noFill/>
          <a:ln w="38100">
            <a:solidFill>
              <a:srgbClr val="362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Graphic" descr="logo-51806ce5b1ac09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650" y="3248098"/>
            <a:ext cx="439007" cy="438004"/>
          </a:xfrm>
          <a:prstGeom prst="rect">
            <a:avLst/>
          </a:prstGeom>
        </p:spPr>
      </p:pic>
      <p:pic>
        <p:nvPicPr>
          <p:cNvPr id="10" name="Graphic" descr="logo-51806ce5b1ac09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907" y="3248098"/>
            <a:ext cx="439007" cy="438004"/>
          </a:xfrm>
          <a:prstGeom prst="rect">
            <a:avLst/>
          </a:prstGeom>
        </p:spPr>
      </p:pic>
      <p:pic>
        <p:nvPicPr>
          <p:cNvPr id="11" name="Graphic" descr="logo-51806ce5b1ac09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260" y="3248098"/>
            <a:ext cx="439007" cy="438004"/>
          </a:xfrm>
          <a:prstGeom prst="rect">
            <a:avLst/>
          </a:prstGeom>
        </p:spPr>
      </p:pic>
      <p:pic>
        <p:nvPicPr>
          <p:cNvPr id="12" name="Graphic" descr="logo-51806ce5b1ac09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517" y="3248098"/>
            <a:ext cx="439007" cy="438004"/>
          </a:xfrm>
          <a:prstGeom prst="rect">
            <a:avLst/>
          </a:prstGeom>
        </p:spPr>
      </p:pic>
      <p:pic>
        <p:nvPicPr>
          <p:cNvPr id="13" name="Graphic" descr="logo-51806ce5b1ac09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870" y="3248098"/>
            <a:ext cx="439007" cy="438004"/>
          </a:xfrm>
          <a:prstGeom prst="rect">
            <a:avLst/>
          </a:prstGeom>
        </p:spPr>
      </p:pic>
      <p:sp>
        <p:nvSpPr>
          <p:cNvPr id="14" name="Box"/>
          <p:cNvSpPr/>
          <p:nvPr/>
        </p:nvSpPr>
        <p:spPr>
          <a:xfrm>
            <a:off x="7753350" y="2895600"/>
            <a:ext cx="1143000" cy="1143000"/>
          </a:xfrm>
          <a:prstGeom prst="ellipse">
            <a:avLst/>
          </a:prstGeom>
          <a:solidFill>
            <a:srgbClr val="17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hoto" descr="photo-e1f1960d21d029ea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753350" y="2895600"/>
            <a:ext cx="1143000" cy="1143000"/>
          </a:xfrm>
          <a:prstGeom prst="ellipse">
            <a:avLst/>
          </a:prstGeom>
        </p:spPr>
      </p:pic>
      <p:sp>
        <p:nvSpPr>
          <p:cNvPr id="16" name="Headline"/>
          <p:cNvSpPr txBox="1"/>
          <p:nvPr/>
        </p:nvSpPr>
        <p:spPr>
          <a:xfrm>
            <a:off x="1390650" y="4399788"/>
            <a:ext cx="4520916" cy="7680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</a:pPr>
            <a:r>
              <a:rPr b="0" sz="4800" i="0" spc="-72">
                <a:solidFill>
                  <a:srgbClr val="362CFF"/>
                </a:solidFill>
                <a:latin typeface="Archivo Black"/>
              </a:rPr>
              <a:t>BETH REDIX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390650" y="5152396"/>
            <a:ext cx="7805928" cy="41647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123"/>
              </a:lnSpc>
              <a:spcBef>
                <a:spcPts val="0"/>
              </a:spcBef>
              <a:spcAft>
                <a:spcPts val="0"/>
              </a:spcAft>
            </a:pPr>
            <a:r>
              <a:rPr b="0" sz="4200" i="0" spc="-21">
                <a:solidFill>
                  <a:srgbClr val="362CFF"/>
                </a:solidFill>
                <a:latin typeface="Archivo Medium"/>
              </a:rPr>
              <a:t>“After heavily vetting about 10 contractors to do interior painting for the entirety of our house, I could not be more pleased to have chosen Cosmic...”</a:t>
            </a:r>
          </a:p>
        </p:txBody>
      </p:sp>
      <p:pic>
        <p:nvPicPr>
          <p:cNvPr id="18" name="Graphic" descr="logo-de2166fe1be82cc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181" y="9639326"/>
            <a:ext cx="2112169" cy="19049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Graphic" descr="logo-2b8dc7ca46ed35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9610"/>
            <a:ext cx="2241994" cy="533380"/>
          </a:xfrm>
          <a:prstGeom prst="rect">
            <a:avLst/>
          </a:prstGeom>
        </p:spPr>
      </p:pic>
      <p:sp>
        <p:nvSpPr>
          <p:cNvPr id="4" name="Text"/>
          <p:cNvSpPr txBox="1"/>
          <p:nvPr/>
        </p:nvSpPr>
        <p:spPr>
          <a:xfrm>
            <a:off x="8810149" y="729539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07 / 07</a:t>
            </a:r>
          </a:p>
        </p:txBody>
      </p:sp>
      <p:sp>
        <p:nvSpPr>
          <p:cNvPr id="5" name="Headline"/>
          <p:cNvSpPr txBox="1"/>
          <p:nvPr/>
        </p:nvSpPr>
        <p:spPr>
          <a:xfrm>
            <a:off x="685800" y="2251329"/>
            <a:ext cx="8283412" cy="230428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559"/>
              </a:lnSpc>
              <a:spcBef>
                <a:spcPts val="0"/>
              </a:spcBef>
              <a:spcAft>
                <a:spcPts val="0"/>
              </a:spcAft>
            </a:pPr>
            <a:r>
              <a:rPr b="0" sz="8400" i="0" spc="-126">
                <a:solidFill>
                  <a:srgbClr val="ECE9E0"/>
                </a:solidFill>
                <a:latin typeface="Archivo Black"/>
              </a:rPr>
              <a:t>YOUR PLACE</a:t>
            </a:r>
          </a:p>
          <a:p>
            <a:pPr algn="l">
              <a:lnSpc>
                <a:spcPts val="7559"/>
              </a:lnSpc>
              <a:spcBef>
                <a:spcPts val="0"/>
              </a:spcBef>
              <a:spcAft>
                <a:spcPts val="0"/>
              </a:spcAft>
            </a:pPr>
            <a:r>
              <a:rPr b="0" sz="8400" i="0" spc="-126">
                <a:solidFill>
                  <a:srgbClr val="ECE9E0"/>
                </a:solidFill>
                <a:latin typeface="Archivo Black"/>
              </a:rPr>
              <a:t>NEXT?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685800" y="4472464"/>
            <a:ext cx="4776277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59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 spc="-15">
                <a:solidFill>
                  <a:srgbClr val="ECE9E0"/>
                </a:solidFill>
                <a:latin typeface="Archivo Medium"/>
              </a:rPr>
              <a:t>A few quick details are enough to get started.</a:t>
            </a:r>
          </a:p>
        </p:txBody>
      </p:sp>
      <p:sp>
        <p:nvSpPr>
          <p:cNvPr id="7" name="Box"/>
          <p:cNvSpPr/>
          <p:nvPr/>
        </p:nvSpPr>
        <p:spPr>
          <a:xfrm>
            <a:off x="685800" y="5859685"/>
            <a:ext cx="3526060" cy="704850"/>
          </a:xfrm>
          <a:prstGeom prst="roundRect">
            <a:avLst>
              <a:gd name="adj" fmla="val 50000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905528" y="6078760"/>
            <a:ext cx="3086603" cy="4000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i="0">
                <a:solidFill>
                  <a:srgbClr val="362CFF"/>
                </a:solidFill>
                <a:latin typeface="Archivo"/>
              </a:rPr>
              <a:t>Get a clear estimate</a:t>
            </a:r>
          </a:p>
        </p:txBody>
      </p:sp>
      <p:sp>
        <p:nvSpPr>
          <p:cNvPr id="9" name="Box frame"/>
          <p:cNvSpPr/>
          <p:nvPr/>
        </p:nvSpPr>
        <p:spPr>
          <a:xfrm>
            <a:off x="4492847" y="6069235"/>
            <a:ext cx="1222343" cy="285750"/>
          </a:xfrm>
          <a:prstGeom prst="roundRect">
            <a:avLst>
              <a:gd name="adj" fmla="val 33333"/>
            </a:avLst>
          </a:prstGeom>
          <a:noFill/>
          <a:ln w="28575">
            <a:solidFill>
              <a:srgbClr val="EC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4640485" y="6108440"/>
            <a:ext cx="1114516" cy="273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6"/>
              </a:lnSpc>
              <a:spcBef>
                <a:spcPts val="0"/>
              </a:spcBef>
              <a:spcAft>
                <a:spcPts val="0"/>
              </a:spcAft>
            </a:pPr>
            <a:r>
              <a:rPr b="1" sz="1260" i="1" spc="50">
                <a:solidFill>
                  <a:srgbClr val="ECE9E0"/>
                </a:solidFill>
                <a:latin typeface="Archivo"/>
              </a:rPr>
              <a:t>[TBC: URL]</a:t>
            </a:r>
          </a:p>
        </p:txBody>
      </p:sp>
      <p:pic>
        <p:nvPicPr>
          <p:cNvPr id="11" name="Graphic" descr="logo-f9fa3eedcc6a17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1986" y="9867916"/>
            <a:ext cx="5139214" cy="23812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