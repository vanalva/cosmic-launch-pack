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8096250" cy="2095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print/01-hanger-estimate-back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print/01-hanger-estimate-front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print/02-hanger-notice-back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print/02-hanger-notice-front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8096250" cy="20955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619375" y="76200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 frame"/>
          <p:cNvSpPr/>
          <p:nvPr/>
        </p:nvSpPr>
        <p:spPr>
          <a:xfrm>
            <a:off x="2628900" y="771525"/>
            <a:ext cx="2838450" cy="2838450"/>
          </a:xfrm>
          <a:prstGeom prst="ellipse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ule top"/>
          <p:cNvSpPr/>
          <p:nvPr/>
        </p:nvSpPr>
        <p:spPr>
          <a:xfrm>
            <a:off x="5476875" y="2181225"/>
            <a:ext cx="2619375" cy="1905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x"/>
          <p:cNvSpPr/>
          <p:nvPr/>
        </p:nvSpPr>
        <p:spPr>
          <a:xfrm>
            <a:off x="342900" y="342900"/>
            <a:ext cx="7410450" cy="20269200"/>
          </a:xfrm>
          <a:prstGeom prst="roundRect">
            <a:avLst>
              <a:gd name="adj" fmla="val 385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819150" y="4225214"/>
            <a:ext cx="190074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WHAT WE DO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819150" y="4603394"/>
            <a:ext cx="6716268" cy="15060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41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20">
                <a:solidFill>
                  <a:srgbClr val="362CFF"/>
                </a:solidFill>
                <a:latin typeface="Archivo Medium"/>
              </a:rPr>
              <a:t>Interiors and exteriors, indoors and out.</a:t>
            </a:r>
          </a:p>
        </p:txBody>
      </p:sp>
      <p:sp>
        <p:nvSpPr>
          <p:cNvPr id="9" name="Box"/>
          <p:cNvSpPr/>
          <p:nvPr/>
        </p:nvSpPr>
        <p:spPr>
          <a:xfrm>
            <a:off x="819150" y="6303169"/>
            <a:ext cx="6457950" cy="1466850"/>
          </a:xfrm>
          <a:prstGeom prst="roundRect">
            <a:avLst>
              <a:gd name="adj" fmla="val 1168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ox frame"/>
          <p:cNvSpPr/>
          <p:nvPr/>
        </p:nvSpPr>
        <p:spPr>
          <a:xfrm>
            <a:off x="838200" y="6322219"/>
            <a:ext cx="6419850" cy="142875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Graphic" descr="logo-e3048a3c1598e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40" y="6607969"/>
            <a:ext cx="583476" cy="85696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2209800" y="6770732"/>
            <a:ext cx="1923791" cy="7152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23"/>
              </a:lnSpc>
              <a:spcBef>
                <a:spcPts val="0"/>
              </a:spcBef>
              <a:spcAft>
                <a:spcPts val="0"/>
              </a:spcAft>
            </a:pPr>
            <a:r>
              <a:rPr b="1" sz="3300" i="0">
                <a:solidFill>
                  <a:srgbClr val="362CFF"/>
                </a:solidFill>
                <a:latin typeface="Archivo"/>
              </a:rPr>
              <a:t>Painting</a:t>
            </a:r>
          </a:p>
        </p:txBody>
      </p:sp>
      <p:sp>
        <p:nvSpPr>
          <p:cNvPr id="13" name="Box"/>
          <p:cNvSpPr/>
          <p:nvPr/>
        </p:nvSpPr>
        <p:spPr>
          <a:xfrm>
            <a:off x="819150" y="7941469"/>
            <a:ext cx="6457950" cy="1466850"/>
          </a:xfrm>
          <a:prstGeom prst="roundRect">
            <a:avLst>
              <a:gd name="adj" fmla="val 1168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ox frame"/>
          <p:cNvSpPr/>
          <p:nvPr/>
        </p:nvSpPr>
        <p:spPr>
          <a:xfrm>
            <a:off x="838200" y="7960519"/>
            <a:ext cx="6419850" cy="142875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Graphic" descr="logo-654982c49911d2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43" y="8246269"/>
            <a:ext cx="857164" cy="818864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2209800" y="8409032"/>
            <a:ext cx="2974269" cy="7152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23"/>
              </a:lnSpc>
              <a:spcBef>
                <a:spcPts val="0"/>
              </a:spcBef>
              <a:spcAft>
                <a:spcPts val="0"/>
              </a:spcAft>
            </a:pPr>
            <a:r>
              <a:rPr b="1" sz="3300" i="0">
                <a:solidFill>
                  <a:srgbClr val="362CFF"/>
                </a:solidFill>
                <a:latin typeface="Archivo"/>
              </a:rPr>
              <a:t>Landscaping</a:t>
            </a:r>
          </a:p>
        </p:txBody>
      </p:sp>
      <p:sp>
        <p:nvSpPr>
          <p:cNvPr id="17" name="Box"/>
          <p:cNvSpPr/>
          <p:nvPr/>
        </p:nvSpPr>
        <p:spPr>
          <a:xfrm>
            <a:off x="819150" y="9579769"/>
            <a:ext cx="6457950" cy="1466850"/>
          </a:xfrm>
          <a:prstGeom prst="roundRect">
            <a:avLst>
              <a:gd name="adj" fmla="val 1168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ox frame"/>
          <p:cNvSpPr/>
          <p:nvPr/>
        </p:nvSpPr>
        <p:spPr>
          <a:xfrm>
            <a:off x="838200" y="9598819"/>
            <a:ext cx="6419850" cy="142875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Graphic" descr="logo-75de4e456a7800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532" y="9884569"/>
            <a:ext cx="328280" cy="856964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2209800" y="10047332"/>
            <a:ext cx="3212805" cy="7152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23"/>
              </a:lnSpc>
              <a:spcBef>
                <a:spcPts val="0"/>
              </a:spcBef>
              <a:spcAft>
                <a:spcPts val="0"/>
              </a:spcAft>
            </a:pPr>
            <a:r>
              <a:rPr b="1" sz="3300" i="0">
                <a:solidFill>
                  <a:srgbClr val="362CFF"/>
                </a:solidFill>
                <a:latin typeface="Archivo"/>
              </a:rPr>
              <a:t>Property work</a:t>
            </a:r>
          </a:p>
        </p:txBody>
      </p:sp>
      <p:sp>
        <p:nvSpPr>
          <p:cNvPr id="21" name="Box"/>
          <p:cNvSpPr/>
          <p:nvPr/>
        </p:nvSpPr>
        <p:spPr>
          <a:xfrm>
            <a:off x="819150" y="11218069"/>
            <a:ext cx="6457950" cy="1466850"/>
          </a:xfrm>
          <a:prstGeom prst="roundRect">
            <a:avLst>
              <a:gd name="adj" fmla="val 1168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Box frame"/>
          <p:cNvSpPr/>
          <p:nvPr/>
        </p:nvSpPr>
        <p:spPr>
          <a:xfrm>
            <a:off x="838200" y="11237119"/>
            <a:ext cx="6419850" cy="142875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Graphic" descr="logo-0e034a31b127a1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591" y="11522869"/>
            <a:ext cx="825974" cy="85706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2209800" y="11685632"/>
            <a:ext cx="5181798" cy="7152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23"/>
              </a:lnSpc>
              <a:spcBef>
                <a:spcPts val="0"/>
              </a:spcBef>
              <a:spcAft>
                <a:spcPts val="0"/>
              </a:spcAft>
            </a:pPr>
            <a:r>
              <a:rPr b="1" sz="3300" i="0">
                <a:solidFill>
                  <a:srgbClr val="362CFF"/>
                </a:solidFill>
                <a:latin typeface="Archivo"/>
              </a:rPr>
              <a:t>Commercial properties</a:t>
            </a:r>
          </a:p>
        </p:txBody>
      </p:sp>
      <p:sp>
        <p:nvSpPr>
          <p:cNvPr id="25" name="Box"/>
          <p:cNvSpPr/>
          <p:nvPr/>
        </p:nvSpPr>
        <p:spPr>
          <a:xfrm>
            <a:off x="819150" y="12856369"/>
            <a:ext cx="6457950" cy="1466850"/>
          </a:xfrm>
          <a:prstGeom prst="roundRect">
            <a:avLst>
              <a:gd name="adj" fmla="val 1168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Box frame"/>
          <p:cNvSpPr/>
          <p:nvPr/>
        </p:nvSpPr>
        <p:spPr>
          <a:xfrm>
            <a:off x="838200" y="12875419"/>
            <a:ext cx="6419850" cy="142875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Graphic" descr="logo-75f0154e00b39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58" y="13161169"/>
            <a:ext cx="857135" cy="848487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2209800" y="13323932"/>
            <a:ext cx="3635685" cy="7152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23"/>
              </a:lnSpc>
              <a:spcBef>
                <a:spcPts val="0"/>
              </a:spcBef>
              <a:spcAft>
                <a:spcPts val="0"/>
              </a:spcAft>
            </a:pPr>
            <a:r>
              <a:rPr b="1" sz="3300" i="0">
                <a:solidFill>
                  <a:srgbClr val="362CFF"/>
                </a:solidFill>
                <a:latin typeface="Archivo"/>
              </a:rPr>
              <a:t>Outdoor spaces</a:t>
            </a:r>
          </a:p>
        </p:txBody>
      </p:sp>
      <p:sp>
        <p:nvSpPr>
          <p:cNvPr id="29" name="Box"/>
          <p:cNvSpPr/>
          <p:nvPr/>
        </p:nvSpPr>
        <p:spPr>
          <a:xfrm>
            <a:off x="819150" y="14742319"/>
            <a:ext cx="2051018" cy="1520857"/>
          </a:xfrm>
          <a:prstGeom prst="roundRect">
            <a:avLst>
              <a:gd name="adj" fmla="val 1377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Box frame"/>
          <p:cNvSpPr/>
          <p:nvPr/>
        </p:nvSpPr>
        <p:spPr>
          <a:xfrm>
            <a:off x="838200" y="14761369"/>
            <a:ext cx="2012918" cy="1482757"/>
          </a:xfrm>
          <a:prstGeom prst="roundRect">
            <a:avLst>
              <a:gd name="adj" fmla="val 14132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1009650" y="15014353"/>
            <a:ext cx="1519260" cy="6240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b="0" sz="3900" i="0" spc="-58">
                <a:solidFill>
                  <a:srgbClr val="362CFF"/>
                </a:solidFill>
                <a:latin typeface="Archivo Black"/>
              </a:rPr>
              <a:t>500+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009650" y="15500890"/>
            <a:ext cx="1736819" cy="604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b="1" sz="1725" i="0">
                <a:solidFill>
                  <a:srgbClr val="362CFF"/>
                </a:solidFill>
                <a:latin typeface="Archivo"/>
              </a:rPr>
              <a:t>Spaces improved</a:t>
            </a:r>
          </a:p>
        </p:txBody>
      </p:sp>
      <p:sp>
        <p:nvSpPr>
          <p:cNvPr id="33" name="Box"/>
          <p:cNvSpPr/>
          <p:nvPr/>
        </p:nvSpPr>
        <p:spPr>
          <a:xfrm>
            <a:off x="3022568" y="14742319"/>
            <a:ext cx="2051114" cy="1520857"/>
          </a:xfrm>
          <a:prstGeom prst="roundRect">
            <a:avLst>
              <a:gd name="adj" fmla="val 1377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Box frame"/>
          <p:cNvSpPr/>
          <p:nvPr/>
        </p:nvSpPr>
        <p:spPr>
          <a:xfrm>
            <a:off x="3041618" y="14761369"/>
            <a:ext cx="2013014" cy="1482757"/>
          </a:xfrm>
          <a:prstGeom prst="roundRect">
            <a:avLst>
              <a:gd name="adj" fmla="val 14132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3213068" y="15014353"/>
            <a:ext cx="1346012" cy="6240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b="0" sz="3900" i="0" spc="-58">
                <a:solidFill>
                  <a:srgbClr val="362CFF"/>
                </a:solidFill>
                <a:latin typeface="Archivo Black"/>
              </a:rPr>
              <a:t>98%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3213068" y="15500890"/>
            <a:ext cx="1736918" cy="604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b="1" sz="1725" i="0">
                <a:solidFill>
                  <a:srgbClr val="362CFF"/>
                </a:solidFill>
                <a:latin typeface="Archivo"/>
              </a:rPr>
              <a:t>On-time completion</a:t>
            </a:r>
          </a:p>
        </p:txBody>
      </p:sp>
      <p:sp>
        <p:nvSpPr>
          <p:cNvPr id="37" name="Box"/>
          <p:cNvSpPr/>
          <p:nvPr/>
        </p:nvSpPr>
        <p:spPr>
          <a:xfrm>
            <a:off x="5226082" y="14742319"/>
            <a:ext cx="2051018" cy="1520857"/>
          </a:xfrm>
          <a:prstGeom prst="roundRect">
            <a:avLst>
              <a:gd name="adj" fmla="val 1377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Box frame"/>
          <p:cNvSpPr/>
          <p:nvPr/>
        </p:nvSpPr>
        <p:spPr>
          <a:xfrm>
            <a:off x="5245132" y="14761369"/>
            <a:ext cx="2012918" cy="1482757"/>
          </a:xfrm>
          <a:prstGeom prst="roundRect">
            <a:avLst>
              <a:gd name="adj" fmla="val 14132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5416582" y="15014353"/>
            <a:ext cx="976152" cy="6240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b="0" sz="3900" i="0" spc="-58">
                <a:solidFill>
                  <a:srgbClr val="362CFF"/>
                </a:solidFill>
                <a:latin typeface="Archivo Black"/>
              </a:rPr>
              <a:t>5.0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5416582" y="15500890"/>
            <a:ext cx="1778599" cy="3527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b="1" sz="1725" i="0">
                <a:solidFill>
                  <a:srgbClr val="362CFF"/>
                </a:solidFill>
                <a:latin typeface="Archivo"/>
              </a:rPr>
              <a:t>Average rating</a:t>
            </a:r>
          </a:p>
        </p:txBody>
      </p:sp>
      <p:sp>
        <p:nvSpPr>
          <p:cNvPr id="41" name="Box"/>
          <p:cNvSpPr/>
          <p:nvPr/>
        </p:nvSpPr>
        <p:spPr>
          <a:xfrm>
            <a:off x="819150" y="17125950"/>
            <a:ext cx="6457950" cy="2914650"/>
          </a:xfrm>
          <a:prstGeom prst="roundRect">
            <a:avLst>
              <a:gd name="adj" fmla="val 7189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Box frame"/>
          <p:cNvSpPr/>
          <p:nvPr/>
        </p:nvSpPr>
        <p:spPr>
          <a:xfrm>
            <a:off x="838200" y="17145000"/>
            <a:ext cx="6419850" cy="2876550"/>
          </a:xfrm>
          <a:prstGeom prst="roundRect">
            <a:avLst>
              <a:gd name="adj" fmla="val 7284"/>
            </a:avLst>
          </a:prstGeom>
          <a:noFill/>
          <a:ln w="38100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Headline"/>
          <p:cNvSpPr txBox="1"/>
          <p:nvPr/>
        </p:nvSpPr>
        <p:spPr>
          <a:xfrm>
            <a:off x="1181100" y="17549717"/>
            <a:ext cx="3427476" cy="946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ECE9E0"/>
                </a:solidFill>
                <a:latin typeface="Archivo Black"/>
              </a:rPr>
              <a:t>GET A CLEAR ESTIMATE.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181100" y="18469337"/>
            <a:ext cx="2097786" cy="4225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ECE9E0"/>
                </a:solidFill>
                <a:latin typeface="Archivo"/>
              </a:rPr>
              <a:t>(512) 348-6433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181100" y="18907487"/>
            <a:ext cx="2097466" cy="4225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ECE9E0"/>
                </a:solidFill>
                <a:latin typeface="Archivo"/>
              </a:rPr>
              <a:t>(512) 348-6232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1181100" y="19345637"/>
            <a:ext cx="2683032" cy="4225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47" name="Box"/>
          <p:cNvSpPr/>
          <p:nvPr/>
        </p:nvSpPr>
        <p:spPr>
          <a:xfrm>
            <a:off x="4724400" y="17487900"/>
            <a:ext cx="2190750" cy="2190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Box frame"/>
          <p:cNvSpPr/>
          <p:nvPr/>
        </p:nvSpPr>
        <p:spPr>
          <a:xfrm>
            <a:off x="4743450" y="17506950"/>
            <a:ext cx="2152650" cy="2152650"/>
          </a:xfrm>
          <a:prstGeom prst="rect">
            <a:avLst/>
          </a:prstGeom>
          <a:noFill/>
          <a:ln w="38100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Box frame"/>
          <p:cNvSpPr/>
          <p:nvPr/>
        </p:nvSpPr>
        <p:spPr>
          <a:xfrm>
            <a:off x="5394103" y="18473738"/>
            <a:ext cx="851154" cy="219075"/>
          </a:xfrm>
          <a:prstGeom prst="roundRect">
            <a:avLst>
              <a:gd name="adj" fmla="val 43478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5470288" y="18517362"/>
            <a:ext cx="698784" cy="1820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b="1" sz="839" i="0" spc="33">
                <a:solidFill>
                  <a:srgbClr val="171726"/>
                </a:solidFill>
                <a:latin typeface="Archivo"/>
              </a:rPr>
              <a:t>[TBC: QR]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8096250" cy="20955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619375" y="76200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 frame"/>
          <p:cNvSpPr/>
          <p:nvPr/>
        </p:nvSpPr>
        <p:spPr>
          <a:xfrm>
            <a:off x="2628900" y="771525"/>
            <a:ext cx="2838450" cy="2838450"/>
          </a:xfrm>
          <a:prstGeom prst="ellipse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ule top"/>
          <p:cNvSpPr/>
          <p:nvPr/>
        </p:nvSpPr>
        <p:spPr>
          <a:xfrm>
            <a:off x="5476875" y="2181225"/>
            <a:ext cx="2619375" cy="1905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x"/>
          <p:cNvSpPr/>
          <p:nvPr/>
        </p:nvSpPr>
        <p:spPr>
          <a:xfrm>
            <a:off x="342900" y="342900"/>
            <a:ext cx="7410450" cy="20269200"/>
          </a:xfrm>
          <a:prstGeom prst="roundRect">
            <a:avLst>
              <a:gd name="adj" fmla="val 385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Graphic" descr="logo-0f1588ab573ed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266" y="4248154"/>
            <a:ext cx="3843528" cy="914391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88976" y="5882335"/>
            <a:ext cx="6718203" cy="2355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728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ctr">
              <a:lnSpc>
                <a:spcPts val="7728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pic>
        <p:nvPicPr>
          <p:cNvPr id="9" name="Graphic" descr="logo-a19c37759b61ff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11" y="8649306"/>
            <a:ext cx="6247829" cy="3809931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511254" y="13196430"/>
            <a:ext cx="5073838" cy="16175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07"/>
              </a:lnSpc>
              <a:spcBef>
                <a:spcPts val="0"/>
              </a:spcBef>
              <a:spcAft>
                <a:spcPts val="0"/>
              </a:spcAft>
            </a:pPr>
            <a:r>
              <a:rPr b="0" sz="4350" i="0" spc="-21">
                <a:solidFill>
                  <a:srgbClr val="362CFF"/>
                </a:solidFill>
                <a:latin typeface="Archivo Medium"/>
              </a:rPr>
              <a:t>Property services.</a:t>
            </a:r>
          </a:p>
          <a:p>
            <a:pPr algn="ctr">
              <a:lnSpc>
                <a:spcPts val="5307"/>
              </a:lnSpc>
              <a:spcBef>
                <a:spcPts val="0"/>
              </a:spcBef>
              <a:spcAft>
                <a:spcPts val="0"/>
              </a:spcAft>
            </a:pPr>
            <a:r>
              <a:rPr b="0" sz="4350" i="0" spc="-21">
                <a:solidFill>
                  <a:srgbClr val="362CFF"/>
                </a:solidFill>
                <a:latin typeface="Archivo Medium"/>
              </a:rPr>
              <a:t>Done properly.</a:t>
            </a:r>
          </a:p>
        </p:txBody>
      </p:sp>
      <p:sp>
        <p:nvSpPr>
          <p:cNvPr id="11" name="Box"/>
          <p:cNvSpPr/>
          <p:nvPr/>
        </p:nvSpPr>
        <p:spPr>
          <a:xfrm>
            <a:off x="1722882" y="19088100"/>
            <a:ext cx="4650581" cy="9525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2003155" y="19383375"/>
            <a:ext cx="409003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8096250" cy="20955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619375" y="76200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 frame"/>
          <p:cNvSpPr/>
          <p:nvPr/>
        </p:nvSpPr>
        <p:spPr>
          <a:xfrm>
            <a:off x="2628900" y="771525"/>
            <a:ext cx="2838450" cy="2838450"/>
          </a:xfrm>
          <a:prstGeom prst="ellipse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ule top"/>
          <p:cNvSpPr/>
          <p:nvPr/>
        </p:nvSpPr>
        <p:spPr>
          <a:xfrm>
            <a:off x="5476875" y="2181225"/>
            <a:ext cx="2619375" cy="1905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x"/>
          <p:cNvSpPr/>
          <p:nvPr/>
        </p:nvSpPr>
        <p:spPr>
          <a:xfrm>
            <a:off x="342900" y="342900"/>
            <a:ext cx="7410450" cy="20269200"/>
          </a:xfrm>
          <a:prstGeom prst="roundRect">
            <a:avLst>
              <a:gd name="adj" fmla="val 385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Headline"/>
          <p:cNvSpPr txBox="1"/>
          <p:nvPr/>
        </p:nvSpPr>
        <p:spPr>
          <a:xfrm>
            <a:off x="819150" y="4290060"/>
            <a:ext cx="671626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b="0" sz="6000" i="0" spc="-89">
                <a:solidFill>
                  <a:srgbClr val="171726"/>
                </a:solidFill>
                <a:latin typeface="Archivo Black"/>
              </a:rPr>
              <a:t>SORRY FOR THE TRUCKS.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819150" y="5810783"/>
            <a:ext cx="5908076" cy="715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16">
                <a:solidFill>
                  <a:srgbClr val="362CFF"/>
                </a:solidFill>
                <a:latin typeface="Archivo Medium"/>
              </a:rPr>
              <a:t>We'll keep it clean and quiet.</a:t>
            </a:r>
          </a:p>
        </p:txBody>
      </p:sp>
      <p:sp>
        <p:nvSpPr>
          <p:cNvPr id="9" name="Box"/>
          <p:cNvSpPr/>
          <p:nvPr/>
        </p:nvSpPr>
        <p:spPr>
          <a:xfrm>
            <a:off x="819150" y="6721507"/>
            <a:ext cx="6457950" cy="5715000"/>
          </a:xfrm>
          <a:prstGeom prst="roundRect">
            <a:avLst>
              <a:gd name="adj" fmla="val 3666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hoto" descr="photo-1e014d9e184b9e01.jpg"/>
          <p:cNvPicPr>
            <a:picLocks noChangeAspect="1"/>
          </p:cNvPicPr>
          <p:nvPr/>
        </p:nvPicPr>
        <p:blipFill>
          <a:blip r:embed="rId2"/>
          <a:srcRect l="14561" r="21842" b="0"/>
          <a:stretch>
            <a:fillRect/>
          </a:stretch>
        </p:blipFill>
        <p:spPr>
          <a:xfrm>
            <a:off x="819150" y="6721507"/>
            <a:ext cx="6457950" cy="5715000"/>
          </a:xfrm>
          <a:prstGeom prst="roundRect">
            <a:avLst>
              <a:gd name="adj" fmla="val 3666"/>
            </a:avLst>
          </a:prstGeom>
        </p:spPr>
      </p:pic>
      <p:sp>
        <p:nvSpPr>
          <p:cNvPr id="11" name="Text"/>
          <p:cNvSpPr txBox="1"/>
          <p:nvPr/>
        </p:nvSpPr>
        <p:spPr>
          <a:xfrm>
            <a:off x="819150" y="12815602"/>
            <a:ext cx="5815584" cy="586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>
                <a:solidFill>
                  <a:srgbClr val="171726"/>
                </a:solidFill>
                <a:latin typeface="Archivo ExtraBold"/>
              </a:rPr>
              <a:t>Thinking about your place?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19150" y="13339629"/>
            <a:ext cx="6541861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171726"/>
                </a:solidFill>
                <a:latin typeface="Archivo Medium"/>
              </a:rPr>
              <a:t>Ask for a clear estimate while we're here.</a:t>
            </a:r>
          </a:p>
        </p:txBody>
      </p:sp>
      <p:sp>
        <p:nvSpPr>
          <p:cNvPr id="13" name="Box"/>
          <p:cNvSpPr/>
          <p:nvPr/>
        </p:nvSpPr>
        <p:spPr>
          <a:xfrm>
            <a:off x="819150" y="14069759"/>
            <a:ext cx="6457950" cy="1828800"/>
          </a:xfrm>
          <a:prstGeom prst="roundRect">
            <a:avLst>
              <a:gd name="adj" fmla="val 1145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ox frame"/>
          <p:cNvSpPr/>
          <p:nvPr/>
        </p:nvSpPr>
        <p:spPr>
          <a:xfrm>
            <a:off x="838200" y="14088809"/>
            <a:ext cx="6419850" cy="1790700"/>
          </a:xfrm>
          <a:prstGeom prst="roundRect">
            <a:avLst>
              <a:gd name="adj" fmla="val 11702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162050" y="14351622"/>
            <a:ext cx="4035415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WORKING ON YOUR STREET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162050" y="14724545"/>
            <a:ext cx="1358387" cy="4876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4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362CFF"/>
                </a:solidFill>
                <a:latin typeface="Archivo"/>
              </a:rPr>
              <a:t>Address</a:t>
            </a:r>
          </a:p>
        </p:txBody>
      </p:sp>
      <p:sp>
        <p:nvSpPr>
          <p:cNvPr id="17" name="Box frame"/>
          <p:cNvSpPr/>
          <p:nvPr/>
        </p:nvSpPr>
        <p:spPr>
          <a:xfrm>
            <a:off x="2377059" y="14779371"/>
            <a:ext cx="2562416" cy="314325"/>
          </a:xfrm>
          <a:prstGeom prst="roundRect">
            <a:avLst>
              <a:gd name="adj" fmla="val 3030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2524696" y="14808136"/>
            <a:ext cx="2615397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 spc="63">
                <a:solidFill>
                  <a:srgbClr val="362CFF"/>
                </a:solidFill>
                <a:latin typeface="Archivo"/>
              </a:rPr>
              <a:t>[TBC: JOB ADDRESS]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162050" y="15210320"/>
            <a:ext cx="972632" cy="4876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4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362CFF"/>
                </a:solidFill>
                <a:latin typeface="Archivo"/>
              </a:rPr>
              <a:t>Dates</a:t>
            </a:r>
          </a:p>
        </p:txBody>
      </p:sp>
      <p:sp>
        <p:nvSpPr>
          <p:cNvPr id="20" name="Box frame"/>
          <p:cNvSpPr/>
          <p:nvPr/>
        </p:nvSpPr>
        <p:spPr>
          <a:xfrm>
            <a:off x="2032825" y="15265146"/>
            <a:ext cx="1730121" cy="314325"/>
          </a:xfrm>
          <a:prstGeom prst="roundRect">
            <a:avLst>
              <a:gd name="adj" fmla="val 3030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2180463" y="15293912"/>
            <a:ext cx="1683228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 spc="63">
                <a:solidFill>
                  <a:srgbClr val="362CFF"/>
                </a:solidFill>
                <a:latin typeface="Archivo"/>
              </a:rPr>
              <a:t>[TBC: DATES]</a:t>
            </a:r>
          </a:p>
        </p:txBody>
      </p:sp>
      <p:sp>
        <p:nvSpPr>
          <p:cNvPr id="22" name="Box"/>
          <p:cNvSpPr/>
          <p:nvPr/>
        </p:nvSpPr>
        <p:spPr>
          <a:xfrm>
            <a:off x="819150" y="19050000"/>
            <a:ext cx="3884390" cy="8191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017379" y="19305270"/>
            <a:ext cx="3487933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b="1" sz="255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932140" y="19027597"/>
            <a:ext cx="2097786" cy="4225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171726"/>
                </a:solidFill>
                <a:latin typeface="Archivo"/>
              </a:rPr>
              <a:t>(512) 348-6433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4932140" y="19389547"/>
            <a:ext cx="2097466" cy="4225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171726"/>
                </a:solidFill>
                <a:latin typeface="Archivo"/>
              </a:rPr>
              <a:t>(512) 348-6232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932140" y="19751497"/>
            <a:ext cx="2683032" cy="4225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8096250" cy="20955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619375" y="76200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 frame"/>
          <p:cNvSpPr/>
          <p:nvPr/>
        </p:nvSpPr>
        <p:spPr>
          <a:xfrm>
            <a:off x="2628900" y="771525"/>
            <a:ext cx="2838450" cy="2838450"/>
          </a:xfrm>
          <a:prstGeom prst="ellipse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ule top"/>
          <p:cNvSpPr/>
          <p:nvPr/>
        </p:nvSpPr>
        <p:spPr>
          <a:xfrm>
            <a:off x="5476875" y="2181225"/>
            <a:ext cx="2619375" cy="1905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x"/>
          <p:cNvSpPr/>
          <p:nvPr/>
        </p:nvSpPr>
        <p:spPr>
          <a:xfrm>
            <a:off x="342900" y="342900"/>
            <a:ext cx="7410450" cy="20269200"/>
          </a:xfrm>
          <a:prstGeom prst="roundRect">
            <a:avLst>
              <a:gd name="adj" fmla="val 385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Graphic" descr="logo-b9ca397629b33a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248154"/>
            <a:ext cx="3363087" cy="800092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819150" y="5501564"/>
            <a:ext cx="277371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NEIGHBOR NOTICE</a:t>
            </a:r>
          </a:p>
        </p:txBody>
      </p:sp>
      <p:sp>
        <p:nvSpPr>
          <p:cNvPr id="9" name="Headline"/>
          <p:cNvSpPr txBox="1"/>
          <p:nvPr/>
        </p:nvSpPr>
        <p:spPr>
          <a:xfrm>
            <a:off x="819150" y="6036183"/>
            <a:ext cx="6716268" cy="4677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171726"/>
                </a:solidFill>
                <a:latin typeface="Archivo Black"/>
              </a:rPr>
              <a:t>WE'RE WORKING ON YOUR STREET.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19150" y="10577360"/>
            <a:ext cx="4039895" cy="12829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09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17">
                <a:solidFill>
                  <a:srgbClr val="362CFF"/>
                </a:solidFill>
                <a:latin typeface="Archivo Medium"/>
              </a:rPr>
              <a:t>Property services.</a:t>
            </a:r>
          </a:p>
          <a:p>
            <a:pPr algn="l">
              <a:lnSpc>
                <a:spcPts val="4209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17">
                <a:solidFill>
                  <a:srgbClr val="362CFF"/>
                </a:solidFill>
                <a:latin typeface="Archivo Medium"/>
              </a:rPr>
              <a:t>Done properly.</a:t>
            </a:r>
          </a:p>
        </p:txBody>
      </p:sp>
      <p:pic>
        <p:nvPicPr>
          <p:cNvPr id="11" name="Graphic" descr="logo-f52d07bcd1830b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1963423"/>
            <a:ext cx="4476750" cy="3177780"/>
          </a:xfrm>
          <a:prstGeom prst="rect">
            <a:avLst/>
          </a:prstGeom>
        </p:spPr>
      </p:pic>
      <p:pic>
        <p:nvPicPr>
          <p:cNvPr id="12" name="Graphic" descr="logo-b78d8f4b206d7b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77" y="17322832"/>
            <a:ext cx="7410297" cy="3289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