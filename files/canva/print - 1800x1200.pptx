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7145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print/03-postcard-eddm-back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print/03-postcard-eddm-front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7145000" cy="1143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342900" y="342900"/>
            <a:ext cx="16459200" cy="10744200"/>
          </a:xfrm>
          <a:prstGeom prst="roundRect">
            <a:avLst>
              <a:gd name="adj" fmla="val 2659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ule left"/>
          <p:cNvSpPr/>
          <p:nvPr/>
        </p:nvSpPr>
        <p:spPr>
          <a:xfrm>
            <a:off x="8963025" y="914400"/>
            <a:ext cx="28575" cy="96012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Graphic" descr="logo-8a6c503314b5b9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066807"/>
            <a:ext cx="2802541" cy="666736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104900" y="2194560"/>
            <a:ext cx="7132320" cy="2331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</a:pPr>
            <a:r>
              <a:rPr b="0" sz="6000" i="0" spc="-89">
                <a:solidFill>
                  <a:srgbClr val="171726"/>
                </a:solidFill>
                <a:latin typeface="Archivo Black"/>
              </a:rPr>
              <a:t>SAME PLACES. DIFFERENT STANDARD.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04900" y="4437812"/>
            <a:ext cx="7132320" cy="10597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6"/>
              </a:lnSpc>
              <a:spcBef>
                <a:spcPts val="0"/>
              </a:spcBef>
              <a:spcAft>
                <a:spcPts val="0"/>
              </a:spcAft>
            </a:pPr>
            <a:r>
              <a:rPr b="0" sz="2850" i="0" spc="-14">
                <a:solidFill>
                  <a:srgbClr val="362CFF"/>
                </a:solidFill>
                <a:latin typeface="Archivo Medium"/>
              </a:rPr>
              <a:t>Clear updates, realistic timelines, quick responses. No surprises.</a:t>
            </a:r>
          </a:p>
        </p:txBody>
      </p:sp>
      <p:sp>
        <p:nvSpPr>
          <p:cNvPr id="8" name="Box"/>
          <p:cNvSpPr/>
          <p:nvPr/>
        </p:nvSpPr>
        <p:spPr>
          <a:xfrm>
            <a:off x="1104900" y="5769483"/>
            <a:ext cx="2158936" cy="1041940"/>
          </a:xfrm>
          <a:prstGeom prst="roundRect">
            <a:avLst>
              <a:gd name="adj" fmla="val 20111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Box frame"/>
          <p:cNvSpPr/>
          <p:nvPr/>
        </p:nvSpPr>
        <p:spPr>
          <a:xfrm>
            <a:off x="1123950" y="5788533"/>
            <a:ext cx="2120836" cy="1003840"/>
          </a:xfrm>
          <a:prstGeom prst="roundRect">
            <a:avLst>
              <a:gd name="adj" fmla="val 20874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1352550" y="5977890"/>
            <a:ext cx="1352733" cy="5520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b="0" sz="3450" i="0" spc="-51">
                <a:solidFill>
                  <a:srgbClr val="362CFF"/>
                </a:solidFill>
                <a:latin typeface="Archivo Black"/>
              </a:rPr>
              <a:t>500+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352550" y="6387751"/>
            <a:ext cx="1927631" cy="3413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>
                <a:solidFill>
                  <a:srgbClr val="362CFF"/>
                </a:solidFill>
                <a:latin typeface="Archivo"/>
              </a:rPr>
              <a:t>Spaces improved</a:t>
            </a:r>
          </a:p>
        </p:txBody>
      </p:sp>
      <p:sp>
        <p:nvSpPr>
          <p:cNvPr id="12" name="Box"/>
          <p:cNvSpPr/>
          <p:nvPr/>
        </p:nvSpPr>
        <p:spPr>
          <a:xfrm>
            <a:off x="3454337" y="5664708"/>
            <a:ext cx="2159032" cy="1251490"/>
          </a:xfrm>
          <a:prstGeom prst="roundRect">
            <a:avLst>
              <a:gd name="adj" fmla="val 16744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Box frame"/>
          <p:cNvSpPr/>
          <p:nvPr/>
        </p:nvSpPr>
        <p:spPr>
          <a:xfrm>
            <a:off x="3473387" y="5683758"/>
            <a:ext cx="2120932" cy="1213390"/>
          </a:xfrm>
          <a:prstGeom prst="roundRect">
            <a:avLst>
              <a:gd name="adj" fmla="val 17269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3701987" y="5873115"/>
            <a:ext cx="1199540" cy="5520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b="0" sz="3450" i="0" spc="-51">
                <a:solidFill>
                  <a:srgbClr val="362CFF"/>
                </a:solidFill>
                <a:latin typeface="Archivo Black"/>
              </a:rPr>
              <a:t>98%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3701987" y="6282976"/>
            <a:ext cx="1730281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>
                <a:solidFill>
                  <a:srgbClr val="362CFF"/>
                </a:solidFill>
                <a:latin typeface="Archivo"/>
              </a:rPr>
              <a:t>On-time completion</a:t>
            </a:r>
          </a:p>
        </p:txBody>
      </p:sp>
      <p:sp>
        <p:nvSpPr>
          <p:cNvPr id="16" name="Box"/>
          <p:cNvSpPr/>
          <p:nvPr/>
        </p:nvSpPr>
        <p:spPr>
          <a:xfrm>
            <a:off x="5803868" y="5769483"/>
            <a:ext cx="2159032" cy="1041940"/>
          </a:xfrm>
          <a:prstGeom prst="roundRect">
            <a:avLst>
              <a:gd name="adj" fmla="val 20111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Box frame"/>
          <p:cNvSpPr/>
          <p:nvPr/>
        </p:nvSpPr>
        <p:spPr>
          <a:xfrm>
            <a:off x="5822918" y="5788533"/>
            <a:ext cx="2120932" cy="1003840"/>
          </a:xfrm>
          <a:prstGeom prst="roundRect">
            <a:avLst>
              <a:gd name="adj" fmla="val 20874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6051518" y="5977890"/>
            <a:ext cx="872353" cy="5520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b="0" sz="3450" i="0" spc="-51">
                <a:solidFill>
                  <a:srgbClr val="362CFF"/>
                </a:solidFill>
                <a:latin typeface="Archivo Black"/>
              </a:rPr>
              <a:t>5.0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6051518" y="6387751"/>
            <a:ext cx="1630528" cy="3413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>
                <a:solidFill>
                  <a:srgbClr val="362CFF"/>
                </a:solidFill>
                <a:latin typeface="Archivo"/>
              </a:rPr>
              <a:t>Average rating</a:t>
            </a:r>
          </a:p>
        </p:txBody>
      </p:sp>
      <p:sp>
        <p:nvSpPr>
          <p:cNvPr id="20" name="Box"/>
          <p:cNvSpPr/>
          <p:nvPr/>
        </p:nvSpPr>
        <p:spPr>
          <a:xfrm>
            <a:off x="1104900" y="9467850"/>
            <a:ext cx="3449860" cy="742950"/>
          </a:xfrm>
          <a:prstGeom prst="roundRect">
            <a:avLst>
              <a:gd name="adj" fmla="val 50000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1286528" y="9705975"/>
            <a:ext cx="3086603" cy="4000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i="0">
                <a:solidFill>
                  <a:srgbClr val="ECE9E0"/>
                </a:solidFill>
                <a:latin typeface="Archivo"/>
              </a:rPr>
              <a:t>Get a clear estimate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4802410" y="9444914"/>
            <a:ext cx="194224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1" sz="1800" i="0">
                <a:solidFill>
                  <a:srgbClr val="171726"/>
                </a:solidFill>
                <a:latin typeface="Archivo"/>
              </a:rPr>
              <a:t>(512) 348-6433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4802410" y="9768764"/>
            <a:ext cx="194192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1" sz="1800" i="0">
                <a:solidFill>
                  <a:srgbClr val="171726"/>
                </a:solidFill>
                <a:latin typeface="Archivo"/>
              </a:rPr>
              <a:t>(512) 348-6232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4802410" y="10092614"/>
            <a:ext cx="2482474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1" sz="1800" i="0">
                <a:solidFill>
                  <a:srgbClr val="171726"/>
                </a:solidFill>
                <a:latin typeface="Archivo"/>
              </a:rPr>
              <a:t>choosecosmic.com</a:t>
            </a:r>
          </a:p>
        </p:txBody>
      </p:sp>
      <p:sp>
        <p:nvSpPr>
          <p:cNvPr id="25" name="Box"/>
          <p:cNvSpPr/>
          <p:nvPr/>
        </p:nvSpPr>
        <p:spPr>
          <a:xfrm>
            <a:off x="12801600" y="876300"/>
            <a:ext cx="3429000" cy="2190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Box frame"/>
          <p:cNvSpPr/>
          <p:nvPr/>
        </p:nvSpPr>
        <p:spPr>
          <a:xfrm>
            <a:off x="12811125" y="885825"/>
            <a:ext cx="3409950" cy="2171700"/>
          </a:xfrm>
          <a:prstGeom prst="rect">
            <a:avLst/>
          </a:prstGeom>
          <a:noFill/>
          <a:ln w="190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Box frame"/>
          <p:cNvSpPr/>
          <p:nvPr/>
        </p:nvSpPr>
        <p:spPr>
          <a:xfrm>
            <a:off x="13403294" y="1838325"/>
            <a:ext cx="2225612" cy="266700"/>
          </a:xfrm>
          <a:prstGeom prst="roundRect">
            <a:avLst>
              <a:gd name="adj" fmla="val 35714"/>
            </a:avLst>
          </a:prstGeom>
          <a:noFill/>
          <a:ln w="28575">
            <a:solidFill>
              <a:srgbClr val="1717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"/>
          <p:cNvSpPr txBox="1"/>
          <p:nvPr/>
        </p:nvSpPr>
        <p:spPr>
          <a:xfrm>
            <a:off x="13397012" y="1881035"/>
            <a:ext cx="2238177" cy="2502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b="1" sz="1155" i="0" spc="46">
                <a:solidFill>
                  <a:srgbClr val="171726"/>
                </a:solidFill>
                <a:latin typeface="Archivo"/>
              </a:rPr>
              <a:t>[TBC: POSTAGE INDICIA]</a:t>
            </a:r>
          </a:p>
        </p:txBody>
      </p:sp>
      <p:sp>
        <p:nvSpPr>
          <p:cNvPr id="29" name="Box"/>
          <p:cNvSpPr/>
          <p:nvPr/>
        </p:nvSpPr>
        <p:spPr>
          <a:xfrm>
            <a:off x="9182100" y="4438650"/>
            <a:ext cx="7048500" cy="38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Box frame"/>
          <p:cNvSpPr/>
          <p:nvPr/>
        </p:nvSpPr>
        <p:spPr>
          <a:xfrm>
            <a:off x="9191625" y="4448175"/>
            <a:ext cx="7029450" cy="3790950"/>
          </a:xfrm>
          <a:prstGeom prst="rect">
            <a:avLst/>
          </a:prstGeom>
          <a:noFill/>
          <a:ln w="190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Box frame"/>
          <p:cNvSpPr/>
          <p:nvPr/>
        </p:nvSpPr>
        <p:spPr>
          <a:xfrm>
            <a:off x="11532680" y="6200775"/>
            <a:ext cx="2347341" cy="285750"/>
          </a:xfrm>
          <a:prstGeom prst="roundRect">
            <a:avLst>
              <a:gd name="adj" fmla="val 33333"/>
            </a:avLst>
          </a:prstGeom>
          <a:noFill/>
          <a:ln w="28575">
            <a:solidFill>
              <a:srgbClr val="1717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"/>
          <p:cNvSpPr txBox="1"/>
          <p:nvPr/>
        </p:nvSpPr>
        <p:spPr>
          <a:xfrm>
            <a:off x="11519093" y="6239980"/>
            <a:ext cx="2374514" cy="273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b="1" sz="1260" i="0" spc="50">
                <a:solidFill>
                  <a:srgbClr val="171726"/>
                </a:solidFill>
                <a:latin typeface="Archivo"/>
              </a:rPr>
              <a:t>[TBC: ADDRESS BLOCK]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7145000" cy="1143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342900" y="342900"/>
            <a:ext cx="16459200" cy="10744200"/>
          </a:xfrm>
          <a:prstGeom prst="roundRect">
            <a:avLst>
              <a:gd name="adj" fmla="val 2659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e0a5ce5a4491e0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066807"/>
            <a:ext cx="3042761" cy="723885"/>
          </a:xfrm>
          <a:prstGeom prst="rect">
            <a:avLst/>
          </a:prstGeom>
        </p:spPr>
      </p:pic>
      <p:sp>
        <p:nvSpPr>
          <p:cNvPr id="5" name="Headline"/>
          <p:cNvSpPr txBox="1"/>
          <p:nvPr/>
        </p:nvSpPr>
        <p:spPr>
          <a:xfrm>
            <a:off x="1104900" y="2522220"/>
            <a:ext cx="7845552" cy="4149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425"/>
              </a:lnSpc>
              <a:spcBef>
                <a:spcPts val="0"/>
              </a:spcBef>
              <a:spcAft>
                <a:spcPts val="0"/>
              </a:spcAft>
            </a:pPr>
            <a:r>
              <a:rPr b="0" sz="8250" i="0" spc="-123">
                <a:solidFill>
                  <a:srgbClr val="171726"/>
                </a:solidFill>
                <a:latin typeface="Archivo Black"/>
              </a:rPr>
              <a:t>A HIGHER STANDARD FOR EVERY SPACE.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104900" y="6535141"/>
            <a:ext cx="7315398" cy="748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209"/>
              </a:lnSpc>
              <a:spcBef>
                <a:spcPts val="0"/>
              </a:spcBef>
              <a:spcAft>
                <a:spcPts val="0"/>
              </a:spcAft>
            </a:pPr>
            <a:r>
              <a:rPr b="0" sz="3450" i="0" spc="-17">
                <a:solidFill>
                  <a:srgbClr val="362CFF"/>
                </a:solidFill>
                <a:latin typeface="Archivo Medium"/>
              </a:rPr>
              <a:t>Property services. Done properly.</a:t>
            </a:r>
          </a:p>
        </p:txBody>
      </p:sp>
      <p:sp>
        <p:nvSpPr>
          <p:cNvPr id="7" name="Box"/>
          <p:cNvSpPr/>
          <p:nvPr/>
        </p:nvSpPr>
        <p:spPr>
          <a:xfrm>
            <a:off x="1104900" y="9486900"/>
            <a:ext cx="4216051" cy="876300"/>
          </a:xfrm>
          <a:prstGeom prst="roundRect">
            <a:avLst>
              <a:gd name="adj" fmla="val 50000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1368573" y="9765030"/>
            <a:ext cx="3688705" cy="4800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700" i="0">
                <a:solidFill>
                  <a:srgbClr val="ECE9E0"/>
                </a:solidFill>
                <a:latin typeface="Archivo"/>
              </a:rPr>
              <a:t>Get a clear estimate</a:t>
            </a:r>
          </a:p>
        </p:txBody>
      </p:sp>
      <p:sp>
        <p:nvSpPr>
          <p:cNvPr id="9" name="Box"/>
          <p:cNvSpPr/>
          <p:nvPr/>
        </p:nvSpPr>
        <p:spPr>
          <a:xfrm>
            <a:off x="8420100" y="723900"/>
            <a:ext cx="8001000" cy="9982200"/>
          </a:xfrm>
          <a:prstGeom prst="roundRect">
            <a:avLst>
              <a:gd name="adj" fmla="val 2619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hoto" descr="photo-a707a4e91d1d3b46.jpg"/>
          <p:cNvPicPr>
            <a:picLocks noChangeAspect="1"/>
          </p:cNvPicPr>
          <p:nvPr/>
        </p:nvPicPr>
        <p:blipFill>
          <a:blip r:embed="rId3"/>
          <a:srcRect l="34032" r="20858"/>
          <a:stretch>
            <a:fillRect/>
          </a:stretch>
        </p:blipFill>
        <p:spPr>
          <a:xfrm>
            <a:off x="8420100" y="723900"/>
            <a:ext cx="8001000" cy="9982200"/>
          </a:xfrm>
          <a:prstGeom prst="roundRect">
            <a:avLst>
              <a:gd name="adj" fmla="val 2619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