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meet-arlo/02-texas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meet-arlo/03-jobsite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meet-arlo/04-tough-shell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meet-arlo/05-stands-for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meet-arlo/06-say-hi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243852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MEET THE CREW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2493773" y="2047875"/>
            <a:ext cx="5299359" cy="3086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171726"/>
                </a:solidFill>
                <a:latin typeface="Archivo Black"/>
              </a:rPr>
              <a:t>MEET</a:t>
            </a:r>
          </a:p>
          <a:p>
            <a:pPr algn="ctr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362CFF"/>
                </a:solidFill>
                <a:latin typeface="Archivo Black"/>
              </a:rPr>
              <a:t>ARLO.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869180" y="4838319"/>
            <a:ext cx="4548736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171726"/>
                </a:solidFill>
                <a:latin typeface="Archivo Medium"/>
              </a:rPr>
              <a:t>The newest member of the Cosmic crew.</a:t>
            </a:r>
          </a:p>
        </p:txBody>
      </p:sp>
      <p:pic>
        <p:nvPicPr>
          <p:cNvPr id="8" name="Graphic" descr="logo-20b0f97c1fca1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8134366"/>
            <a:ext cx="5848540" cy="4095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72387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MEET ARLO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48206"/>
            <a:ext cx="5739735" cy="24277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965"/>
              </a:lnSpc>
              <a:spcBef>
                <a:spcPts val="0"/>
              </a:spcBef>
              <a:spcAft>
                <a:spcPts val="0"/>
              </a:spcAft>
            </a:pPr>
            <a:r>
              <a:rPr b="0" sz="8850" i="0" spc="-132">
                <a:solidFill>
                  <a:srgbClr val="ECE9E0"/>
                </a:solidFill>
                <a:latin typeface="Archivo Black"/>
              </a:rPr>
              <a:t>BORN IN</a:t>
            </a:r>
          </a:p>
          <a:p>
            <a:pPr algn="l">
              <a:lnSpc>
                <a:spcPts val="7965"/>
              </a:lnSpc>
              <a:spcBef>
                <a:spcPts val="0"/>
              </a:spcBef>
              <a:spcAft>
                <a:spcPts val="0"/>
              </a:spcAft>
            </a:pPr>
            <a:r>
              <a:rPr b="0" sz="8850" i="0" spc="-132">
                <a:solidFill>
                  <a:srgbClr val="ECE9E0"/>
                </a:solidFill>
                <a:latin typeface="Archivo Black"/>
              </a:rPr>
              <a:t>TEXAS.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3927538"/>
            <a:ext cx="5003620" cy="20452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Arlo brings the Texas side of Cosmic to life. Curious, resilient and easy to get along with.</a:t>
            </a:r>
          </a:p>
        </p:txBody>
      </p:sp>
      <p:pic>
        <p:nvPicPr>
          <p:cNvPr id="7" name="Graphic" descr="logo-ba37d1ea649bd1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810771"/>
            <a:ext cx="1799177" cy="2381207"/>
          </a:xfrm>
          <a:prstGeom prst="rect">
            <a:avLst/>
          </a:prstGeom>
        </p:spPr>
      </p:pic>
      <p:pic>
        <p:nvPicPr>
          <p:cNvPr id="8" name="Graphic" descr="logo-2253dbbcaba44b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0287011"/>
            <a:ext cx="2683669" cy="1904978"/>
          </a:xfrm>
          <a:prstGeom prst="rect">
            <a:avLst/>
          </a:prstGeom>
        </p:spPr>
      </p:pic>
      <p:pic>
        <p:nvPicPr>
          <p:cNvPr id="9" name="Graphic" descr="logo-cd2617c44f7f22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542" y="9429814"/>
            <a:ext cx="2601658" cy="27621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72387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MEET ARLO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770507"/>
            <a:ext cx="7418238" cy="3621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ALWAYS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SOMEWHERE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AROUND THE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JOBSITE.</a:t>
            </a:r>
          </a:p>
        </p:txBody>
      </p:sp>
      <p:pic>
        <p:nvPicPr>
          <p:cNvPr id="7" name="Graphic" descr="logo-f43d31abba2fc1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991384"/>
            <a:ext cx="7049262" cy="4952932"/>
          </a:xfrm>
          <a:prstGeom prst="rect">
            <a:avLst/>
          </a:prstGeom>
        </p:spPr>
      </p:pic>
      <p:pic>
        <p:nvPicPr>
          <p:cNvPr id="8" name="Graphic" descr="logo-69ed5c03e50d55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39" y="5581693"/>
            <a:ext cx="2372011" cy="1428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72387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MEET ARLO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39443"/>
            <a:ext cx="8916665" cy="3922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ECE9E0"/>
                </a:solidFill>
                <a:latin typeface="Archivo Black"/>
              </a:rPr>
              <a:t>TOUGH SHELL.</a:t>
            </a:r>
          </a:p>
          <a:p>
            <a:pPr algn="l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ECE9E0"/>
                </a:solidFill>
                <a:latin typeface="Archivo Black"/>
              </a:rPr>
              <a:t>SOFT SPOT</a:t>
            </a:r>
          </a:p>
          <a:p>
            <a:pPr algn="l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ECE9E0"/>
                </a:solidFill>
                <a:latin typeface="Archivo Black"/>
              </a:rPr>
              <a:t>FOR GOOD</a:t>
            </a:r>
          </a:p>
          <a:p>
            <a:pPr algn="l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ECE9E0"/>
                </a:solidFill>
                <a:latin typeface="Archivo Black"/>
              </a:rPr>
              <a:t>WORK.</a:t>
            </a:r>
          </a:p>
        </p:txBody>
      </p:sp>
      <p:pic>
        <p:nvPicPr>
          <p:cNvPr id="6" name="Graphic" descr="logo-2f39fc4672dd0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329" y="7143754"/>
            <a:ext cx="7745920" cy="49529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172387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MEET ARLO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748714"/>
            <a:ext cx="323904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WHAT HE STANDS FOR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2326005"/>
            <a:ext cx="6753088" cy="22802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25"/>
              </a:lnSpc>
              <a:spcBef>
                <a:spcPts val="0"/>
              </a:spcBef>
              <a:spcAft>
                <a:spcPts val="0"/>
              </a:spcAft>
            </a:pPr>
            <a:r>
              <a:rPr b="0" sz="14250" i="0" spc="-213">
                <a:solidFill>
                  <a:srgbClr val="171726"/>
                </a:solidFill>
                <a:latin typeface="Archivo Black"/>
              </a:rPr>
              <a:t>CARE.</a:t>
            </a:r>
          </a:p>
        </p:txBody>
      </p:sp>
      <p:pic>
        <p:nvPicPr>
          <p:cNvPr id="8" name="Graphic" descr="logo-5ca38643cc7db0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649" y="3867165"/>
            <a:ext cx="3800951" cy="2571721"/>
          </a:xfrm>
          <a:prstGeom prst="rect">
            <a:avLst/>
          </a:prstGeom>
        </p:spPr>
      </p:pic>
      <p:sp>
        <p:nvSpPr>
          <p:cNvPr id="9" name="Box"/>
          <p:cNvSpPr/>
          <p:nvPr/>
        </p:nvSpPr>
        <p:spPr>
          <a:xfrm>
            <a:off x="914400" y="8517446"/>
            <a:ext cx="8458200" cy="1034320"/>
          </a:xfrm>
          <a:prstGeom prst="roundRect">
            <a:avLst>
              <a:gd name="adj" fmla="val 16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ox frame"/>
          <p:cNvSpPr/>
          <p:nvPr/>
        </p:nvSpPr>
        <p:spPr>
          <a:xfrm>
            <a:off x="933450" y="8536496"/>
            <a:ext cx="8420100" cy="996220"/>
          </a:xfrm>
          <a:prstGeom prst="roundRect">
            <a:avLst>
              <a:gd name="adj" fmla="val 1721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276350" y="8832914"/>
            <a:ext cx="2980243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CURIOUS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9742265"/>
            <a:ext cx="8458200" cy="1034320"/>
          </a:xfrm>
          <a:prstGeom prst="roundRect">
            <a:avLst>
              <a:gd name="adj" fmla="val 16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9761315"/>
            <a:ext cx="8420100" cy="996220"/>
          </a:xfrm>
          <a:prstGeom prst="roundRect">
            <a:avLst>
              <a:gd name="adj" fmla="val 1721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276350" y="10057733"/>
            <a:ext cx="3399602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RESILIENT</a:t>
            </a:r>
          </a:p>
        </p:txBody>
      </p:sp>
      <p:sp>
        <p:nvSpPr>
          <p:cNvPr id="15" name="Box"/>
          <p:cNvSpPr/>
          <p:nvPr/>
        </p:nvSpPr>
        <p:spPr>
          <a:xfrm>
            <a:off x="914400" y="10967180"/>
            <a:ext cx="8458200" cy="1034320"/>
          </a:xfrm>
          <a:prstGeom prst="roundRect">
            <a:avLst>
              <a:gd name="adj" fmla="val 16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ox frame"/>
          <p:cNvSpPr/>
          <p:nvPr/>
        </p:nvSpPr>
        <p:spPr>
          <a:xfrm>
            <a:off x="933450" y="10986230"/>
            <a:ext cx="8420100" cy="996220"/>
          </a:xfrm>
          <a:prstGeom prst="roundRect">
            <a:avLst>
              <a:gd name="adj" fmla="val 1721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276350" y="11282648"/>
            <a:ext cx="5230338" cy="6480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60">
                <a:solidFill>
                  <a:srgbClr val="362CFF"/>
                </a:solidFill>
                <a:latin typeface="Archivo Black"/>
              </a:rPr>
              <a:t>APPROACHABLE</a:t>
            </a:r>
          </a:p>
        </p:txBody>
      </p:sp>
      <p:pic>
        <p:nvPicPr>
          <p:cNvPr id="18" name="Graphic" descr="logo-7ca06d87b78bfc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81660"/>
            <a:ext cx="2704528" cy="2571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172387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MEET ARLO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06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543050"/>
            <a:ext cx="7461763" cy="2914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750"/>
              </a:lnSpc>
              <a:spcBef>
                <a:spcPts val="0"/>
              </a:spcBef>
              <a:spcAft>
                <a:spcPts val="0"/>
              </a:spcAft>
            </a:pPr>
            <a:r>
              <a:rPr b="0" sz="7500" i="0" spc="-112">
                <a:solidFill>
                  <a:srgbClr val="ECE9E0"/>
                </a:solidFill>
                <a:latin typeface="Archivo Black"/>
              </a:rPr>
              <a:t>SAY HI WHEN</a:t>
            </a:r>
          </a:p>
          <a:p>
            <a:pPr algn="l">
              <a:lnSpc>
                <a:spcPts val="6750"/>
              </a:lnSpc>
              <a:spcBef>
                <a:spcPts val="0"/>
              </a:spcBef>
              <a:spcAft>
                <a:spcPts val="0"/>
              </a:spcAft>
            </a:pPr>
            <a:r>
              <a:rPr b="0" sz="7500" i="0" spc="-112">
                <a:solidFill>
                  <a:srgbClr val="ECE9E0"/>
                </a:solidFill>
                <a:latin typeface="Archivo Black"/>
              </a:rPr>
              <a:t>YOU SEE</a:t>
            </a:r>
          </a:p>
          <a:p>
            <a:pPr algn="l">
              <a:lnSpc>
                <a:spcPts val="6750"/>
              </a:lnSpc>
              <a:spcBef>
                <a:spcPts val="0"/>
              </a:spcBef>
              <a:spcAft>
                <a:spcPts val="0"/>
              </a:spcAft>
            </a:pPr>
            <a:r>
              <a:rPr b="0" sz="7500" i="0" spc="-112">
                <a:solidFill>
                  <a:srgbClr val="ECE9E0"/>
                </a:solidFill>
                <a:latin typeface="Archivo Black"/>
              </a:rPr>
              <a:t>THE TRUCK.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4533900"/>
            <a:ext cx="8915400" cy="4476750"/>
          </a:xfrm>
          <a:prstGeom prst="roundRect">
            <a:avLst>
              <a:gd name="adj" fmla="val 468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03c66d8ff9f75978.jpg"/>
          <p:cNvPicPr>
            <a:picLocks noChangeAspect="1"/>
          </p:cNvPicPr>
          <p:nvPr/>
        </p:nvPicPr>
        <p:blipFill>
          <a:blip r:embed="rId2"/>
          <a:srcRect t="18177" b="14872"/>
          <a:stretch>
            <a:fillRect/>
          </a:stretch>
        </p:blipFill>
        <p:spPr>
          <a:xfrm>
            <a:off x="685800" y="4533900"/>
            <a:ext cx="8915400" cy="4476750"/>
          </a:xfrm>
          <a:prstGeom prst="roundRect">
            <a:avLst>
              <a:gd name="adj" fmla="val 4680"/>
            </a:avLst>
          </a:prstGeom>
        </p:spPr>
      </p:pic>
      <p:sp>
        <p:nvSpPr>
          <p:cNvPr id="8" name="Box"/>
          <p:cNvSpPr/>
          <p:nvPr/>
        </p:nvSpPr>
        <p:spPr>
          <a:xfrm>
            <a:off x="685800" y="10572750"/>
            <a:ext cx="4149376" cy="779145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005632" y="10807922"/>
            <a:ext cx="1217996" cy="4533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b="1" sz="2550" i="0">
                <a:solidFill>
                  <a:srgbClr val="362CFF"/>
                </a:solidFill>
                <a:latin typeface="Archivo"/>
              </a:rPr>
              <a:t>Follow</a:t>
            </a:r>
          </a:p>
        </p:txBody>
      </p:sp>
      <p:sp>
        <p:nvSpPr>
          <p:cNvPr id="10" name="Box frame"/>
          <p:cNvSpPr/>
          <p:nvPr/>
        </p:nvSpPr>
        <p:spPr>
          <a:xfrm>
            <a:off x="2271998" y="10796588"/>
            <a:ext cx="2129695" cy="331470"/>
          </a:xfrm>
          <a:prstGeom prst="roundRect">
            <a:avLst>
              <a:gd name="adj" fmla="val 28735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2419636" y="10848594"/>
            <a:ext cx="2130750" cy="3173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b="1" sz="1785" i="0" spc="71">
                <a:solidFill>
                  <a:srgbClr val="362CFF"/>
                </a:solidFill>
                <a:latin typeface="Archivo"/>
              </a:rPr>
              <a:t>[TBC: HANDLE]</a:t>
            </a:r>
          </a:p>
        </p:txBody>
      </p:sp>
      <p:pic>
        <p:nvPicPr>
          <p:cNvPr id="12" name="Graphic" descr="logo-e82b79575e9270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928" y="10572805"/>
            <a:ext cx="1795272" cy="16191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