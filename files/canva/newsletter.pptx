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715000" cy="14763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newsletter/01-launch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5715000" cy="14763750"/>
          </a:xfrm>
          <a:prstGeom prst="rect">
            <a:avLst/>
          </a:prstGeom>
          <a:solidFill>
            <a:srgbClr val="ECE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Box"/>
          <p:cNvSpPr/>
          <p:nvPr/>
        </p:nvSpPr>
        <p:spPr>
          <a:xfrm>
            <a:off x="0" y="0"/>
            <a:ext cx="5715000" cy="819150"/>
          </a:xfrm>
          <a:prstGeom prst="rect">
            <a:avLst/>
          </a:prstGeom>
          <a:solidFill>
            <a:srgbClr val="362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Graphic" descr="logo-1bdbd47967f6654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247655"/>
            <a:ext cx="1361218" cy="323839"/>
          </a:xfrm>
          <a:prstGeom prst="rect">
            <a:avLst/>
          </a:prstGeom>
        </p:spPr>
      </p:pic>
      <p:sp>
        <p:nvSpPr>
          <p:cNvPr id="5" name="Text"/>
          <p:cNvSpPr txBox="1"/>
          <p:nvPr/>
        </p:nvSpPr>
        <p:spPr>
          <a:xfrm>
            <a:off x="4630007" y="326898"/>
            <a:ext cx="950016" cy="2113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88"/>
              </a:lnSpc>
              <a:spcBef>
                <a:spcPts val="0"/>
              </a:spcBef>
              <a:spcAft>
                <a:spcPts val="0"/>
              </a:spcAft>
            </a:pPr>
            <a:r>
              <a:rPr b="0" sz="975" i="1" spc="39">
                <a:solidFill>
                  <a:srgbClr val="ECE9E0"/>
                </a:solidFill>
                <a:latin typeface="Archivo ExtraBold"/>
              </a:rPr>
              <a:t>AUSTIN, TX</a:t>
            </a:r>
          </a:p>
        </p:txBody>
      </p:sp>
      <p:sp>
        <p:nvSpPr>
          <p:cNvPr id="6" name="Text"/>
          <p:cNvSpPr txBox="1"/>
          <p:nvPr/>
        </p:nvSpPr>
        <p:spPr>
          <a:xfrm>
            <a:off x="342900" y="1222477"/>
            <a:ext cx="3177708" cy="22762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80"/>
              </a:lnSpc>
              <a:spcBef>
                <a:spcPts val="0"/>
              </a:spcBef>
              <a:spcAft>
                <a:spcPts val="0"/>
              </a:spcAft>
            </a:pPr>
            <a:r>
              <a:rPr b="0" sz="1050" i="1" spc="42">
                <a:solidFill>
                  <a:srgbClr val="362CFF"/>
                </a:solidFill>
                <a:latin typeface="Archivo ExtraBold"/>
              </a:rPr>
              <a:t>A NOTE FROM ROBERTO AND CARLOS</a:t>
            </a:r>
          </a:p>
        </p:txBody>
      </p:sp>
      <p:sp>
        <p:nvSpPr>
          <p:cNvPr id="7" name="Headline"/>
          <p:cNvSpPr txBox="1"/>
          <p:nvPr/>
        </p:nvSpPr>
        <p:spPr>
          <a:xfrm>
            <a:off x="342900" y="1563243"/>
            <a:ext cx="5230368" cy="157391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45"/>
              </a:lnSpc>
              <a:spcBef>
                <a:spcPts val="0"/>
              </a:spcBef>
              <a:spcAft>
                <a:spcPts val="0"/>
              </a:spcAft>
            </a:pPr>
            <a:r>
              <a:rPr b="0" sz="4050" i="0" spc="-60">
                <a:solidFill>
                  <a:srgbClr val="171726"/>
                </a:solidFill>
                <a:latin typeface="Archivo Black"/>
              </a:rPr>
              <a:t>SAME PLACES.</a:t>
            </a:r>
          </a:p>
          <a:p>
            <a:pPr algn="l">
              <a:lnSpc>
                <a:spcPts val="3645"/>
              </a:lnSpc>
              <a:spcBef>
                <a:spcPts val="0"/>
              </a:spcBef>
              <a:spcAft>
                <a:spcPts val="0"/>
              </a:spcAft>
            </a:pPr>
            <a:r>
              <a:rPr b="0" sz="4050" i="0" spc="-60">
                <a:solidFill>
                  <a:srgbClr val="171726"/>
                </a:solidFill>
                <a:latin typeface="Archivo Black"/>
              </a:rPr>
              <a:t>DIFFERENT STANDARD.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342900" y="3106864"/>
            <a:ext cx="5230368" cy="11315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b="0" sz="1350" i="0" spc="-6">
                <a:solidFill>
                  <a:srgbClr val="171726"/>
                </a:solidFill>
                <a:latin typeface="Archivo Medium"/>
              </a:rPr>
              <a:t>Painting is the visible part. Trust is the real work. Hiring a contractor shouldn't mean chasing a quote, wondering who's showing up, or finding out about problems after the work has started.</a:t>
            </a:r>
          </a:p>
        </p:txBody>
      </p:sp>
      <p:sp>
        <p:nvSpPr>
          <p:cNvPr id="9" name="Text"/>
          <p:cNvSpPr txBox="1"/>
          <p:nvPr/>
        </p:nvSpPr>
        <p:spPr>
          <a:xfrm>
            <a:off x="342900" y="4268914"/>
            <a:ext cx="5230368" cy="6172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b="0" sz="1350" i="0" spc="-6">
                <a:solidFill>
                  <a:srgbClr val="171726"/>
                </a:solidFill>
                <a:latin typeface="Archivo Medium"/>
              </a:rPr>
              <a:t>So we built Cosmic around it. New name on the truck, same crew behind it, and a higher standard for every space.</a:t>
            </a:r>
          </a:p>
        </p:txBody>
      </p:sp>
      <p:sp>
        <p:nvSpPr>
          <p:cNvPr id="10" name="Box"/>
          <p:cNvSpPr/>
          <p:nvPr/>
        </p:nvSpPr>
        <p:spPr>
          <a:xfrm>
            <a:off x="342900" y="5093780"/>
            <a:ext cx="5029200" cy="2857500"/>
          </a:xfrm>
          <a:prstGeom prst="roundRect">
            <a:avLst>
              <a:gd name="adj" fmla="val 4666"/>
            </a:avLst>
          </a:prstGeom>
          <a:solidFill>
            <a:srgbClr val="17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1" name="Photo" descr="photo-bc8c33d44bbb836f.jpg"/>
          <p:cNvPicPr>
            <a:picLocks noChangeAspect="1"/>
          </p:cNvPicPr>
          <p:nvPr/>
        </p:nvPicPr>
        <p:blipFill>
          <a:blip r:embed="rId3"/>
          <a:srcRect l="473" r="475"/>
          <a:stretch>
            <a:fillRect/>
          </a:stretch>
        </p:blipFill>
        <p:spPr>
          <a:xfrm>
            <a:off x="342900" y="5093780"/>
            <a:ext cx="5029200" cy="2857500"/>
          </a:xfrm>
          <a:prstGeom prst="roundRect">
            <a:avLst>
              <a:gd name="adj" fmla="val 4666"/>
            </a:avLst>
          </a:prstGeom>
        </p:spPr>
      </p:pic>
      <p:sp>
        <p:nvSpPr>
          <p:cNvPr id="12" name="Text"/>
          <p:cNvSpPr txBox="1"/>
          <p:nvPr/>
        </p:nvSpPr>
        <p:spPr>
          <a:xfrm>
            <a:off x="342900" y="8369008"/>
            <a:ext cx="4761266" cy="166146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5451"/>
              </a:lnSpc>
              <a:spcBef>
                <a:spcPts val="0"/>
              </a:spcBef>
              <a:spcAft>
                <a:spcPts val="0"/>
              </a:spcAft>
            </a:pPr>
            <a:r>
              <a:rPr b="0" sz="5925" i="0" spc="-88">
                <a:solidFill>
                  <a:srgbClr val="171726"/>
                </a:solidFill>
                <a:latin typeface="Archivo Black"/>
              </a:rPr>
              <a:t>WE CARE,</a:t>
            </a:r>
          </a:p>
          <a:p>
            <a:pPr algn="l">
              <a:lnSpc>
                <a:spcPts val="5451"/>
              </a:lnSpc>
              <a:spcBef>
                <a:spcPts val="0"/>
              </a:spcBef>
              <a:spcAft>
                <a:spcPts val="0"/>
              </a:spcAft>
            </a:pPr>
            <a:r>
              <a:rPr b="0" sz="5925" i="0" spc="-88">
                <a:solidFill>
                  <a:srgbClr val="362CFF"/>
                </a:solidFill>
                <a:latin typeface="Archivo Black"/>
              </a:rPr>
              <a:t>IT SHOWS.</a:t>
            </a:r>
          </a:p>
        </p:txBody>
      </p:sp>
      <p:sp>
        <p:nvSpPr>
          <p:cNvPr id="13" name="Box"/>
          <p:cNvSpPr/>
          <p:nvPr/>
        </p:nvSpPr>
        <p:spPr>
          <a:xfrm>
            <a:off x="342900" y="9964388"/>
            <a:ext cx="1612868" cy="873157"/>
          </a:xfrm>
          <a:prstGeom prst="roundRect">
            <a:avLst>
              <a:gd name="adj" fmla="val 15272"/>
            </a:avLst>
          </a:prstGeom>
          <a:solidFill>
            <a:srgbClr val="ECE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Box frame"/>
          <p:cNvSpPr/>
          <p:nvPr/>
        </p:nvSpPr>
        <p:spPr>
          <a:xfrm>
            <a:off x="357188" y="9978676"/>
            <a:ext cx="1584293" cy="844582"/>
          </a:xfrm>
          <a:prstGeom prst="roundRect">
            <a:avLst>
              <a:gd name="adj" fmla="val 15788"/>
            </a:avLst>
          </a:prstGeom>
          <a:noFill/>
          <a:ln w="28575">
            <a:solidFill>
              <a:srgbClr val="362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"/>
          <p:cNvSpPr txBox="1"/>
          <p:nvPr/>
        </p:nvSpPr>
        <p:spPr>
          <a:xfrm>
            <a:off x="542925" y="10159841"/>
            <a:ext cx="1019678" cy="40805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295"/>
              </a:lnSpc>
              <a:spcBef>
                <a:spcPts val="0"/>
              </a:spcBef>
              <a:spcAft>
                <a:spcPts val="0"/>
              </a:spcAft>
            </a:pPr>
            <a:r>
              <a:rPr b="0" sz="2550" i="0" spc="-38">
                <a:solidFill>
                  <a:srgbClr val="362CFF"/>
                </a:solidFill>
                <a:latin typeface="Archivo Black"/>
              </a:rPr>
              <a:t>500+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542925" y="10487558"/>
            <a:ext cx="1216396" cy="22776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80"/>
              </a:lnSpc>
              <a:spcBef>
                <a:spcPts val="0"/>
              </a:spcBef>
              <a:spcAft>
                <a:spcPts val="0"/>
              </a:spcAft>
            </a:pPr>
            <a:r>
              <a:rPr b="0" sz="1050" i="0" spc="-5">
                <a:solidFill>
                  <a:srgbClr val="362CFF"/>
                </a:solidFill>
                <a:latin typeface="Archivo Medium"/>
              </a:rPr>
              <a:t>spaces improved</a:t>
            </a:r>
          </a:p>
        </p:txBody>
      </p:sp>
      <p:sp>
        <p:nvSpPr>
          <p:cNvPr id="17" name="Box"/>
          <p:cNvSpPr/>
          <p:nvPr/>
        </p:nvSpPr>
        <p:spPr>
          <a:xfrm>
            <a:off x="2051018" y="9964388"/>
            <a:ext cx="1612868" cy="873157"/>
          </a:xfrm>
          <a:prstGeom prst="roundRect">
            <a:avLst>
              <a:gd name="adj" fmla="val 15272"/>
            </a:avLst>
          </a:prstGeom>
          <a:solidFill>
            <a:srgbClr val="ECE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Box frame"/>
          <p:cNvSpPr/>
          <p:nvPr/>
        </p:nvSpPr>
        <p:spPr>
          <a:xfrm>
            <a:off x="2065306" y="9978676"/>
            <a:ext cx="1584293" cy="844582"/>
          </a:xfrm>
          <a:prstGeom prst="roundRect">
            <a:avLst>
              <a:gd name="adj" fmla="val 15788"/>
            </a:avLst>
          </a:prstGeom>
          <a:noFill/>
          <a:ln w="28575">
            <a:solidFill>
              <a:srgbClr val="362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"/>
          <p:cNvSpPr txBox="1"/>
          <p:nvPr/>
        </p:nvSpPr>
        <p:spPr>
          <a:xfrm>
            <a:off x="2251043" y="10159841"/>
            <a:ext cx="906490" cy="40805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295"/>
              </a:lnSpc>
              <a:spcBef>
                <a:spcPts val="0"/>
              </a:spcBef>
              <a:spcAft>
                <a:spcPts val="0"/>
              </a:spcAft>
            </a:pPr>
            <a:r>
              <a:rPr b="0" sz="2550" i="0" spc="-38">
                <a:solidFill>
                  <a:srgbClr val="362CFF"/>
                </a:solidFill>
                <a:latin typeface="Archivo Black"/>
              </a:rPr>
              <a:t>98%</a:t>
            </a:r>
          </a:p>
        </p:txBody>
      </p:sp>
      <p:sp>
        <p:nvSpPr>
          <p:cNvPr id="20" name="Text"/>
          <p:cNvSpPr txBox="1"/>
          <p:nvPr/>
        </p:nvSpPr>
        <p:spPr>
          <a:xfrm>
            <a:off x="2251043" y="10487558"/>
            <a:ext cx="1361481" cy="22776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80"/>
              </a:lnSpc>
              <a:spcBef>
                <a:spcPts val="0"/>
              </a:spcBef>
              <a:spcAft>
                <a:spcPts val="0"/>
              </a:spcAft>
            </a:pPr>
            <a:r>
              <a:rPr b="0" sz="1050" i="0" spc="-5">
                <a:solidFill>
                  <a:srgbClr val="362CFF"/>
                </a:solidFill>
                <a:latin typeface="Archivo Medium"/>
              </a:rPr>
              <a:t>on-time completion</a:t>
            </a:r>
          </a:p>
        </p:txBody>
      </p:sp>
      <p:sp>
        <p:nvSpPr>
          <p:cNvPr id="21" name="Box"/>
          <p:cNvSpPr/>
          <p:nvPr/>
        </p:nvSpPr>
        <p:spPr>
          <a:xfrm>
            <a:off x="3759137" y="9964388"/>
            <a:ext cx="1612868" cy="873157"/>
          </a:xfrm>
          <a:prstGeom prst="roundRect">
            <a:avLst>
              <a:gd name="adj" fmla="val 15272"/>
            </a:avLst>
          </a:prstGeom>
          <a:solidFill>
            <a:srgbClr val="ECE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Box frame"/>
          <p:cNvSpPr/>
          <p:nvPr/>
        </p:nvSpPr>
        <p:spPr>
          <a:xfrm>
            <a:off x="3773424" y="9978676"/>
            <a:ext cx="1584293" cy="844582"/>
          </a:xfrm>
          <a:prstGeom prst="roundRect">
            <a:avLst>
              <a:gd name="adj" fmla="val 15788"/>
            </a:avLst>
          </a:prstGeom>
          <a:noFill/>
          <a:ln w="28575">
            <a:solidFill>
              <a:srgbClr val="362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"/>
          <p:cNvSpPr txBox="1"/>
          <p:nvPr/>
        </p:nvSpPr>
        <p:spPr>
          <a:xfrm>
            <a:off x="3959162" y="10159841"/>
            <a:ext cx="664647" cy="40805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295"/>
              </a:lnSpc>
              <a:spcBef>
                <a:spcPts val="0"/>
              </a:spcBef>
              <a:spcAft>
                <a:spcPts val="0"/>
              </a:spcAft>
            </a:pPr>
            <a:r>
              <a:rPr b="0" sz="2550" i="0" spc="-38">
                <a:solidFill>
                  <a:srgbClr val="362CFF"/>
                </a:solidFill>
                <a:latin typeface="Archivo Black"/>
              </a:rPr>
              <a:t>5.0</a:t>
            </a:r>
          </a:p>
        </p:txBody>
      </p:sp>
      <p:sp>
        <p:nvSpPr>
          <p:cNvPr id="24" name="Text"/>
          <p:cNvSpPr txBox="1"/>
          <p:nvPr/>
        </p:nvSpPr>
        <p:spPr>
          <a:xfrm>
            <a:off x="3959162" y="10487558"/>
            <a:ext cx="1023305" cy="22776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80"/>
              </a:lnSpc>
              <a:spcBef>
                <a:spcPts val="0"/>
              </a:spcBef>
              <a:spcAft>
                <a:spcPts val="0"/>
              </a:spcAft>
            </a:pPr>
            <a:r>
              <a:rPr b="0" sz="1050" i="0" spc="-5">
                <a:solidFill>
                  <a:srgbClr val="362CFF"/>
                </a:solidFill>
                <a:latin typeface="Archivo Medium"/>
              </a:rPr>
              <a:t>average rating</a:t>
            </a:r>
          </a:p>
        </p:txBody>
      </p:sp>
      <p:pic>
        <p:nvPicPr>
          <p:cNvPr id="25" name="Graphic" descr="logo-e56416832dab747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" y="11180498"/>
            <a:ext cx="1632014" cy="1142895"/>
          </a:xfrm>
          <a:prstGeom prst="rect">
            <a:avLst/>
          </a:prstGeom>
        </p:spPr>
      </p:pic>
      <p:sp>
        <p:nvSpPr>
          <p:cNvPr id="26" name="Text"/>
          <p:cNvSpPr txBox="1"/>
          <p:nvPr/>
        </p:nvSpPr>
        <p:spPr>
          <a:xfrm>
            <a:off x="2203514" y="11393710"/>
            <a:ext cx="1881119" cy="31203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54"/>
              </a:lnSpc>
              <a:spcBef>
                <a:spcPts val="0"/>
              </a:spcBef>
              <a:spcAft>
                <a:spcPts val="0"/>
              </a:spcAft>
            </a:pPr>
            <a:r>
              <a:rPr b="0" sz="1950" i="0" spc="-29">
                <a:solidFill>
                  <a:srgbClr val="171726"/>
                </a:solidFill>
                <a:latin typeface="Archivo Black"/>
              </a:rPr>
              <a:t>MEET ARLO.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2203514" y="11665648"/>
            <a:ext cx="3295330" cy="5303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b="0" sz="1200" i="0" spc="-6">
                <a:solidFill>
                  <a:srgbClr val="171726"/>
                </a:solidFill>
                <a:latin typeface="Archivo Medium"/>
              </a:rPr>
              <a:t>You'll start seeing him around the jobsite. He's the newest member of the crew.</a:t>
            </a:r>
          </a:p>
        </p:txBody>
      </p:sp>
      <p:sp>
        <p:nvSpPr>
          <p:cNvPr id="28" name="Box"/>
          <p:cNvSpPr/>
          <p:nvPr/>
        </p:nvSpPr>
        <p:spPr>
          <a:xfrm>
            <a:off x="0" y="12609195"/>
            <a:ext cx="5715000" cy="2151602"/>
          </a:xfrm>
          <a:prstGeom prst="rect">
            <a:avLst/>
          </a:prstGeom>
          <a:solidFill>
            <a:srgbClr val="362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"/>
          <p:cNvSpPr txBox="1"/>
          <p:nvPr/>
        </p:nvSpPr>
        <p:spPr>
          <a:xfrm>
            <a:off x="398736" y="12980289"/>
            <a:ext cx="4917338" cy="38404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b="0" sz="2400" i="0" spc="-36">
                <a:solidFill>
                  <a:srgbClr val="ECE9E0"/>
                </a:solidFill>
                <a:latin typeface="Archivo Black"/>
              </a:rPr>
              <a:t>HAVE A PROJECT IN MIND?</a:t>
            </a:r>
          </a:p>
        </p:txBody>
      </p:sp>
      <p:sp>
        <p:nvSpPr>
          <p:cNvPr id="30" name="Box"/>
          <p:cNvSpPr/>
          <p:nvPr/>
        </p:nvSpPr>
        <p:spPr>
          <a:xfrm>
            <a:off x="1765364" y="13435870"/>
            <a:ext cx="2184178" cy="476250"/>
          </a:xfrm>
          <a:prstGeom prst="roundRect">
            <a:avLst>
              <a:gd name="adj" fmla="val 50000"/>
            </a:avLst>
          </a:prstGeom>
          <a:solidFill>
            <a:srgbClr val="ECE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"/>
          <p:cNvSpPr txBox="1"/>
          <p:nvPr/>
        </p:nvSpPr>
        <p:spPr>
          <a:xfrm>
            <a:off x="1916253" y="13593985"/>
            <a:ext cx="1882399" cy="2400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b="1" sz="1350" i="0">
                <a:solidFill>
                  <a:srgbClr val="362CFF"/>
                </a:solidFill>
                <a:latin typeface="Archivo"/>
              </a:rPr>
              <a:t>Get a clear estimate</a:t>
            </a:r>
          </a:p>
        </p:txBody>
      </p:sp>
      <p:sp>
        <p:nvSpPr>
          <p:cNvPr id="32" name="Text"/>
          <p:cNvSpPr txBox="1"/>
          <p:nvPr/>
        </p:nvSpPr>
        <p:spPr>
          <a:xfrm>
            <a:off x="2099182" y="14181792"/>
            <a:ext cx="1371189" cy="21149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189"/>
              </a:lnSpc>
              <a:spcBef>
                <a:spcPts val="0"/>
              </a:spcBef>
              <a:spcAft>
                <a:spcPts val="0"/>
              </a:spcAft>
            </a:pPr>
            <a:r>
              <a:rPr b="0" sz="975" i="0" spc="-4">
                <a:solidFill>
                  <a:srgbClr val="ECE9E0"/>
                </a:solidFill>
                <a:latin typeface="Archivo Medium"/>
              </a:rPr>
              <a:t>· ·</a:t>
            </a:r>
          </a:p>
        </p:txBody>
      </p:sp>
      <p:sp>
        <p:nvSpPr>
          <p:cNvPr id="33" name="Box frame"/>
          <p:cNvSpPr/>
          <p:nvPr/>
        </p:nvSpPr>
        <p:spPr>
          <a:xfrm>
            <a:off x="1369981" y="14174057"/>
            <a:ext cx="797719" cy="210407"/>
          </a:xfrm>
          <a:prstGeom prst="roundRect">
            <a:avLst>
              <a:gd name="adj" fmla="val 45269"/>
            </a:avLst>
          </a:prstGeom>
          <a:noFill/>
          <a:ln w="28575">
            <a:solidFill>
              <a:srgbClr val="EC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"/>
          <p:cNvSpPr txBox="1"/>
          <p:nvPr/>
        </p:nvSpPr>
        <p:spPr>
          <a:xfrm>
            <a:off x="1449372" y="14218063"/>
            <a:ext cx="638937" cy="14801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832"/>
              </a:lnSpc>
              <a:spcBef>
                <a:spcPts val="0"/>
              </a:spcBef>
              <a:spcAft>
                <a:spcPts val="0"/>
              </a:spcAft>
            </a:pPr>
            <a:r>
              <a:rPr b="1" sz="682" i="0" spc="27">
                <a:solidFill>
                  <a:srgbClr val="ECE9E0"/>
                </a:solidFill>
                <a:latin typeface="Archivo"/>
              </a:rPr>
              <a:t>[TBC: URL]</a:t>
            </a:r>
          </a:p>
        </p:txBody>
      </p:sp>
      <p:sp>
        <p:nvSpPr>
          <p:cNvPr id="35" name="Box frame"/>
          <p:cNvSpPr/>
          <p:nvPr/>
        </p:nvSpPr>
        <p:spPr>
          <a:xfrm>
            <a:off x="2286476" y="14174057"/>
            <a:ext cx="996696" cy="210407"/>
          </a:xfrm>
          <a:prstGeom prst="roundRect">
            <a:avLst>
              <a:gd name="adj" fmla="val 45269"/>
            </a:avLst>
          </a:prstGeom>
          <a:noFill/>
          <a:ln w="28575">
            <a:solidFill>
              <a:srgbClr val="EC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"/>
          <p:cNvSpPr txBox="1"/>
          <p:nvPr/>
        </p:nvSpPr>
        <p:spPr>
          <a:xfrm>
            <a:off x="2353928" y="14218063"/>
            <a:ext cx="861792" cy="14801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832"/>
              </a:lnSpc>
              <a:spcBef>
                <a:spcPts val="0"/>
              </a:spcBef>
              <a:spcAft>
                <a:spcPts val="0"/>
              </a:spcAft>
            </a:pPr>
            <a:r>
              <a:rPr b="1" sz="682" i="0" spc="27">
                <a:solidFill>
                  <a:srgbClr val="ECE9E0"/>
                </a:solidFill>
                <a:latin typeface="Archivo"/>
              </a:rPr>
              <a:t>[TBC: HANDLE]</a:t>
            </a:r>
          </a:p>
        </p:txBody>
      </p:sp>
      <p:sp>
        <p:nvSpPr>
          <p:cNvPr id="37" name="Box frame"/>
          <p:cNvSpPr/>
          <p:nvPr/>
        </p:nvSpPr>
        <p:spPr>
          <a:xfrm>
            <a:off x="3401949" y="14174057"/>
            <a:ext cx="942975" cy="210407"/>
          </a:xfrm>
          <a:prstGeom prst="roundRect">
            <a:avLst>
              <a:gd name="adj" fmla="val 45269"/>
            </a:avLst>
          </a:prstGeom>
          <a:noFill/>
          <a:ln w="28575">
            <a:solidFill>
              <a:srgbClr val="EC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"/>
          <p:cNvSpPr txBox="1"/>
          <p:nvPr/>
        </p:nvSpPr>
        <p:spPr>
          <a:xfrm>
            <a:off x="3472625" y="14218063"/>
            <a:ext cx="801624" cy="14801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832"/>
              </a:lnSpc>
              <a:spcBef>
                <a:spcPts val="0"/>
              </a:spcBef>
              <a:spcAft>
                <a:spcPts val="0"/>
              </a:spcAft>
            </a:pPr>
            <a:r>
              <a:rPr b="1" sz="682" i="0" spc="27">
                <a:solidFill>
                  <a:srgbClr val="ECE9E0"/>
                </a:solidFill>
                <a:latin typeface="Archivo"/>
              </a:rPr>
              <a:t>[TBC: PHONE]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