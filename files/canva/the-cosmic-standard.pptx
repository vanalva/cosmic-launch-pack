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the-cosmic-standard/02-clarity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the-cosmic-standard/03-craft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the-cosmic-standard/04-care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the-cosmic-standard/05-commit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the-cosmic-standard/06-mantra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241546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3135325"/>
            <a:ext cx="8200842" cy="288127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453"/>
              </a:lnSpc>
              <a:spcBef>
                <a:spcPts val="0"/>
              </a:spcBef>
              <a:spcAft>
                <a:spcPts val="0"/>
              </a:spcAft>
            </a:pPr>
            <a:r>
              <a:rPr b="0" sz="10275" i="0" spc="-154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l">
              <a:lnSpc>
                <a:spcPts val="9453"/>
              </a:lnSpc>
              <a:spcBef>
                <a:spcPts val="0"/>
              </a:spcBef>
              <a:spcAft>
                <a:spcPts val="0"/>
              </a:spcAft>
            </a:pPr>
            <a:r>
              <a:rPr b="0" sz="10275" i="0" spc="-154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5924740"/>
            <a:ext cx="4548736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Four values behind every job.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11483264"/>
            <a:ext cx="2485995" cy="6688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CLARITY · CRAFT</a:t>
            </a:r>
          </a:p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171726"/>
                </a:solidFill>
                <a:latin typeface="Archivo ExtraBold"/>
              </a:rPr>
              <a:t>CARE · COMMIT</a:t>
            </a:r>
          </a:p>
        </p:txBody>
      </p:sp>
      <p:pic>
        <p:nvPicPr>
          <p:cNvPr id="10" name="Graphic" descr="logo-a284858a4a76d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536" y="9810750"/>
            <a:ext cx="2429062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53464"/>
            <a:ext cx="14232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VALUE 01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200275"/>
            <a:ext cx="7669149" cy="1800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ECE9E0"/>
                </a:solidFill>
                <a:latin typeface="Archivo Black"/>
              </a:rPr>
              <a:t>CLARITY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3665220"/>
            <a:ext cx="5218709" cy="7200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b="0" sz="4500" i="0" spc="-67">
                <a:solidFill>
                  <a:srgbClr val="ECE9E0"/>
                </a:solidFill>
                <a:latin typeface="Archivo Black"/>
              </a:rPr>
              <a:t>NO SURPRISES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85800" y="4504487"/>
            <a:ext cx="5617792" cy="32676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Clarity means our clients should always understand what is happening and what comes next. We communicate scope, pricing, timing, responsibilities and potential complications in straightforward language.</a:t>
            </a:r>
          </a:p>
        </p:txBody>
      </p:sp>
      <p:pic>
        <p:nvPicPr>
          <p:cNvPr id="9" name="Graphic" descr="logo-83b8f971dcaf3b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342" y="8153444"/>
            <a:ext cx="4955858" cy="4095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901114"/>
            <a:ext cx="14232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VALUE 02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2447925"/>
            <a:ext cx="5913730" cy="1800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171726"/>
                </a:solidFill>
                <a:latin typeface="Archivo Black"/>
              </a:rPr>
              <a:t>CRAFT</a:t>
            </a:r>
          </a:p>
        </p:txBody>
      </p:sp>
      <p:pic>
        <p:nvPicPr>
          <p:cNvPr id="8" name="Graphic" descr="logo-42fb6e8620f5ff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76698"/>
            <a:ext cx="1823180" cy="1047704"/>
          </a:xfrm>
          <a:prstGeom prst="rect">
            <a:avLst/>
          </a:prstGeom>
        </p:spPr>
      </p:pic>
      <p:pic>
        <p:nvPicPr>
          <p:cNvPr id="9" name="Graphic" descr="logo-29afe498785f2e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030" y="4067203"/>
            <a:ext cx="1478756" cy="857194"/>
          </a:xfrm>
          <a:prstGeom prst="rect">
            <a:avLst/>
          </a:prstGeom>
        </p:spPr>
      </p:pic>
      <p:pic>
        <p:nvPicPr>
          <p:cNvPr id="10" name="Graphic" descr="logo-3afa2da0bdd7ff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236" y="3876678"/>
            <a:ext cx="3708082" cy="1047744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914400" y="5285537"/>
            <a:ext cx="5617792" cy="15013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Craft means knowing what the work requires and doing it properly.</a:t>
            </a:r>
          </a:p>
        </p:txBody>
      </p:sp>
      <p:pic>
        <p:nvPicPr>
          <p:cNvPr id="12" name="Graphic" descr="logo-c14c44c72166ac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940" y="6667545"/>
            <a:ext cx="5663660" cy="53339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09863" y="729539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53464"/>
            <a:ext cx="142324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VALUE 03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2200275"/>
            <a:ext cx="4838502" cy="1800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ECE9E0"/>
                </a:solidFill>
                <a:latin typeface="Archivo Black"/>
              </a:rPr>
              <a:t>CARE</a:t>
            </a:r>
          </a:p>
        </p:txBody>
      </p:sp>
      <p:pic>
        <p:nvPicPr>
          <p:cNvPr id="7" name="Graphic" descr="logo-f95281303da2e7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0" y="3629025"/>
            <a:ext cx="2956329" cy="200025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5990387"/>
            <a:ext cx="5617792" cy="23845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ECE9E0"/>
                </a:solidFill>
                <a:latin typeface="Archivo Medium"/>
              </a:rPr>
              <a:t>Care extends beyond the surface being painted. We protect the home, respect the people living in it and pay attention to the details nobody should have to request.</a:t>
            </a:r>
          </a:p>
        </p:txBody>
      </p:sp>
      <p:pic>
        <p:nvPicPr>
          <p:cNvPr id="9" name="Graphic" descr="logo-94700ee56703ef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463" y="8248686"/>
            <a:ext cx="5515737" cy="4000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901114"/>
            <a:ext cx="142356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VALUE 04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2447925"/>
            <a:ext cx="7366818" cy="1800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171726"/>
                </a:solidFill>
                <a:latin typeface="Archivo Black"/>
              </a:rPr>
              <a:t>COMMIT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3912870"/>
            <a:ext cx="5883112" cy="7200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b="0" sz="4500" i="0" spc="-67">
                <a:solidFill>
                  <a:srgbClr val="362CFF"/>
                </a:solidFill>
                <a:latin typeface="Archivo Black"/>
              </a:rPr>
              <a:t>SEE IT THROUGH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4752137"/>
            <a:ext cx="5617792" cy="15013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6"/>
              </a:lnSpc>
              <a:spcBef>
                <a:spcPts val="0"/>
              </a:spcBef>
              <a:spcAft>
                <a:spcPts val="0"/>
              </a:spcAft>
            </a:pPr>
            <a:r>
              <a:rPr b="0" sz="2850" i="0" spc="-14">
                <a:solidFill>
                  <a:srgbClr val="362CFF"/>
                </a:solidFill>
                <a:latin typeface="Archivo Medium"/>
              </a:rPr>
              <a:t>Commit means keeping our word and taking responsibility for the entire outcome.</a:t>
            </a:r>
          </a:p>
        </p:txBody>
      </p:sp>
      <p:pic>
        <p:nvPicPr>
          <p:cNvPr id="10" name="Graphic" descr="logo-bfe27403b6db5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218" y="6477066"/>
            <a:ext cx="3820382" cy="5524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06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2251329"/>
            <a:ext cx="9272016" cy="5184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GIVE A DAMN.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KNOW YOUR CRAFT.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LEAVE IT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BETTER.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7524560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905528" y="7743634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Get a clear estimate</a:t>
            </a:r>
          </a:p>
        </p:txBody>
      </p:sp>
      <p:sp>
        <p:nvSpPr>
          <p:cNvPr id="8" name="Box frame"/>
          <p:cNvSpPr/>
          <p:nvPr/>
        </p:nvSpPr>
        <p:spPr>
          <a:xfrm>
            <a:off x="4492847" y="7734110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40485" y="7773314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URL]</a:t>
            </a:r>
          </a:p>
        </p:txBody>
      </p:sp>
      <p:pic>
        <p:nvPicPr>
          <p:cNvPr id="10" name="Graphic" descr="logo-bc9c63ac6788fb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965" y="9867922"/>
            <a:ext cx="2640235" cy="2381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