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what-we-do/01-cover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what-we-do/02-painting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what-we-do/03-landscaping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what-we-do/04-property-work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what-we-do/05-residential-commercial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what-we-do/06-cta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5b6b764610415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57260"/>
            <a:ext cx="2241994" cy="53338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8581549" y="977189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01 / 06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914400" y="2634615"/>
            <a:ext cx="5866897" cy="204025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475"/>
              </a:lnSpc>
              <a:spcBef>
                <a:spcPts val="0"/>
              </a:spcBef>
              <a:spcAft>
                <a:spcPts val="0"/>
              </a:spcAft>
            </a:pPr>
            <a:r>
              <a:rPr b="0" sz="12750" i="0" spc="-191">
                <a:solidFill>
                  <a:srgbClr val="171726"/>
                </a:solidFill>
                <a:latin typeface="Archivo Black"/>
              </a:rPr>
              <a:t>WHAT</a:t>
            </a:r>
          </a:p>
        </p:txBody>
      </p:sp>
      <p:pic>
        <p:nvPicPr>
          <p:cNvPr id="7" name="Graphic" descr="logo-6cc79ccd60a6e5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52939"/>
            <a:ext cx="3286887" cy="1123922"/>
          </a:xfrm>
          <a:prstGeom prst="rect">
            <a:avLst/>
          </a:prstGeom>
        </p:spPr>
      </p:pic>
      <p:pic>
        <p:nvPicPr>
          <p:cNvPr id="8" name="Graphic" descr="logo-e8b95b0e0f964d6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1787" y="4048139"/>
            <a:ext cx="2486216" cy="1428722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914400" y="5933694"/>
            <a:ext cx="4321294" cy="2510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59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15">
                <a:solidFill>
                  <a:srgbClr val="362CFF"/>
                </a:solidFill>
                <a:latin typeface="Archivo Medium"/>
              </a:rPr>
              <a:t>Painting, landscaping, property work and more. We take care of the details so you can enjoy the bigger picture.</a:t>
            </a:r>
          </a:p>
        </p:txBody>
      </p:sp>
      <p:pic>
        <p:nvPicPr>
          <p:cNvPr id="10" name="Graphic" descr="logo-596b8a4eab9723b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784" y="7562911"/>
            <a:ext cx="3095816" cy="44766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Box"/>
          <p:cNvSpPr/>
          <p:nvPr/>
        </p:nvSpPr>
        <p:spPr>
          <a:xfrm>
            <a:off x="628650" y="628650"/>
            <a:ext cx="9029700" cy="6477000"/>
          </a:xfrm>
          <a:prstGeom prst="roundRect">
            <a:avLst>
              <a:gd name="adj" fmla="val 3235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hoto" descr="photo-1642b31fe5ac0770.jpg"/>
          <p:cNvPicPr>
            <a:picLocks noChangeAspect="1"/>
          </p:cNvPicPr>
          <p:nvPr/>
        </p:nvPicPr>
        <p:blipFill>
          <a:blip r:embed="rId2"/>
          <a:srcRect l="10769" r="10770"/>
          <a:stretch>
            <a:fillRect/>
          </a:stretch>
        </p:blipFill>
        <p:spPr>
          <a:xfrm>
            <a:off x="628650" y="628650"/>
            <a:ext cx="9029700" cy="6477000"/>
          </a:xfrm>
          <a:prstGeom prst="roundRect">
            <a:avLst>
              <a:gd name="adj" fmla="val 3235"/>
            </a:avLst>
          </a:prstGeom>
        </p:spPr>
      </p:pic>
      <p:sp>
        <p:nvSpPr>
          <p:cNvPr id="6" name="Box"/>
          <p:cNvSpPr/>
          <p:nvPr/>
        </p:nvSpPr>
        <p:spPr>
          <a:xfrm>
            <a:off x="628650" y="7391400"/>
            <a:ext cx="9029700" cy="4838700"/>
          </a:xfrm>
          <a:prstGeom prst="roundRect">
            <a:avLst>
              <a:gd name="adj" fmla="val 4330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Box frame"/>
          <p:cNvSpPr/>
          <p:nvPr/>
        </p:nvSpPr>
        <p:spPr>
          <a:xfrm>
            <a:off x="647700" y="7410450"/>
            <a:ext cx="8991600" cy="4800600"/>
          </a:xfrm>
          <a:prstGeom prst="roundRect">
            <a:avLst>
              <a:gd name="adj" fmla="val 4365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Headline"/>
          <p:cNvSpPr txBox="1"/>
          <p:nvPr/>
        </p:nvSpPr>
        <p:spPr>
          <a:xfrm>
            <a:off x="1047750" y="7912608"/>
            <a:ext cx="4815779" cy="10081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670"/>
              </a:lnSpc>
              <a:spcBef>
                <a:spcPts val="0"/>
              </a:spcBef>
              <a:spcAft>
                <a:spcPts val="0"/>
              </a:spcAft>
            </a:pPr>
            <a:r>
              <a:rPr b="0" sz="6300" i="0" spc="-94">
                <a:solidFill>
                  <a:srgbClr val="362CFF"/>
                </a:solidFill>
                <a:latin typeface="Archivo Black"/>
              </a:rPr>
              <a:t>PAINTING</a:t>
            </a:r>
          </a:p>
        </p:txBody>
      </p:sp>
      <p:pic>
        <p:nvPicPr>
          <p:cNvPr id="9" name="Graphic" descr="logo-09d169e1a09cd3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696" y="7772420"/>
            <a:ext cx="622554" cy="914360"/>
          </a:xfrm>
          <a:prstGeom prst="rect">
            <a:avLst/>
          </a:prstGeom>
        </p:spPr>
      </p:pic>
      <p:sp>
        <p:nvSpPr>
          <p:cNvPr id="10" name="Text"/>
          <p:cNvSpPr txBox="1"/>
          <p:nvPr/>
        </p:nvSpPr>
        <p:spPr>
          <a:xfrm>
            <a:off x="1047750" y="8895055"/>
            <a:ext cx="8519160" cy="142234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b="0" sz="2700" i="0" spc="-13">
                <a:solidFill>
                  <a:srgbClr val="362CFF"/>
                </a:solidFill>
                <a:latin typeface="Archivo Medium"/>
              </a:rPr>
              <a:t>Interiors and exteriors, homes and commercial spaces. Prepped right, finished clean, walked through with you at the end.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047750" y="11578514"/>
            <a:ext cx="3533272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INTERIORS · EXTERIORS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448199" y="11578514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2b8dc7ca46ed35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09610"/>
            <a:ext cx="2241994" cy="533380"/>
          </a:xfrm>
          <a:prstGeom prst="rect">
            <a:avLst/>
          </a:prstGeom>
        </p:spPr>
      </p:pic>
      <p:sp>
        <p:nvSpPr>
          <p:cNvPr id="4" name="Text"/>
          <p:cNvSpPr txBox="1"/>
          <p:nvPr/>
        </p:nvSpPr>
        <p:spPr>
          <a:xfrm>
            <a:off x="8810149" y="729539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03 / 06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85800" y="1882064"/>
            <a:ext cx="2166595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LANDSCAPING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685800" y="2441067"/>
            <a:ext cx="7177568" cy="25923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505"/>
              </a:lnSpc>
              <a:spcBef>
                <a:spcPts val="0"/>
              </a:spcBef>
              <a:spcAft>
                <a:spcPts val="0"/>
              </a:spcAft>
            </a:pPr>
            <a:r>
              <a:rPr b="0" sz="9450" i="0" spc="-141">
                <a:solidFill>
                  <a:srgbClr val="ECE9E0"/>
                </a:solidFill>
                <a:latin typeface="Archivo Black"/>
              </a:rPr>
              <a:t>GREENER</a:t>
            </a:r>
          </a:p>
          <a:p>
            <a:pPr algn="l">
              <a:lnSpc>
                <a:spcPts val="8505"/>
              </a:lnSpc>
              <a:spcBef>
                <a:spcPts val="0"/>
              </a:spcBef>
              <a:spcAft>
                <a:spcPts val="0"/>
              </a:spcAft>
            </a:pPr>
            <a:r>
              <a:rPr b="0" sz="9450" i="0" spc="-141">
                <a:solidFill>
                  <a:srgbClr val="ECE9E0"/>
                </a:solidFill>
                <a:latin typeface="Archivo Black"/>
              </a:rPr>
              <a:t>SPACES.</a:t>
            </a:r>
          </a:p>
        </p:txBody>
      </p:sp>
      <p:sp>
        <p:nvSpPr>
          <p:cNvPr id="7" name="Headline"/>
          <p:cNvSpPr txBox="1"/>
          <p:nvPr/>
        </p:nvSpPr>
        <p:spPr>
          <a:xfrm>
            <a:off x="685800" y="4696396"/>
            <a:ext cx="6553810" cy="25923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505"/>
              </a:lnSpc>
              <a:spcBef>
                <a:spcPts val="0"/>
              </a:spcBef>
              <a:spcAft>
                <a:spcPts val="0"/>
              </a:spcAft>
            </a:pPr>
            <a:r>
              <a:rPr b="0" sz="9450" i="0" spc="-141">
                <a:solidFill>
                  <a:srgbClr val="ECE9E0"/>
                </a:solidFill>
                <a:latin typeface="Archivo Black"/>
              </a:rPr>
              <a:t>HAPPIER</a:t>
            </a:r>
          </a:p>
          <a:p>
            <a:pPr algn="l">
              <a:lnSpc>
                <a:spcPts val="8505"/>
              </a:lnSpc>
              <a:spcBef>
                <a:spcPts val="0"/>
              </a:spcBef>
              <a:spcAft>
                <a:spcPts val="0"/>
              </a:spcAft>
            </a:pPr>
            <a:r>
              <a:rPr b="0" sz="9450" i="0" spc="-141">
                <a:solidFill>
                  <a:srgbClr val="ECE9E0"/>
                </a:solidFill>
                <a:latin typeface="Archivo Black"/>
              </a:rPr>
              <a:t>PLACES.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685800" y="7176821"/>
            <a:ext cx="4321294" cy="15013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76"/>
              </a:lnSpc>
              <a:spcBef>
                <a:spcPts val="0"/>
              </a:spcBef>
              <a:spcAft>
                <a:spcPts val="0"/>
              </a:spcAft>
            </a:pPr>
            <a:r>
              <a:rPr b="0" sz="2850" i="0" spc="-14">
                <a:solidFill>
                  <a:srgbClr val="ECE9E0"/>
                </a:solidFill>
                <a:latin typeface="Archivo Medium"/>
              </a:rPr>
              <a:t>Outdoor spaces cared for with the same attention as the inside.</a:t>
            </a:r>
          </a:p>
        </p:txBody>
      </p:sp>
      <p:pic>
        <p:nvPicPr>
          <p:cNvPr id="9" name="Graphic" descr="logo-4081b3a2bee123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106188"/>
            <a:ext cx="750380" cy="1142923"/>
          </a:xfrm>
          <a:prstGeom prst="rect">
            <a:avLst/>
          </a:prstGeom>
        </p:spPr>
      </p:pic>
      <p:pic>
        <p:nvPicPr>
          <p:cNvPr id="10" name="Graphic" descr="logo-0020413ce14cb8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1930" y="10820471"/>
            <a:ext cx="1495425" cy="1428607"/>
          </a:xfrm>
          <a:prstGeom prst="rect">
            <a:avLst/>
          </a:prstGeom>
        </p:spPr>
      </p:pic>
      <p:pic>
        <p:nvPicPr>
          <p:cNvPr id="11" name="Graphic" descr="logo-4a9dd09edad7b35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3104" y="11106202"/>
            <a:ext cx="1260538" cy="1142896"/>
          </a:xfrm>
          <a:prstGeom prst="rect">
            <a:avLst/>
          </a:prstGeom>
        </p:spPr>
      </p:pic>
      <p:pic>
        <p:nvPicPr>
          <p:cNvPr id="12" name="Graphic" descr="logo-08a431d89e8e69f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6896" y="9105925"/>
            <a:ext cx="4714304" cy="31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5b6b764610415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57260"/>
            <a:ext cx="2241994" cy="53338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8581263" y="977189"/>
            <a:ext cx="96249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04 / 06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914400" y="2117979"/>
            <a:ext cx="7131802" cy="23042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559"/>
              </a:lnSpc>
              <a:spcBef>
                <a:spcPts val="0"/>
              </a:spcBef>
              <a:spcAft>
                <a:spcPts val="0"/>
              </a:spcAft>
            </a:pPr>
            <a:r>
              <a:rPr b="0" sz="8400" i="0" spc="-126">
                <a:solidFill>
                  <a:srgbClr val="171726"/>
                </a:solidFill>
                <a:latin typeface="Archivo Black"/>
              </a:rPr>
              <a:t>PROPERTY</a:t>
            </a:r>
          </a:p>
          <a:p>
            <a:pPr algn="l">
              <a:lnSpc>
                <a:spcPts val="7559"/>
              </a:lnSpc>
              <a:spcBef>
                <a:spcPts val="0"/>
              </a:spcBef>
              <a:spcAft>
                <a:spcPts val="0"/>
              </a:spcAft>
            </a:pPr>
            <a:r>
              <a:rPr b="0" sz="8400" i="0" spc="-126">
                <a:solidFill>
                  <a:srgbClr val="171726"/>
                </a:solidFill>
                <a:latin typeface="Archivo Black"/>
              </a:rPr>
              <a:t>WORK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914400" y="4281507"/>
            <a:ext cx="4753493" cy="10597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76"/>
              </a:lnSpc>
              <a:spcBef>
                <a:spcPts val="0"/>
              </a:spcBef>
              <a:spcAft>
                <a:spcPts val="0"/>
              </a:spcAft>
            </a:pPr>
            <a:r>
              <a:rPr b="0" sz="2850" i="0" spc="-14">
                <a:solidFill>
                  <a:srgbClr val="362CFF"/>
                </a:solidFill>
                <a:latin typeface="Archivo Medium"/>
              </a:rPr>
              <a:t>The repairs and upkeep that keep a place in good shape.</a:t>
            </a:r>
          </a:p>
        </p:txBody>
      </p:sp>
      <p:sp>
        <p:nvSpPr>
          <p:cNvPr id="8" name="Box"/>
          <p:cNvSpPr/>
          <p:nvPr/>
        </p:nvSpPr>
        <p:spPr>
          <a:xfrm>
            <a:off x="914400" y="5660803"/>
            <a:ext cx="8458200" cy="1123950"/>
          </a:xfrm>
          <a:prstGeom prst="roundRect">
            <a:avLst>
              <a:gd name="adj" fmla="val 15254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Box frame"/>
          <p:cNvSpPr/>
          <p:nvPr/>
        </p:nvSpPr>
        <p:spPr>
          <a:xfrm>
            <a:off x="933450" y="5679853"/>
            <a:ext cx="8420100" cy="1085850"/>
          </a:xfrm>
          <a:prstGeom prst="roundRect">
            <a:avLst>
              <a:gd name="adj" fmla="val 15789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Graphic" descr="logo-7718194bce5588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354" y="5917978"/>
            <a:ext cx="496348" cy="609599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2114550" y="6072283"/>
            <a:ext cx="3593760" cy="4800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44">
                <a:solidFill>
                  <a:srgbClr val="362CFF"/>
                </a:solidFill>
                <a:latin typeface="Archivo Black"/>
              </a:rPr>
              <a:t>WOOD REPAIRS</a:t>
            </a:r>
          </a:p>
        </p:txBody>
      </p:sp>
      <p:sp>
        <p:nvSpPr>
          <p:cNvPr id="12" name="Box"/>
          <p:cNvSpPr/>
          <p:nvPr/>
        </p:nvSpPr>
        <p:spPr>
          <a:xfrm>
            <a:off x="914400" y="6975253"/>
            <a:ext cx="8458200" cy="1123950"/>
          </a:xfrm>
          <a:prstGeom prst="roundRect">
            <a:avLst>
              <a:gd name="adj" fmla="val 15254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Box frame"/>
          <p:cNvSpPr/>
          <p:nvPr/>
        </p:nvSpPr>
        <p:spPr>
          <a:xfrm>
            <a:off x="933450" y="6994303"/>
            <a:ext cx="8420100" cy="1085850"/>
          </a:xfrm>
          <a:prstGeom prst="roundRect">
            <a:avLst>
              <a:gd name="adj" fmla="val 15789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Graphic" descr="logo-6e70f70b05d9d5a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150" y="7251179"/>
            <a:ext cx="704850" cy="572097"/>
          </a:xfrm>
          <a:prstGeom prst="rect">
            <a:avLst/>
          </a:prstGeom>
        </p:spPr>
      </p:pic>
      <p:sp>
        <p:nvSpPr>
          <p:cNvPr id="15" name="Text"/>
          <p:cNvSpPr txBox="1"/>
          <p:nvPr/>
        </p:nvSpPr>
        <p:spPr>
          <a:xfrm>
            <a:off x="2114550" y="7386733"/>
            <a:ext cx="2538054" cy="4800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44">
                <a:solidFill>
                  <a:srgbClr val="362CFF"/>
                </a:solidFill>
                <a:latin typeface="Archivo Black"/>
              </a:rPr>
              <a:t>CAULKING</a:t>
            </a:r>
          </a:p>
        </p:txBody>
      </p:sp>
      <p:sp>
        <p:nvSpPr>
          <p:cNvPr id="16" name="Box"/>
          <p:cNvSpPr/>
          <p:nvPr/>
        </p:nvSpPr>
        <p:spPr>
          <a:xfrm>
            <a:off x="914400" y="8289703"/>
            <a:ext cx="8458200" cy="1123950"/>
          </a:xfrm>
          <a:prstGeom prst="roundRect">
            <a:avLst>
              <a:gd name="adj" fmla="val 15254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Box frame"/>
          <p:cNvSpPr/>
          <p:nvPr/>
        </p:nvSpPr>
        <p:spPr>
          <a:xfrm>
            <a:off x="933450" y="8308753"/>
            <a:ext cx="8420100" cy="1085850"/>
          </a:xfrm>
          <a:prstGeom prst="roundRect">
            <a:avLst>
              <a:gd name="adj" fmla="val 15789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Graphic" descr="logo-e061b76f69d312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2636" y="8546935"/>
            <a:ext cx="539782" cy="609486"/>
          </a:xfrm>
          <a:prstGeom prst="rect">
            <a:avLst/>
          </a:prstGeom>
        </p:spPr>
      </p:pic>
      <p:sp>
        <p:nvSpPr>
          <p:cNvPr id="19" name="Text"/>
          <p:cNvSpPr txBox="1"/>
          <p:nvPr/>
        </p:nvSpPr>
        <p:spPr>
          <a:xfrm>
            <a:off x="2114550" y="8701183"/>
            <a:ext cx="4879787" cy="4800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44">
                <a:solidFill>
                  <a:srgbClr val="362CFF"/>
                </a:solidFill>
                <a:latin typeface="Archivo Black"/>
              </a:rPr>
              <a:t>PRESSURE WASHING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914400" y="11730914"/>
            <a:ext cx="1604711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AND MORE</a:t>
            </a:r>
          </a:p>
        </p:txBody>
      </p:sp>
      <p:pic>
        <p:nvPicPr>
          <p:cNvPr id="21" name="Graphic" descr="logo-0d1ea078ef43937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5680" y="10001268"/>
            <a:ext cx="4316920" cy="20002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2b8dc7ca46ed35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09610"/>
            <a:ext cx="2241994" cy="533380"/>
          </a:xfrm>
          <a:prstGeom prst="rect">
            <a:avLst/>
          </a:prstGeom>
        </p:spPr>
      </p:pic>
      <p:sp>
        <p:nvSpPr>
          <p:cNvPr id="4" name="Text"/>
          <p:cNvSpPr txBox="1"/>
          <p:nvPr/>
        </p:nvSpPr>
        <p:spPr>
          <a:xfrm>
            <a:off x="8810149" y="729539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05 / 06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685800" y="1661160"/>
            <a:ext cx="6046119" cy="16459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</a:pPr>
            <a:r>
              <a:rPr b="0" sz="6000" i="0" spc="-89">
                <a:solidFill>
                  <a:srgbClr val="ECE9E0"/>
                </a:solidFill>
                <a:latin typeface="Archivo Black"/>
              </a:rPr>
              <a:t>HOMES AND</a:t>
            </a:r>
          </a:p>
          <a:p>
            <a:pPr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</a:pPr>
            <a:r>
              <a:rPr b="0" sz="6000" i="0" spc="-89">
                <a:solidFill>
                  <a:srgbClr val="ECE9E0"/>
                </a:solidFill>
                <a:latin typeface="Archivo Black"/>
              </a:rPr>
              <a:t>BUSINESSES</a:t>
            </a:r>
          </a:p>
        </p:txBody>
      </p:sp>
      <p:sp>
        <p:nvSpPr>
          <p:cNvPr id="6" name="Box"/>
          <p:cNvSpPr/>
          <p:nvPr/>
        </p:nvSpPr>
        <p:spPr>
          <a:xfrm>
            <a:off x="685800" y="3409950"/>
            <a:ext cx="8915400" cy="4305300"/>
          </a:xfrm>
          <a:prstGeom prst="roundRect">
            <a:avLst>
              <a:gd name="adj" fmla="val 4867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Box frame"/>
          <p:cNvSpPr/>
          <p:nvPr/>
        </p:nvSpPr>
        <p:spPr>
          <a:xfrm>
            <a:off x="704850" y="3429000"/>
            <a:ext cx="8877300" cy="4267200"/>
          </a:xfrm>
          <a:prstGeom prst="roundRect">
            <a:avLst>
              <a:gd name="adj" fmla="val 4910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"/>
          <p:cNvSpPr txBox="1"/>
          <p:nvPr/>
        </p:nvSpPr>
        <p:spPr>
          <a:xfrm>
            <a:off x="1104900" y="3748964"/>
            <a:ext cx="416723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01</a:t>
            </a:r>
          </a:p>
        </p:txBody>
      </p:sp>
      <p:pic>
        <p:nvPicPr>
          <p:cNvPr id="9" name="Graphic" descr="logo-d0d6269e041ee1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0439" y="3771900"/>
            <a:ext cx="1151655" cy="1047750"/>
          </a:xfrm>
          <a:prstGeom prst="rect">
            <a:avLst/>
          </a:prstGeom>
        </p:spPr>
      </p:pic>
      <p:sp>
        <p:nvSpPr>
          <p:cNvPr id="10" name="Headline"/>
          <p:cNvSpPr txBox="1"/>
          <p:nvPr/>
        </p:nvSpPr>
        <p:spPr>
          <a:xfrm>
            <a:off x="1104900" y="6160294"/>
            <a:ext cx="6146505" cy="936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265"/>
              </a:lnSpc>
              <a:spcBef>
                <a:spcPts val="0"/>
              </a:spcBef>
              <a:spcAft>
                <a:spcPts val="0"/>
              </a:spcAft>
            </a:pPr>
            <a:r>
              <a:rPr b="0" sz="5850" i="0" spc="-87">
                <a:solidFill>
                  <a:srgbClr val="362CFF"/>
                </a:solidFill>
                <a:latin typeface="Archivo Black"/>
              </a:rPr>
              <a:t>RESIDENTIAL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104900" y="6914712"/>
            <a:ext cx="5318028" cy="5856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b="0" sz="2700" i="0" spc="-13">
                <a:solidFill>
                  <a:srgbClr val="362CFF"/>
                </a:solidFill>
                <a:latin typeface="Archivo Medium"/>
              </a:rPr>
              <a:t>Keep the house in good shape.</a:t>
            </a:r>
          </a:p>
        </p:txBody>
      </p:sp>
      <p:sp>
        <p:nvSpPr>
          <p:cNvPr id="12" name="Box"/>
          <p:cNvSpPr/>
          <p:nvPr/>
        </p:nvSpPr>
        <p:spPr>
          <a:xfrm>
            <a:off x="685800" y="7943850"/>
            <a:ext cx="8915400" cy="4305300"/>
          </a:xfrm>
          <a:prstGeom prst="roundRect">
            <a:avLst>
              <a:gd name="adj" fmla="val 4867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Box frame"/>
          <p:cNvSpPr/>
          <p:nvPr/>
        </p:nvSpPr>
        <p:spPr>
          <a:xfrm>
            <a:off x="704850" y="7962900"/>
            <a:ext cx="8877300" cy="4267200"/>
          </a:xfrm>
          <a:prstGeom prst="roundRect">
            <a:avLst>
              <a:gd name="adj" fmla="val 4910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1104900" y="8282864"/>
            <a:ext cx="416723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02</a:t>
            </a:r>
          </a:p>
        </p:txBody>
      </p:sp>
      <p:pic>
        <p:nvPicPr>
          <p:cNvPr id="15" name="Graphic" descr="logo-93b2db2f304aba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9040" y="8305822"/>
            <a:ext cx="863060" cy="1047706"/>
          </a:xfrm>
          <a:prstGeom prst="rect">
            <a:avLst/>
          </a:prstGeom>
        </p:spPr>
      </p:pic>
      <p:sp>
        <p:nvSpPr>
          <p:cNvPr id="16" name="Headline"/>
          <p:cNvSpPr txBox="1"/>
          <p:nvPr/>
        </p:nvSpPr>
        <p:spPr>
          <a:xfrm>
            <a:off x="1104900" y="10694194"/>
            <a:ext cx="6314633" cy="936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265"/>
              </a:lnSpc>
              <a:spcBef>
                <a:spcPts val="0"/>
              </a:spcBef>
              <a:spcAft>
                <a:spcPts val="0"/>
              </a:spcAft>
            </a:pPr>
            <a:r>
              <a:rPr b="0" sz="5850" i="0" spc="-87">
                <a:solidFill>
                  <a:srgbClr val="362CFF"/>
                </a:solidFill>
                <a:latin typeface="Archivo Black"/>
              </a:rPr>
              <a:t>COMMERCIAL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104900" y="11448612"/>
            <a:ext cx="6692067" cy="5856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b="0" sz="2700" i="0" spc="-13">
                <a:solidFill>
                  <a:srgbClr val="362CFF"/>
                </a:solidFill>
                <a:latin typeface="Archivo Medium"/>
              </a:rPr>
              <a:t>For spaces that keep business moving.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5b6b764610415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57260"/>
            <a:ext cx="2241994" cy="53338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8581549" y="977189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06 / 06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914400" y="2510790"/>
            <a:ext cx="7031416" cy="2468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100"/>
              </a:lnSpc>
              <a:spcBef>
                <a:spcPts val="0"/>
              </a:spcBef>
              <a:spcAft>
                <a:spcPts val="0"/>
              </a:spcAft>
            </a:pPr>
            <a:r>
              <a:rPr b="0" sz="9000" i="0" spc="-135">
                <a:solidFill>
                  <a:srgbClr val="171726"/>
                </a:solidFill>
                <a:latin typeface="Archivo Black"/>
              </a:rPr>
              <a:t>LET’S GET</a:t>
            </a:r>
          </a:p>
          <a:p>
            <a:pPr algn="l">
              <a:lnSpc>
                <a:spcPts val="8100"/>
              </a:lnSpc>
              <a:spcBef>
                <a:spcPts val="0"/>
              </a:spcBef>
              <a:spcAft>
                <a:spcPts val="0"/>
              </a:spcAft>
            </a:pPr>
            <a:r>
              <a:rPr b="0" sz="9000" i="0" spc="-135">
                <a:solidFill>
                  <a:srgbClr val="171726"/>
                </a:solidFill>
                <a:latin typeface="Archivo Black"/>
              </a:rPr>
              <a:t>TO</a:t>
            </a:r>
          </a:p>
        </p:txBody>
      </p:sp>
      <p:pic>
        <p:nvPicPr>
          <p:cNvPr id="7" name="Graphic" descr="logo-60061acf6db2a1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438659"/>
            <a:ext cx="6099143" cy="1809732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914400" y="6667119"/>
            <a:ext cx="4776277" cy="1580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59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15">
                <a:solidFill>
                  <a:srgbClr val="362CFF"/>
                </a:solidFill>
                <a:latin typeface="Archivo Medium"/>
              </a:rPr>
              <a:t>A few quick details are enough to get started. We’ll take it from there.</a:t>
            </a:r>
          </a:p>
        </p:txBody>
      </p:sp>
      <p:sp>
        <p:nvSpPr>
          <p:cNvPr id="9" name="Box"/>
          <p:cNvSpPr/>
          <p:nvPr/>
        </p:nvSpPr>
        <p:spPr>
          <a:xfrm>
            <a:off x="914400" y="8519065"/>
            <a:ext cx="3526060" cy="704850"/>
          </a:xfrm>
          <a:prstGeom prst="roundRect">
            <a:avLst>
              <a:gd name="adj" fmla="val 50000"/>
            </a:avLst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1134128" y="8738140"/>
            <a:ext cx="3086603" cy="4000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i="0">
                <a:solidFill>
                  <a:srgbClr val="ECE9E0"/>
                </a:solidFill>
                <a:latin typeface="Archivo"/>
              </a:rPr>
              <a:t>Get a clear estimate</a:t>
            </a:r>
          </a:p>
        </p:txBody>
      </p:sp>
      <p:sp>
        <p:nvSpPr>
          <p:cNvPr id="11" name="Box frame"/>
          <p:cNvSpPr/>
          <p:nvPr/>
        </p:nvSpPr>
        <p:spPr>
          <a:xfrm>
            <a:off x="4721447" y="8728615"/>
            <a:ext cx="1222343" cy="285750"/>
          </a:xfrm>
          <a:prstGeom prst="roundRect">
            <a:avLst>
              <a:gd name="adj" fmla="val 33333"/>
            </a:avLst>
          </a:prstGeom>
          <a:noFill/>
          <a:ln w="28575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4869085" y="8767820"/>
            <a:ext cx="1114516" cy="2731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b="1" sz="1260" i="1" spc="50">
                <a:solidFill>
                  <a:srgbClr val="362CFF"/>
                </a:solidFill>
                <a:latin typeface="Archivo"/>
              </a:rPr>
              <a:t>[TBC: URL]</a:t>
            </a:r>
          </a:p>
        </p:txBody>
      </p:sp>
      <p:pic>
        <p:nvPicPr>
          <p:cNvPr id="13" name="Graphic" descr="logo-9f30090927be90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8156" y="9223943"/>
            <a:ext cx="3554444" cy="34289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