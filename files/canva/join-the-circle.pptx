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join-the-circle/01-cover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join-the-circle/02-keep-working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join-the-circle/03-how-it-works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join-the-circle/04-good-word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join-the-circle/05-join-now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236345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914400" y="834314"/>
            <a:ext cx="1494191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THE CLUB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8581549" y="834314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01 / 05</a:t>
            </a:r>
          </a:p>
        </p:txBody>
      </p:sp>
      <p:pic>
        <p:nvPicPr>
          <p:cNvPr id="6" name="Graphic" descr="logo-4e915db6de3cf8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95419"/>
            <a:ext cx="3878199" cy="1809711"/>
          </a:xfrm>
          <a:prstGeom prst="rect">
            <a:avLst/>
          </a:prstGeom>
        </p:spPr>
      </p:pic>
      <p:pic>
        <p:nvPicPr>
          <p:cNvPr id="7" name="Graphic" descr="logo-335051f01834bec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3390909"/>
            <a:ext cx="7048500" cy="3778454"/>
          </a:xfrm>
          <a:prstGeom prst="rect">
            <a:avLst/>
          </a:prstGeom>
        </p:spPr>
      </p:pic>
      <p:pic>
        <p:nvPicPr>
          <p:cNvPr id="8" name="Graphic" descr="logo-502bde05cc8db1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3134" y="8324850"/>
            <a:ext cx="3619432" cy="3592735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914400" y="9931870"/>
            <a:ext cx="5504071" cy="1227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26"/>
              </a:lnSpc>
              <a:spcBef>
                <a:spcPts val="0"/>
              </a:spcBef>
              <a:spcAft>
                <a:spcPts val="0"/>
              </a:spcAft>
            </a:pPr>
            <a:r>
              <a:rPr b="0" sz="3300" i="0" spc="-16">
                <a:solidFill>
                  <a:srgbClr val="171726"/>
                </a:solidFill>
                <a:latin typeface="Archivo Medium"/>
              </a:rPr>
              <a:t>Good work should keep working for you.</a:t>
            </a:r>
          </a:p>
        </p:txBody>
      </p:sp>
      <p:sp>
        <p:nvSpPr>
          <p:cNvPr id="10" name="Box"/>
          <p:cNvSpPr/>
          <p:nvPr/>
        </p:nvSpPr>
        <p:spPr>
          <a:xfrm>
            <a:off x="914400" y="11296650"/>
            <a:ext cx="3403378" cy="704850"/>
          </a:xfrm>
          <a:prstGeom prst="roundRect">
            <a:avLst>
              <a:gd name="adj" fmla="val 50000"/>
            </a:avLst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"/>
          <p:cNvSpPr txBox="1"/>
          <p:nvPr/>
        </p:nvSpPr>
        <p:spPr>
          <a:xfrm>
            <a:off x="1141489" y="11515725"/>
            <a:ext cx="2949199" cy="4000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i="0">
                <a:solidFill>
                  <a:srgbClr val="ECE9E0"/>
                </a:solidFill>
                <a:latin typeface="Archivo"/>
              </a:rPr>
              <a:t>Refer a neighbor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685800" y="643814"/>
            <a:ext cx="1494191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THE CLUB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8810149" y="643814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02 / 05</a:t>
            </a:r>
          </a:p>
        </p:txBody>
      </p:sp>
      <p:sp>
        <p:nvSpPr>
          <p:cNvPr id="5" name="Headline"/>
          <p:cNvSpPr txBox="1"/>
          <p:nvPr/>
        </p:nvSpPr>
        <p:spPr>
          <a:xfrm>
            <a:off x="685800" y="1545336"/>
            <a:ext cx="9272016" cy="40736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290"/>
              </a:lnSpc>
              <a:spcBef>
                <a:spcPts val="0"/>
              </a:spcBef>
              <a:spcAft>
                <a:spcPts val="0"/>
              </a:spcAft>
            </a:pPr>
            <a:r>
              <a:rPr b="0" sz="8100" i="0" spc="-121">
                <a:solidFill>
                  <a:srgbClr val="ECE9E0"/>
                </a:solidFill>
                <a:latin typeface="Archivo Black"/>
              </a:rPr>
              <a:t>GOOD WORK</a:t>
            </a:r>
          </a:p>
          <a:p>
            <a:pPr algn="l">
              <a:lnSpc>
                <a:spcPts val="7290"/>
              </a:lnSpc>
              <a:spcBef>
                <a:spcPts val="0"/>
              </a:spcBef>
              <a:spcAft>
                <a:spcPts val="0"/>
              </a:spcAft>
            </a:pPr>
            <a:r>
              <a:rPr b="0" sz="8100" i="0" spc="-121">
                <a:solidFill>
                  <a:srgbClr val="ECE9E0"/>
                </a:solidFill>
                <a:latin typeface="Archivo Black"/>
              </a:rPr>
              <a:t>SHOULD KEEP</a:t>
            </a:r>
          </a:p>
          <a:p>
            <a:pPr algn="l">
              <a:lnSpc>
                <a:spcPts val="7290"/>
              </a:lnSpc>
              <a:spcBef>
                <a:spcPts val="0"/>
              </a:spcBef>
              <a:spcAft>
                <a:spcPts val="0"/>
              </a:spcAft>
            </a:pPr>
            <a:r>
              <a:rPr b="0" sz="8100" i="0" spc="-121">
                <a:solidFill>
                  <a:srgbClr val="ECE9E0"/>
                </a:solidFill>
                <a:latin typeface="Archivo Black"/>
              </a:rPr>
              <a:t>WORKING FOR YOU.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685800" y="5550313"/>
            <a:ext cx="5913387" cy="15803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59"/>
              </a:lnSpc>
              <a:spcBef>
                <a:spcPts val="0"/>
              </a:spcBef>
              <a:spcAft>
                <a:spcPts val="0"/>
              </a:spcAft>
            </a:pPr>
            <a:r>
              <a:rPr b="0" sz="3000" i="0" spc="-15">
                <a:solidFill>
                  <a:srgbClr val="ECE9E0"/>
                </a:solidFill>
                <a:latin typeface="Archivo Medium"/>
              </a:rPr>
              <a:t>Refer good people, earn Cosmic Credit, get member perks, and keep your property looked after.</a:t>
            </a:r>
          </a:p>
        </p:txBody>
      </p:sp>
      <p:pic>
        <p:nvPicPr>
          <p:cNvPr id="7" name="Graphic" descr="logo-4b272c72a57ff0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64" y="9261158"/>
            <a:ext cx="2952622" cy="2930842"/>
          </a:xfrm>
          <a:prstGeom prst="rect">
            <a:avLst/>
          </a:prstGeom>
        </p:spPr>
      </p:pic>
      <p:pic>
        <p:nvPicPr>
          <p:cNvPr id="8" name="Graphic" descr="logo-733810e29e222c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788" y="9048750"/>
            <a:ext cx="3300412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236345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914400" y="834314"/>
            <a:ext cx="1494191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THE CLUB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8581549" y="834314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03 / 05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914400" y="1637157"/>
            <a:ext cx="5826892" cy="1975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480"/>
              </a:lnSpc>
              <a:spcBef>
                <a:spcPts val="0"/>
              </a:spcBef>
              <a:spcAft>
                <a:spcPts val="0"/>
              </a:spcAft>
            </a:pPr>
            <a:r>
              <a:rPr b="0" sz="7200" i="0" spc="-108">
                <a:solidFill>
                  <a:srgbClr val="171726"/>
                </a:solidFill>
                <a:latin typeface="Archivo Black"/>
              </a:rPr>
              <a:t>HOW</a:t>
            </a:r>
          </a:p>
          <a:p>
            <a:pPr algn="l">
              <a:lnSpc>
                <a:spcPts val="6480"/>
              </a:lnSpc>
              <a:spcBef>
                <a:spcPts val="0"/>
              </a:spcBef>
              <a:spcAft>
                <a:spcPts val="0"/>
              </a:spcAft>
            </a:pPr>
            <a:r>
              <a:rPr b="0" sz="7200" i="0" spc="-108">
                <a:solidFill>
                  <a:srgbClr val="171726"/>
                </a:solidFill>
                <a:latin typeface="Archivo Black"/>
              </a:rPr>
              <a:t>IT</a:t>
            </a:r>
            <a:r>
              <a:rPr b="0" sz="7200" i="0" spc="-108">
                <a:solidFill>
                  <a:srgbClr val="362CFF"/>
                </a:solidFill>
                <a:latin typeface="Archivo Black"/>
              </a:rPr>
              <a:t> WORKS.</a:t>
            </a:r>
          </a:p>
        </p:txBody>
      </p:sp>
      <p:sp>
        <p:nvSpPr>
          <p:cNvPr id="7" name="Box"/>
          <p:cNvSpPr/>
          <p:nvPr/>
        </p:nvSpPr>
        <p:spPr>
          <a:xfrm>
            <a:off x="914400" y="3703129"/>
            <a:ext cx="8458200" cy="1981200"/>
          </a:xfrm>
          <a:prstGeom prst="roundRect">
            <a:avLst>
              <a:gd name="adj" fmla="val 8653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ox frame"/>
          <p:cNvSpPr/>
          <p:nvPr/>
        </p:nvSpPr>
        <p:spPr>
          <a:xfrm>
            <a:off x="933450" y="3722179"/>
            <a:ext cx="8420100" cy="1943100"/>
          </a:xfrm>
          <a:prstGeom prst="roundRect">
            <a:avLst>
              <a:gd name="adj" fmla="val 8823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Graphic" descr="logo-a6e6450a16cb9c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14" y="4229957"/>
            <a:ext cx="1142972" cy="927354"/>
          </a:xfrm>
          <a:prstGeom prst="rect">
            <a:avLst/>
          </a:prstGeom>
        </p:spPr>
      </p:pic>
      <p:sp>
        <p:nvSpPr>
          <p:cNvPr id="10" name="Text"/>
          <p:cNvSpPr txBox="1"/>
          <p:nvPr/>
        </p:nvSpPr>
        <p:spPr>
          <a:xfrm>
            <a:off x="2762250" y="4284059"/>
            <a:ext cx="5700370" cy="600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75"/>
              </a:lnSpc>
              <a:spcBef>
                <a:spcPts val="0"/>
              </a:spcBef>
              <a:spcAft>
                <a:spcPts val="0"/>
              </a:spcAft>
            </a:pPr>
            <a:r>
              <a:rPr b="0" sz="3750" i="0" spc="-56">
                <a:solidFill>
                  <a:srgbClr val="362CFF"/>
                </a:solidFill>
                <a:latin typeface="Archivo Black"/>
              </a:rPr>
              <a:t>REFER A NEIGHBOR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2762250" y="4748574"/>
            <a:ext cx="6032998" cy="520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b="0" sz="2400" i="0" spc="-12">
                <a:solidFill>
                  <a:srgbClr val="171726"/>
                </a:solidFill>
                <a:latin typeface="Archivo Medium"/>
              </a:rPr>
              <a:t>Know someone who needs good work?</a:t>
            </a:r>
          </a:p>
        </p:txBody>
      </p:sp>
      <p:sp>
        <p:nvSpPr>
          <p:cNvPr id="12" name="Box"/>
          <p:cNvSpPr/>
          <p:nvPr/>
        </p:nvSpPr>
        <p:spPr>
          <a:xfrm>
            <a:off x="914400" y="5912930"/>
            <a:ext cx="8458200" cy="1981200"/>
          </a:xfrm>
          <a:prstGeom prst="roundRect">
            <a:avLst>
              <a:gd name="adj" fmla="val 8653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Box frame"/>
          <p:cNvSpPr/>
          <p:nvPr/>
        </p:nvSpPr>
        <p:spPr>
          <a:xfrm>
            <a:off x="933450" y="5931980"/>
            <a:ext cx="8420100" cy="1943100"/>
          </a:xfrm>
          <a:prstGeom prst="roundRect">
            <a:avLst>
              <a:gd name="adj" fmla="val 8823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Graphic" descr="logo-7d0e27adb72f80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837" y="6386322"/>
            <a:ext cx="1085936" cy="1034224"/>
          </a:xfrm>
          <a:prstGeom prst="rect">
            <a:avLst/>
          </a:prstGeom>
        </p:spPr>
      </p:pic>
      <p:sp>
        <p:nvSpPr>
          <p:cNvPr id="15" name="Text"/>
          <p:cNvSpPr txBox="1"/>
          <p:nvPr/>
        </p:nvSpPr>
        <p:spPr>
          <a:xfrm>
            <a:off x="2762250" y="6473285"/>
            <a:ext cx="6370320" cy="600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75"/>
              </a:lnSpc>
              <a:spcBef>
                <a:spcPts val="0"/>
              </a:spcBef>
              <a:spcAft>
                <a:spcPts val="0"/>
              </a:spcAft>
            </a:pPr>
            <a:r>
              <a:rPr b="0" sz="3750" i="0" spc="-56">
                <a:solidFill>
                  <a:srgbClr val="362CFF"/>
                </a:solidFill>
                <a:latin typeface="Archivo Black"/>
              </a:rPr>
              <a:t>EARN COSMIC CREDIT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2762250" y="6937800"/>
            <a:ext cx="1928805" cy="520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b="0" sz="2400" i="0" spc="-12">
                <a:solidFill>
                  <a:srgbClr val="171726"/>
                </a:solidFill>
                <a:latin typeface="Archivo Medium"/>
              </a:rPr>
              <a:t>Credit worth</a:t>
            </a:r>
          </a:p>
        </p:txBody>
      </p:sp>
      <p:sp>
        <p:nvSpPr>
          <p:cNvPr id="17" name="Box frame"/>
          <p:cNvSpPr/>
          <p:nvPr/>
        </p:nvSpPr>
        <p:spPr>
          <a:xfrm>
            <a:off x="4491609" y="6982873"/>
            <a:ext cx="1843659" cy="365093"/>
          </a:xfrm>
          <a:prstGeom prst="roundRect">
            <a:avLst>
              <a:gd name="adj" fmla="val 26089"/>
            </a:avLst>
          </a:prstGeom>
          <a:noFill/>
          <a:ln w="28575">
            <a:solidFill>
              <a:srgbClr val="1717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"/>
          <p:cNvSpPr txBox="1"/>
          <p:nvPr/>
        </p:nvSpPr>
        <p:spPr>
          <a:xfrm>
            <a:off x="4639246" y="7027031"/>
            <a:ext cx="1810390" cy="36444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49"/>
              </a:lnSpc>
              <a:spcBef>
                <a:spcPts val="0"/>
              </a:spcBef>
              <a:spcAft>
                <a:spcPts val="0"/>
              </a:spcAft>
            </a:pPr>
            <a:r>
              <a:rPr b="1" sz="1679" i="0" spc="67">
                <a:solidFill>
                  <a:srgbClr val="171726"/>
                </a:solidFill>
                <a:latin typeface="Archivo"/>
              </a:rPr>
              <a:t>[TBC: OFFER]</a:t>
            </a:r>
          </a:p>
        </p:txBody>
      </p:sp>
      <p:sp>
        <p:nvSpPr>
          <p:cNvPr id="19" name="Box"/>
          <p:cNvSpPr/>
          <p:nvPr/>
        </p:nvSpPr>
        <p:spPr>
          <a:xfrm>
            <a:off x="914400" y="8122730"/>
            <a:ext cx="8458200" cy="1981200"/>
          </a:xfrm>
          <a:prstGeom prst="roundRect">
            <a:avLst>
              <a:gd name="adj" fmla="val 8653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Box frame"/>
          <p:cNvSpPr/>
          <p:nvPr/>
        </p:nvSpPr>
        <p:spPr>
          <a:xfrm>
            <a:off x="933450" y="8141780"/>
            <a:ext cx="8420100" cy="1943100"/>
          </a:xfrm>
          <a:prstGeom prst="roundRect">
            <a:avLst>
              <a:gd name="adj" fmla="val 8823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Graphic" descr="logo-7e2f1a1d8e45ecb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8982" y="8660797"/>
            <a:ext cx="815835" cy="905161"/>
          </a:xfrm>
          <a:prstGeom prst="rect">
            <a:avLst/>
          </a:prstGeom>
        </p:spPr>
      </p:pic>
      <p:sp>
        <p:nvSpPr>
          <p:cNvPr id="22" name="Text"/>
          <p:cNvSpPr txBox="1"/>
          <p:nvPr/>
        </p:nvSpPr>
        <p:spPr>
          <a:xfrm>
            <a:off x="2762250" y="8683085"/>
            <a:ext cx="6006648" cy="600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75"/>
              </a:lnSpc>
              <a:spcBef>
                <a:spcPts val="0"/>
              </a:spcBef>
              <a:spcAft>
                <a:spcPts val="0"/>
              </a:spcAft>
            </a:pPr>
            <a:r>
              <a:rPr b="0" sz="3750" i="0" spc="-56">
                <a:solidFill>
                  <a:srgbClr val="362CFF"/>
                </a:solidFill>
                <a:latin typeface="Archivo Black"/>
              </a:rPr>
              <a:t>GET MEMBER PERKS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2762250" y="9147600"/>
            <a:ext cx="2127976" cy="520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b="0" sz="2400" i="0" spc="-12">
                <a:solidFill>
                  <a:srgbClr val="171726"/>
                </a:solidFill>
                <a:latin typeface="Archivo Medium"/>
              </a:rPr>
              <a:t>Perks include</a:t>
            </a:r>
          </a:p>
        </p:txBody>
      </p:sp>
      <p:sp>
        <p:nvSpPr>
          <p:cNvPr id="24" name="Box frame"/>
          <p:cNvSpPr/>
          <p:nvPr/>
        </p:nvSpPr>
        <p:spPr>
          <a:xfrm>
            <a:off x="4669346" y="9192673"/>
            <a:ext cx="1843659" cy="365093"/>
          </a:xfrm>
          <a:prstGeom prst="roundRect">
            <a:avLst>
              <a:gd name="adj" fmla="val 26089"/>
            </a:avLst>
          </a:prstGeom>
          <a:noFill/>
          <a:ln w="28575">
            <a:solidFill>
              <a:srgbClr val="1717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"/>
          <p:cNvSpPr txBox="1"/>
          <p:nvPr/>
        </p:nvSpPr>
        <p:spPr>
          <a:xfrm>
            <a:off x="4816983" y="9236831"/>
            <a:ext cx="1810390" cy="36444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49"/>
              </a:lnSpc>
              <a:spcBef>
                <a:spcPts val="0"/>
              </a:spcBef>
              <a:spcAft>
                <a:spcPts val="0"/>
              </a:spcAft>
            </a:pPr>
            <a:r>
              <a:rPr b="1" sz="1679" i="0" spc="67">
                <a:solidFill>
                  <a:srgbClr val="171726"/>
                </a:solidFill>
                <a:latin typeface="Archivo"/>
              </a:rPr>
              <a:t>[TBC: OFFER]</a:t>
            </a:r>
          </a:p>
        </p:txBody>
      </p:sp>
      <p:sp>
        <p:nvSpPr>
          <p:cNvPr id="26" name="Box"/>
          <p:cNvSpPr/>
          <p:nvPr/>
        </p:nvSpPr>
        <p:spPr>
          <a:xfrm>
            <a:off x="914400" y="11296650"/>
            <a:ext cx="3403378" cy="704850"/>
          </a:xfrm>
          <a:prstGeom prst="roundRect">
            <a:avLst>
              <a:gd name="adj" fmla="val 50000"/>
            </a:avLst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"/>
          <p:cNvSpPr txBox="1"/>
          <p:nvPr/>
        </p:nvSpPr>
        <p:spPr>
          <a:xfrm>
            <a:off x="1141489" y="11515725"/>
            <a:ext cx="2949199" cy="4000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i="0">
                <a:solidFill>
                  <a:srgbClr val="ECE9E0"/>
                </a:solidFill>
                <a:latin typeface="Archivo"/>
              </a:rPr>
              <a:t>Refer a neighbor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685800" y="643814"/>
            <a:ext cx="1494191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THE CLUB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8809863" y="643814"/>
            <a:ext cx="96249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04 / 05</a:t>
            </a:r>
          </a:p>
        </p:txBody>
      </p:sp>
      <p:pic>
        <p:nvPicPr>
          <p:cNvPr id="5" name="Graphic" descr="logo-0604e77db22bd2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1" y="1390650"/>
            <a:ext cx="916494" cy="914400"/>
          </a:xfrm>
          <a:prstGeom prst="rect">
            <a:avLst/>
          </a:prstGeom>
        </p:spPr>
      </p:pic>
      <p:pic>
        <p:nvPicPr>
          <p:cNvPr id="6" name="Graphic" descr="logo-0604e77db22bd2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696" y="1390650"/>
            <a:ext cx="916494" cy="914400"/>
          </a:xfrm>
          <a:prstGeom prst="rect">
            <a:avLst/>
          </a:prstGeom>
        </p:spPr>
      </p:pic>
      <p:pic>
        <p:nvPicPr>
          <p:cNvPr id="7" name="Graphic" descr="logo-0604e77db22bd2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592" y="1390650"/>
            <a:ext cx="916494" cy="914400"/>
          </a:xfrm>
          <a:prstGeom prst="rect">
            <a:avLst/>
          </a:prstGeom>
        </p:spPr>
      </p:pic>
      <p:pic>
        <p:nvPicPr>
          <p:cNvPr id="8" name="Graphic" descr="logo-0604e77db22bd2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2487" y="1390650"/>
            <a:ext cx="916494" cy="914400"/>
          </a:xfrm>
          <a:prstGeom prst="rect">
            <a:avLst/>
          </a:prstGeom>
        </p:spPr>
      </p:pic>
      <p:pic>
        <p:nvPicPr>
          <p:cNvPr id="9" name="Graphic" descr="logo-0604e77db22bd2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383" y="1390650"/>
            <a:ext cx="916494" cy="914400"/>
          </a:xfrm>
          <a:prstGeom prst="rect">
            <a:avLst/>
          </a:prstGeom>
        </p:spPr>
      </p:pic>
      <p:sp>
        <p:nvSpPr>
          <p:cNvPr id="10" name="Headline"/>
          <p:cNvSpPr txBox="1"/>
          <p:nvPr/>
        </p:nvSpPr>
        <p:spPr>
          <a:xfrm>
            <a:off x="685800" y="2910840"/>
            <a:ext cx="9272016" cy="4526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100"/>
              </a:lnSpc>
              <a:spcBef>
                <a:spcPts val="0"/>
              </a:spcBef>
              <a:spcAft>
                <a:spcPts val="0"/>
              </a:spcAft>
            </a:pPr>
            <a:r>
              <a:rPr b="0" sz="9000" i="0" spc="-135">
                <a:solidFill>
                  <a:srgbClr val="ECE9E0"/>
                </a:solidFill>
                <a:latin typeface="Archivo Black"/>
              </a:rPr>
              <a:t>GOOD WORK</a:t>
            </a:r>
          </a:p>
          <a:p>
            <a:pPr algn="l">
              <a:lnSpc>
                <a:spcPts val="8100"/>
              </a:lnSpc>
              <a:spcBef>
                <a:spcPts val="0"/>
              </a:spcBef>
              <a:spcAft>
                <a:spcPts val="0"/>
              </a:spcAft>
            </a:pPr>
            <a:r>
              <a:rPr b="0" sz="9000" i="0" spc="-135">
                <a:solidFill>
                  <a:srgbClr val="ECE9E0"/>
                </a:solidFill>
                <a:latin typeface="Archivo Black"/>
              </a:rPr>
              <a:t>DESERVES</a:t>
            </a:r>
          </a:p>
          <a:p>
            <a:pPr algn="l">
              <a:lnSpc>
                <a:spcPts val="8100"/>
              </a:lnSpc>
              <a:spcBef>
                <a:spcPts val="0"/>
              </a:spcBef>
              <a:spcAft>
                <a:spcPts val="0"/>
              </a:spcAft>
            </a:pPr>
            <a:r>
              <a:rPr b="0" sz="9000" i="0" spc="-135">
                <a:solidFill>
                  <a:srgbClr val="ECE9E0"/>
                </a:solidFill>
                <a:latin typeface="Archivo Black"/>
              </a:rPr>
              <a:t>A GOOD WORD.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85800" y="7314819"/>
            <a:ext cx="5458503" cy="11155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59"/>
              </a:lnSpc>
              <a:spcBef>
                <a:spcPts val="0"/>
              </a:spcBef>
              <a:spcAft>
                <a:spcPts val="0"/>
              </a:spcAft>
            </a:pPr>
            <a:r>
              <a:rPr b="0" sz="3000" i="0" spc="-15">
                <a:solidFill>
                  <a:srgbClr val="ECE9E0"/>
                </a:solidFill>
                <a:latin typeface="Archivo Medium"/>
              </a:rPr>
              <a:t>If we've worked together, tell Austin how it went.</a:t>
            </a:r>
          </a:p>
        </p:txBody>
      </p:sp>
      <p:sp>
        <p:nvSpPr>
          <p:cNvPr id="12" name="Box"/>
          <p:cNvSpPr/>
          <p:nvPr/>
        </p:nvSpPr>
        <p:spPr>
          <a:xfrm>
            <a:off x="685800" y="11487150"/>
            <a:ext cx="2840831" cy="704850"/>
          </a:xfrm>
          <a:prstGeom prst="roundRect">
            <a:avLst>
              <a:gd name="adj" fmla="val 50000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"/>
          <p:cNvSpPr txBox="1"/>
          <p:nvPr/>
        </p:nvSpPr>
        <p:spPr>
          <a:xfrm>
            <a:off x="946642" y="11706225"/>
            <a:ext cx="2319147" cy="4000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i="0">
                <a:solidFill>
                  <a:srgbClr val="362CFF"/>
                </a:solidFill>
                <a:latin typeface="Archivo"/>
              </a:rPr>
              <a:t>Leave a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236345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914400" y="834314"/>
            <a:ext cx="1494191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THE CLUB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8581549" y="834314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05 / 05</a:t>
            </a:r>
          </a:p>
        </p:txBody>
      </p:sp>
      <p:pic>
        <p:nvPicPr>
          <p:cNvPr id="6" name="Graphic" descr="logo-6c516216d37c3bc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90690"/>
            <a:ext cx="5919311" cy="276217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914400" y="4285869"/>
            <a:ext cx="9535089" cy="15841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910"/>
              </a:lnSpc>
              <a:spcBef>
                <a:spcPts val="0"/>
              </a:spcBef>
              <a:spcAft>
                <a:spcPts val="0"/>
              </a:spcAft>
            </a:pPr>
            <a:r>
              <a:rPr b="0" sz="9900" i="0" spc="-148">
                <a:solidFill>
                  <a:srgbClr val="362CFF"/>
                </a:solidFill>
                <a:latin typeface="Archivo Black"/>
              </a:rPr>
              <a:t>THE CIRCLE.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914400" y="5646039"/>
            <a:ext cx="5458503" cy="15803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59"/>
              </a:lnSpc>
              <a:spcBef>
                <a:spcPts val="0"/>
              </a:spcBef>
              <a:spcAft>
                <a:spcPts val="0"/>
              </a:spcAft>
            </a:pPr>
            <a:r>
              <a:rPr b="0" sz="3000" i="0" spc="-15">
                <a:solidFill>
                  <a:srgbClr val="171726"/>
                </a:solidFill>
                <a:latin typeface="Archivo Medium"/>
              </a:rPr>
              <a:t>Refer good people. Earn Cosmic Credit. Get member perks.</a:t>
            </a:r>
          </a:p>
        </p:txBody>
      </p:sp>
      <p:sp>
        <p:nvSpPr>
          <p:cNvPr id="9" name="Box"/>
          <p:cNvSpPr/>
          <p:nvPr/>
        </p:nvSpPr>
        <p:spPr>
          <a:xfrm>
            <a:off x="914400" y="7440835"/>
            <a:ext cx="3403378" cy="704850"/>
          </a:xfrm>
          <a:prstGeom prst="roundRect">
            <a:avLst>
              <a:gd name="adj" fmla="val 50000"/>
            </a:avLst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1141489" y="7659910"/>
            <a:ext cx="2949199" cy="4000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i="0">
                <a:solidFill>
                  <a:srgbClr val="ECE9E0"/>
                </a:solidFill>
                <a:latin typeface="Archivo"/>
              </a:rPr>
              <a:t>Refer a neighbor →</a:t>
            </a:r>
          </a:p>
        </p:txBody>
      </p:sp>
      <p:sp>
        <p:nvSpPr>
          <p:cNvPr id="11" name="Box frame"/>
          <p:cNvSpPr/>
          <p:nvPr/>
        </p:nvSpPr>
        <p:spPr>
          <a:xfrm>
            <a:off x="4565428" y="7459885"/>
            <a:ext cx="1769554" cy="64770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1717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"/>
          <p:cNvSpPr txBox="1"/>
          <p:nvPr/>
        </p:nvSpPr>
        <p:spPr>
          <a:xfrm>
            <a:off x="4908328" y="7656100"/>
            <a:ext cx="1290005" cy="3733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b="0" sz="2100" i="0">
                <a:solidFill>
                  <a:srgbClr val="171726"/>
                </a:solidFill>
                <a:latin typeface="Archivo Medium"/>
              </a:rPr>
              <a:t>Join now</a:t>
            </a:r>
          </a:p>
        </p:txBody>
      </p:sp>
      <p:pic>
        <p:nvPicPr>
          <p:cNvPr id="13" name="Graphic" descr="logo-fea0508d09de17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90" y="5962650"/>
            <a:ext cx="2571669" cy="2552700"/>
          </a:xfrm>
          <a:prstGeom prst="rect">
            <a:avLst/>
          </a:prstGeom>
        </p:spPr>
      </p:pic>
      <p:sp>
        <p:nvSpPr>
          <p:cNvPr id="14" name="Text"/>
          <p:cNvSpPr txBox="1"/>
          <p:nvPr/>
        </p:nvSpPr>
        <p:spPr>
          <a:xfrm>
            <a:off x="914400" y="11207039"/>
            <a:ext cx="2277648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CREDIT WORTH</a:t>
            </a:r>
          </a:p>
        </p:txBody>
      </p:sp>
      <p:sp>
        <p:nvSpPr>
          <p:cNvPr id="15" name="Box frame"/>
          <p:cNvSpPr/>
          <p:nvPr/>
        </p:nvSpPr>
        <p:spPr>
          <a:xfrm>
            <a:off x="2946463" y="11234738"/>
            <a:ext cx="1455992" cy="285750"/>
          </a:xfrm>
          <a:prstGeom prst="roundRect">
            <a:avLst>
              <a:gd name="adj" fmla="val 33333"/>
            </a:avLst>
          </a:prstGeom>
          <a:noFill/>
          <a:ln w="28575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"/>
          <p:cNvSpPr txBox="1"/>
          <p:nvPr/>
        </p:nvSpPr>
        <p:spPr>
          <a:xfrm>
            <a:off x="3094101" y="11273942"/>
            <a:ext cx="1376202" cy="27310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6"/>
              </a:lnSpc>
              <a:spcBef>
                <a:spcPts val="0"/>
              </a:spcBef>
              <a:spcAft>
                <a:spcPts val="0"/>
              </a:spcAft>
            </a:pPr>
            <a:r>
              <a:rPr b="1" sz="1260" i="1" spc="50">
                <a:solidFill>
                  <a:srgbClr val="362CFF"/>
                </a:solidFill>
                <a:latin typeface="Archivo"/>
              </a:rPr>
              <a:t>[TBC: OFFER]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914400" y="11673764"/>
            <a:ext cx="1193460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JOIN AT</a:t>
            </a:r>
          </a:p>
        </p:txBody>
      </p:sp>
      <p:sp>
        <p:nvSpPr>
          <p:cNvPr id="18" name="Box frame"/>
          <p:cNvSpPr/>
          <p:nvPr/>
        </p:nvSpPr>
        <p:spPr>
          <a:xfrm>
            <a:off x="1978628" y="11701462"/>
            <a:ext cx="1222343" cy="285750"/>
          </a:xfrm>
          <a:prstGeom prst="roundRect">
            <a:avLst>
              <a:gd name="adj" fmla="val 33333"/>
            </a:avLst>
          </a:prstGeom>
          <a:noFill/>
          <a:ln w="28575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"/>
          <p:cNvSpPr txBox="1"/>
          <p:nvPr/>
        </p:nvSpPr>
        <p:spPr>
          <a:xfrm>
            <a:off x="2126266" y="11740667"/>
            <a:ext cx="1114516" cy="27310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6"/>
              </a:lnSpc>
              <a:spcBef>
                <a:spcPts val="0"/>
              </a:spcBef>
              <a:spcAft>
                <a:spcPts val="0"/>
              </a:spcAft>
            </a:pPr>
            <a:r>
              <a:rPr b="1" sz="1260" i="1" spc="50">
                <a:solidFill>
                  <a:srgbClr val="362CFF"/>
                </a:solidFill>
                <a:latin typeface="Archivo"/>
              </a:rPr>
              <a:t>[TBC: URL]</a:t>
            </a:r>
          </a:p>
        </p:txBody>
      </p:sp>
      <p:pic>
        <p:nvPicPr>
          <p:cNvPr id="20" name="Graphic" descr="logo-2a89f4d631e157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275" y="9525000"/>
            <a:ext cx="2600325" cy="2476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