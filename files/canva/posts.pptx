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posts/01-promise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posts/02-stats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posts/03-review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posts/04-kitchen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posts/05-built-for-austin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posts/06-all-over-austin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posts/07-good-word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posts/08-services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6450806" y="977189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81050" y="3554425"/>
            <a:ext cx="8200842" cy="28812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453"/>
              </a:lnSpc>
              <a:spcBef>
                <a:spcPts val="0"/>
              </a:spcBef>
              <a:spcAft>
                <a:spcPts val="0"/>
              </a:spcAft>
            </a:pPr>
            <a:r>
              <a:rPr b="0" sz="10275" i="0" spc="-154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l">
              <a:lnSpc>
                <a:spcPts val="9453"/>
              </a:lnSpc>
              <a:spcBef>
                <a:spcPts val="0"/>
              </a:spcBef>
              <a:spcAft>
                <a:spcPts val="0"/>
              </a:spcAft>
            </a:pPr>
            <a:r>
              <a:rPr b="0" sz="10275" i="0" spc="-154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81050" y="6343840"/>
            <a:ext cx="6371280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Property services. Done properly.</a:t>
            </a:r>
          </a:p>
        </p:txBody>
      </p:sp>
      <p:pic>
        <p:nvPicPr>
          <p:cNvPr id="8" name="Graphic" descr="logo-b2cf500f80f2ee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15" y="9620272"/>
            <a:ext cx="2640235" cy="2381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705916" y="977189"/>
            <a:ext cx="194288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WHY COSMIC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980057"/>
            <a:ext cx="8796528" cy="2798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A HIGHER STANDARD FOR EVERY SPACE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4811744"/>
            <a:ext cx="8458200" cy="2049685"/>
          </a:xfrm>
          <a:prstGeom prst="roundRect">
            <a:avLst>
              <a:gd name="adj" fmla="val 1022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x frame"/>
          <p:cNvSpPr/>
          <p:nvPr/>
        </p:nvSpPr>
        <p:spPr>
          <a:xfrm>
            <a:off x="933450" y="4830794"/>
            <a:ext cx="8420100" cy="2011585"/>
          </a:xfrm>
          <a:prstGeom prst="roundRect">
            <a:avLst>
              <a:gd name="adj" fmla="val 1041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333500" y="5397913"/>
            <a:ext cx="3350423" cy="1416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965"/>
              </a:lnSpc>
              <a:spcBef>
                <a:spcPts val="0"/>
              </a:spcBef>
              <a:spcAft>
                <a:spcPts val="0"/>
              </a:spcAft>
            </a:pPr>
            <a:r>
              <a:rPr b="0" sz="8850" i="0" spc="-132">
                <a:solidFill>
                  <a:srgbClr val="362CFF"/>
                </a:solidFill>
                <a:latin typeface="Archivo Black"/>
              </a:rPr>
              <a:t>500+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334000" y="5118449"/>
            <a:ext cx="3764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SPACES IMPROVED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334000" y="5866352"/>
            <a:ext cx="3764280" cy="836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Homes. Business. Everything in between.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7070979"/>
            <a:ext cx="8458200" cy="2049685"/>
          </a:xfrm>
          <a:prstGeom prst="roundRect">
            <a:avLst>
              <a:gd name="adj" fmla="val 1022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7090029"/>
            <a:ext cx="8420100" cy="2011585"/>
          </a:xfrm>
          <a:prstGeom prst="roundRect">
            <a:avLst>
              <a:gd name="adj" fmla="val 1041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333500" y="7657148"/>
            <a:ext cx="2957733" cy="1416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965"/>
              </a:lnSpc>
              <a:spcBef>
                <a:spcPts val="0"/>
              </a:spcBef>
              <a:spcAft>
                <a:spcPts val="0"/>
              </a:spcAft>
            </a:pPr>
            <a:r>
              <a:rPr b="0" sz="8850" i="0" spc="-132">
                <a:solidFill>
                  <a:srgbClr val="362CFF"/>
                </a:solidFill>
                <a:latin typeface="Archivo Black"/>
              </a:rPr>
              <a:t>98%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334000" y="7377684"/>
            <a:ext cx="3764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ON-TIME COMPLETION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334000" y="8125587"/>
            <a:ext cx="3764280" cy="836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Projects get finished when we say they will be.</a:t>
            </a:r>
          </a:p>
        </p:txBody>
      </p:sp>
      <p:sp>
        <p:nvSpPr>
          <p:cNvPr id="17" name="Box"/>
          <p:cNvSpPr/>
          <p:nvPr/>
        </p:nvSpPr>
        <p:spPr>
          <a:xfrm>
            <a:off x="914400" y="9330214"/>
            <a:ext cx="8458200" cy="2049685"/>
          </a:xfrm>
          <a:prstGeom prst="roundRect">
            <a:avLst>
              <a:gd name="adj" fmla="val 1022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933450" y="9349264"/>
            <a:ext cx="8420100" cy="2011585"/>
          </a:xfrm>
          <a:prstGeom prst="roundRect">
            <a:avLst>
              <a:gd name="adj" fmla="val 1041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333500" y="9916382"/>
            <a:ext cx="2118162" cy="1416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965"/>
              </a:lnSpc>
              <a:spcBef>
                <a:spcPts val="0"/>
              </a:spcBef>
              <a:spcAft>
                <a:spcPts val="0"/>
              </a:spcAft>
            </a:pPr>
            <a:r>
              <a:rPr b="0" sz="8850" i="0" spc="-132">
                <a:solidFill>
                  <a:srgbClr val="362CFF"/>
                </a:solidFill>
                <a:latin typeface="Archivo Black"/>
              </a:rPr>
              <a:t>5.0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334000" y="9636919"/>
            <a:ext cx="3764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AVERAGE RATING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334000" y="10384822"/>
            <a:ext cx="3764280" cy="836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We make sure you will be satisfied.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14400" y="11562912"/>
            <a:ext cx="5648950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Same places. Different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6889814" y="977189"/>
            <a:ext cx="285692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WHAT AUSTIN SAYS</a:t>
            </a:r>
          </a:p>
        </p:txBody>
      </p:sp>
      <p:sp>
        <p:nvSpPr>
          <p:cNvPr id="6" name="Box"/>
          <p:cNvSpPr/>
          <p:nvPr/>
        </p:nvSpPr>
        <p:spPr>
          <a:xfrm>
            <a:off x="914400" y="2057400"/>
            <a:ext cx="8458200" cy="8972550"/>
          </a:xfrm>
          <a:prstGeom prst="roundRect">
            <a:avLst>
              <a:gd name="adj" fmla="val 2477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x frame"/>
          <p:cNvSpPr/>
          <p:nvPr/>
        </p:nvSpPr>
        <p:spPr>
          <a:xfrm>
            <a:off x="933450" y="2076450"/>
            <a:ext cx="8420100" cy="8934450"/>
          </a:xfrm>
          <a:prstGeom prst="roundRect">
            <a:avLst>
              <a:gd name="adj" fmla="val 2488"/>
            </a:avLst>
          </a:prstGeom>
          <a:noFill/>
          <a:ln w="38100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Graphic" descr="logo-211836d447458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628931"/>
            <a:ext cx="610934" cy="609538"/>
          </a:xfrm>
          <a:prstGeom prst="rect">
            <a:avLst/>
          </a:prstGeom>
        </p:spPr>
      </p:pic>
      <p:pic>
        <p:nvPicPr>
          <p:cNvPr id="9" name="Graphic" descr="logo-211836d447458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084" y="2628931"/>
            <a:ext cx="610934" cy="609538"/>
          </a:xfrm>
          <a:prstGeom prst="rect">
            <a:avLst/>
          </a:prstGeom>
        </p:spPr>
      </p:pic>
      <p:pic>
        <p:nvPicPr>
          <p:cNvPr id="10" name="Graphic" descr="logo-211836d447458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267" y="2628931"/>
            <a:ext cx="610934" cy="609538"/>
          </a:xfrm>
          <a:prstGeom prst="rect">
            <a:avLst/>
          </a:prstGeom>
        </p:spPr>
      </p:pic>
      <p:pic>
        <p:nvPicPr>
          <p:cNvPr id="11" name="Graphic" descr="logo-211836d447458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450" y="2628931"/>
            <a:ext cx="610934" cy="609538"/>
          </a:xfrm>
          <a:prstGeom prst="rect">
            <a:avLst/>
          </a:prstGeom>
        </p:spPr>
      </p:pic>
      <p:pic>
        <p:nvPicPr>
          <p:cNvPr id="12" name="Graphic" descr="logo-211836d447458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34" y="2628931"/>
            <a:ext cx="610934" cy="609538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1485900" y="3698062"/>
            <a:ext cx="7607808" cy="41721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133"/>
              </a:lnSpc>
              <a:spcBef>
                <a:spcPts val="0"/>
              </a:spcBef>
              <a:spcAft>
                <a:spcPts val="0"/>
              </a:spcAft>
            </a:pPr>
            <a:r>
              <a:rPr b="0" sz="4350" i="0" spc="-21">
                <a:solidFill>
                  <a:srgbClr val="ECE9E0"/>
                </a:solidFill>
                <a:latin typeface="Archivo Medium"/>
              </a:rPr>
              <a:t>“After heavily vetting about 10 contractors to do interior painting for the entirety of our house, I could not be more pleased to have chosen Cosmic.”</a:t>
            </a:r>
          </a:p>
        </p:txBody>
      </p:sp>
      <p:sp>
        <p:nvSpPr>
          <p:cNvPr id="14" name="Box"/>
          <p:cNvSpPr/>
          <p:nvPr/>
        </p:nvSpPr>
        <p:spPr>
          <a:xfrm>
            <a:off x="1485900" y="9525000"/>
            <a:ext cx="990600" cy="990600"/>
          </a:xfrm>
          <a:prstGeom prst="ellipse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hoto" descr="photo-e1f1960d21d029ea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85900" y="9525000"/>
            <a:ext cx="990600" cy="990600"/>
          </a:xfrm>
          <a:prstGeom prst="ellipse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2724150" y="9701403"/>
            <a:ext cx="3132049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ECE9E0"/>
                </a:solidFill>
                <a:latin typeface="Archivo Black"/>
              </a:rPr>
              <a:t>BETH REDIX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724150" y="10109302"/>
            <a:ext cx="1150468" cy="3576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11"/>
              </a:lnSpc>
              <a:spcBef>
                <a:spcPts val="0"/>
              </a:spcBef>
              <a:spcAft>
                <a:spcPts val="0"/>
              </a:spcAft>
            </a:pPr>
            <a:r>
              <a:rPr b="0" sz="1650" i="1" spc="66">
                <a:solidFill>
                  <a:srgbClr val="ECE9E0"/>
                </a:solidFill>
                <a:latin typeface="Archivo ExtraBold"/>
              </a:rPr>
              <a:t>5 STARS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14400" y="11468919"/>
            <a:ext cx="297874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362CFF"/>
                </a:solidFill>
                <a:latin typeface="Archivo Medium"/>
              </a:rPr>
              <a:t>We care, it shows.</a:t>
            </a:r>
          </a:p>
        </p:txBody>
      </p:sp>
      <p:sp>
        <p:nvSpPr>
          <p:cNvPr id="19" name="Box"/>
          <p:cNvSpPr/>
          <p:nvPr/>
        </p:nvSpPr>
        <p:spPr>
          <a:xfrm>
            <a:off x="6140101" y="11353800"/>
            <a:ext cx="3232594" cy="6477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313429" y="11550015"/>
            <a:ext cx="2885938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"/>
          <p:cNvSpPr/>
          <p:nvPr/>
        </p:nvSpPr>
        <p:spPr>
          <a:xfrm>
            <a:off x="628650" y="628650"/>
            <a:ext cx="9029700" cy="4953000"/>
          </a:xfrm>
          <a:prstGeom prst="roundRect">
            <a:avLst>
              <a:gd name="adj" fmla="val 423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hoto" descr="photo-2896a4083bbe00cc.jpg"/>
          <p:cNvPicPr>
            <a:picLocks noChangeAspect="1"/>
          </p:cNvPicPr>
          <p:nvPr/>
        </p:nvPicPr>
        <p:blipFill>
          <a:blip r:embed="rId2"/>
          <a:srcRect t="1522" b="1014"/>
          <a:stretch>
            <a:fillRect/>
          </a:stretch>
        </p:blipFill>
        <p:spPr>
          <a:xfrm>
            <a:off x="628650" y="628650"/>
            <a:ext cx="9029700" cy="4953000"/>
          </a:xfrm>
          <a:prstGeom prst="roundRect">
            <a:avLst>
              <a:gd name="adj" fmla="val 4230"/>
            </a:avLst>
          </a:prstGeom>
        </p:spPr>
      </p:pic>
      <p:sp>
        <p:nvSpPr>
          <p:cNvPr id="6" name="Box"/>
          <p:cNvSpPr/>
          <p:nvPr/>
        </p:nvSpPr>
        <p:spPr>
          <a:xfrm>
            <a:off x="857250" y="857250"/>
            <a:ext cx="1362361" cy="552450"/>
          </a:xfrm>
          <a:prstGeom prst="roundRect">
            <a:avLst>
              <a:gd name="adj" fmla="val 500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057448" y="1021080"/>
            <a:ext cx="961964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ECE9E0"/>
                </a:solidFill>
                <a:latin typeface="Archivo"/>
              </a:rPr>
              <a:t>Before</a:t>
            </a:r>
          </a:p>
        </p:txBody>
      </p:sp>
      <p:sp>
        <p:nvSpPr>
          <p:cNvPr id="8" name="Box"/>
          <p:cNvSpPr/>
          <p:nvPr/>
        </p:nvSpPr>
        <p:spPr>
          <a:xfrm>
            <a:off x="628650" y="5810250"/>
            <a:ext cx="9029700" cy="4953000"/>
          </a:xfrm>
          <a:prstGeom prst="roundRect">
            <a:avLst>
              <a:gd name="adj" fmla="val 423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69f8a3150e294180.jpg"/>
          <p:cNvPicPr>
            <a:picLocks noChangeAspect="1"/>
          </p:cNvPicPr>
          <p:nvPr/>
        </p:nvPicPr>
        <p:blipFill>
          <a:blip r:embed="rId3"/>
          <a:srcRect t="1522" b="1014"/>
          <a:stretch>
            <a:fillRect/>
          </a:stretch>
        </p:blipFill>
        <p:spPr>
          <a:xfrm>
            <a:off x="628650" y="5810250"/>
            <a:ext cx="9029700" cy="4953000"/>
          </a:xfrm>
          <a:prstGeom prst="roundRect">
            <a:avLst>
              <a:gd name="adj" fmla="val 4230"/>
            </a:avLst>
          </a:prstGeom>
        </p:spPr>
      </p:pic>
      <p:sp>
        <p:nvSpPr>
          <p:cNvPr id="10" name="Box"/>
          <p:cNvSpPr/>
          <p:nvPr/>
        </p:nvSpPr>
        <p:spPr>
          <a:xfrm>
            <a:off x="857250" y="6038850"/>
            <a:ext cx="1154716" cy="5524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069907" y="6202680"/>
            <a:ext cx="729402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i="0">
                <a:solidFill>
                  <a:srgbClr val="ECE9E0"/>
                </a:solidFill>
                <a:latin typeface="Archivo"/>
              </a:rPr>
              <a:t>After</a:t>
            </a:r>
          </a:p>
        </p:txBody>
      </p:sp>
      <p:pic>
        <p:nvPicPr>
          <p:cNvPr id="12" name="Graphic" descr="logo-5d53c8a4e2867d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55" y="6819900"/>
            <a:ext cx="3143141" cy="2126647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28650" y="11109198"/>
            <a:ext cx="4584817" cy="905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CARE.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LEAVE IT BETTER.</a:t>
            </a:r>
          </a:p>
        </p:txBody>
      </p:sp>
      <p:sp>
        <p:nvSpPr>
          <p:cNvPr id="14" name="Box"/>
          <p:cNvSpPr/>
          <p:nvPr/>
        </p:nvSpPr>
        <p:spPr>
          <a:xfrm>
            <a:off x="6425851" y="11087100"/>
            <a:ext cx="3232594" cy="6477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599179" y="11283315"/>
            <a:ext cx="2885938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6676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070914" y="786689"/>
            <a:ext cx="181145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OWNER-LED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66750" y="1952625"/>
            <a:ext cx="10186264" cy="3600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0"/>
              </a:lnSpc>
              <a:spcBef>
                <a:spcPts val="0"/>
              </a:spcBef>
              <a:spcAft>
                <a:spcPts val="0"/>
              </a:spcAft>
            </a:pPr>
            <a:r>
              <a:rPr b="0" sz="22500" i="0" spc="-450">
                <a:solidFill>
                  <a:srgbClr val="ECE9E0"/>
                </a:solidFill>
                <a:latin typeface="Archivo Black"/>
              </a:rPr>
              <a:t>BUILT</a:t>
            </a:r>
          </a:p>
        </p:txBody>
      </p:sp>
      <p:pic>
        <p:nvPicPr>
          <p:cNvPr id="6" name="Graphic" descr="logo-f1e96b65482bc7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60" y="4152900"/>
            <a:ext cx="6095980" cy="2780157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666750" y="7444283"/>
            <a:ext cx="6056467" cy="6182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Property services. Done properly.</a:t>
            </a:r>
          </a:p>
        </p:txBody>
      </p:sp>
      <p:pic>
        <p:nvPicPr>
          <p:cNvPr id="8" name="Graphic" descr="logo-a4994ebc8477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" y="8292751"/>
            <a:ext cx="10286821" cy="4566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131653" y="977189"/>
            <a:ext cx="258606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GREATER AUSTIN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887093"/>
            <a:ext cx="8796528" cy="2139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171726"/>
                </a:solidFill>
                <a:latin typeface="Archivo Black"/>
              </a:rPr>
              <a:t>WE WORK ALL OVER</a:t>
            </a:r>
            <a:r>
              <a:rPr b="0" sz="7800" i="0" spc="-117">
                <a:solidFill>
                  <a:srgbClr val="362CFF"/>
                </a:solidFill>
                <a:latin typeface="Archivo Black"/>
              </a:rPr>
              <a:t> AUSTIN</a:t>
            </a:r>
          </a:p>
        </p:txBody>
      </p:sp>
      <p:pic>
        <p:nvPicPr>
          <p:cNvPr id="7" name="Graphic" descr="logo-dc105e8e70b19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20" y="3992785"/>
            <a:ext cx="2285760" cy="1513713"/>
          </a:xfrm>
          <a:prstGeom prst="rect">
            <a:avLst/>
          </a:prstGeom>
        </p:spPr>
      </p:pic>
      <p:pic>
        <p:nvPicPr>
          <p:cNvPr id="8" name="Graphic" descr="logo-d6cc8c13d5a38c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897541"/>
            <a:ext cx="2190750" cy="1499031"/>
          </a:xfrm>
          <a:prstGeom prst="rect">
            <a:avLst/>
          </a:prstGeom>
        </p:spPr>
      </p:pic>
      <p:pic>
        <p:nvPicPr>
          <p:cNvPr id="9" name="Graphic" descr="logo-280407825a5c05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04" y="6088285"/>
            <a:ext cx="2381142" cy="1826609"/>
          </a:xfrm>
          <a:prstGeom prst="rect">
            <a:avLst/>
          </a:prstGeom>
        </p:spPr>
      </p:pic>
      <p:pic>
        <p:nvPicPr>
          <p:cNvPr id="10" name="Graphic" descr="logo-449b1237a5a88a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6374043"/>
            <a:ext cx="2381250" cy="1764680"/>
          </a:xfrm>
          <a:prstGeom prst="rect">
            <a:avLst/>
          </a:prstGeom>
        </p:spPr>
      </p:pic>
      <p:pic>
        <p:nvPicPr>
          <p:cNvPr id="11" name="Graphic" descr="logo-9ca4accf6f13e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37" y="6278785"/>
            <a:ext cx="2190677" cy="1514189"/>
          </a:xfrm>
          <a:prstGeom prst="rect">
            <a:avLst/>
          </a:prstGeom>
        </p:spPr>
      </p:pic>
      <p:pic>
        <p:nvPicPr>
          <p:cNvPr id="12" name="Graphic" descr="logo-ee83ef9e9e5ac4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95" y="9041035"/>
            <a:ext cx="2190560" cy="1505712"/>
          </a:xfrm>
          <a:prstGeom prst="rect">
            <a:avLst/>
          </a:prstGeom>
        </p:spPr>
      </p:pic>
      <p:pic>
        <p:nvPicPr>
          <p:cNvPr id="13" name="Graphic" descr="logo-ffa0a047a9b6f9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467" y="9231535"/>
            <a:ext cx="2381115" cy="1522095"/>
          </a:xfrm>
          <a:prstGeom prst="rect">
            <a:avLst/>
          </a:prstGeom>
        </p:spPr>
      </p:pic>
      <p:pic>
        <p:nvPicPr>
          <p:cNvPr id="14" name="Graphic" descr="logo-2147fda4794dcfa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7198" y="9041035"/>
            <a:ext cx="1809654" cy="1487233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914400" y="11116189"/>
            <a:ext cx="5648950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Same places. Different standard.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503" y="857260"/>
            <a:ext cx="2241994" cy="53338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3046162" y="2606040"/>
            <a:ext cx="4194581" cy="1440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GOOD</a:t>
            </a:r>
          </a:p>
        </p:txBody>
      </p:sp>
      <p:pic>
        <p:nvPicPr>
          <p:cNvPr id="6" name="Graphic" descr="logo-719a8e4a3f8e6f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72" y="3505200"/>
            <a:ext cx="4095456" cy="12152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745236" y="4833556"/>
            <a:ext cx="8796528" cy="1975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DESERVES A GOOD WORD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869180" y="6822948"/>
            <a:ext cx="4548736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171726"/>
                </a:solidFill>
                <a:latin typeface="Archivo Medium"/>
              </a:rPr>
              <a:t>If we’ve worked together, tell Austin how it went.</a:t>
            </a:r>
          </a:p>
        </p:txBody>
      </p:sp>
      <p:pic>
        <p:nvPicPr>
          <p:cNvPr id="9" name="Graphic" descr="logo-a0f3e50ea1914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785" y="8191047"/>
            <a:ext cx="687324" cy="685754"/>
          </a:xfrm>
          <a:prstGeom prst="rect">
            <a:avLst/>
          </a:prstGeom>
        </p:spPr>
      </p:pic>
      <p:pic>
        <p:nvPicPr>
          <p:cNvPr id="10" name="Graphic" descr="logo-a0f3e50ea1914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359" y="8191047"/>
            <a:ext cx="687324" cy="685754"/>
          </a:xfrm>
          <a:prstGeom prst="rect">
            <a:avLst/>
          </a:prstGeom>
        </p:spPr>
      </p:pic>
      <p:pic>
        <p:nvPicPr>
          <p:cNvPr id="11" name="Graphic" descr="logo-a0f3e50ea1914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38" y="8191047"/>
            <a:ext cx="687324" cy="685754"/>
          </a:xfrm>
          <a:prstGeom prst="rect">
            <a:avLst/>
          </a:prstGeom>
        </p:spPr>
      </p:pic>
      <p:pic>
        <p:nvPicPr>
          <p:cNvPr id="12" name="Graphic" descr="logo-a0f3e50ea1914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412" y="8191047"/>
            <a:ext cx="687324" cy="685754"/>
          </a:xfrm>
          <a:prstGeom prst="rect">
            <a:avLst/>
          </a:prstGeom>
        </p:spPr>
      </p:pic>
      <p:pic>
        <p:nvPicPr>
          <p:cNvPr id="13" name="Graphic" descr="logo-a0f3e50ea1914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891" y="8191047"/>
            <a:ext cx="687324" cy="685754"/>
          </a:xfrm>
          <a:prstGeom prst="rect">
            <a:avLst/>
          </a:prstGeom>
        </p:spPr>
      </p:pic>
      <p:sp>
        <p:nvSpPr>
          <p:cNvPr id="14" name="Box"/>
          <p:cNvSpPr/>
          <p:nvPr/>
        </p:nvSpPr>
        <p:spPr>
          <a:xfrm>
            <a:off x="914400" y="9553575"/>
            <a:ext cx="3469958" cy="8763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65511" y="9831705"/>
            <a:ext cx="276773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>
                <a:solidFill>
                  <a:srgbClr val="ECE9E0"/>
                </a:solidFill>
                <a:latin typeface="Archivo"/>
              </a:rPr>
              <a:t>Leave a review</a:t>
            </a:r>
          </a:p>
        </p:txBody>
      </p:sp>
      <p:pic>
        <p:nvPicPr>
          <p:cNvPr id="16" name="Graphic" descr="logo-d51365d6b3295e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397" y="9553654"/>
            <a:ext cx="2003203" cy="1904842"/>
          </a:xfrm>
          <a:prstGeom prst="rect">
            <a:avLst/>
          </a:prstGeom>
        </p:spPr>
      </p:pic>
      <p:sp>
        <p:nvSpPr>
          <p:cNvPr id="17" name="Box frame"/>
          <p:cNvSpPr/>
          <p:nvPr/>
        </p:nvSpPr>
        <p:spPr>
          <a:xfrm>
            <a:off x="4142613" y="11701462"/>
            <a:ext cx="200158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149772" y="11740667"/>
            <a:ext cx="198726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REVIEW LINK]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876889" y="977189"/>
            <a:ext cx="19007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WHAT WE DO</a:t>
            </a:r>
          </a:p>
        </p:txBody>
      </p:sp>
      <p:pic>
        <p:nvPicPr>
          <p:cNvPr id="6" name="Graphic" descr="logo-2c2cb0ee2a7247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8" y="1771650"/>
            <a:ext cx="9524984" cy="5636895"/>
          </a:xfrm>
          <a:prstGeom prst="rect">
            <a:avLst/>
          </a:prstGeom>
        </p:spPr>
      </p:pic>
      <p:sp>
        <p:nvSpPr>
          <p:cNvPr id="7" name="Box"/>
          <p:cNvSpPr/>
          <p:nvPr/>
        </p:nvSpPr>
        <p:spPr>
          <a:xfrm>
            <a:off x="781050" y="6915150"/>
            <a:ext cx="3619500" cy="2857500"/>
          </a:xfrm>
          <a:prstGeom prst="roundRect">
            <a:avLst>
              <a:gd name="adj" fmla="val 7333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hoto" descr="photo-bc8c33d44bbb836f.jpg"/>
          <p:cNvPicPr>
            <a:picLocks noChangeAspect="1"/>
          </p:cNvPicPr>
          <p:nvPr/>
        </p:nvPicPr>
        <p:blipFill>
          <a:blip r:embed="rId4"/>
          <a:srcRect l="14355" r="14357"/>
          <a:stretch>
            <a:fillRect/>
          </a:stretch>
        </p:blipFill>
        <p:spPr>
          <a:xfrm>
            <a:off x="781050" y="6915150"/>
            <a:ext cx="3619500" cy="2857500"/>
          </a:xfrm>
          <a:prstGeom prst="roundRect">
            <a:avLst>
              <a:gd name="adj" fmla="val 7333"/>
            </a:avLst>
          </a:prstGeom>
        </p:spPr>
      </p:pic>
      <p:sp>
        <p:nvSpPr>
          <p:cNvPr id="9" name="Box"/>
          <p:cNvSpPr/>
          <p:nvPr/>
        </p:nvSpPr>
        <p:spPr>
          <a:xfrm>
            <a:off x="7067550" y="7677150"/>
            <a:ext cx="3238500" cy="2190750"/>
          </a:xfrm>
          <a:prstGeom prst="roundRect">
            <a:avLst>
              <a:gd name="adj" fmla="val 9565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hoto" descr="photo-fc81a9739b37a553.jpg"/>
          <p:cNvPicPr>
            <a:picLocks noChangeAspect="1"/>
          </p:cNvPicPr>
          <p:nvPr/>
        </p:nvPicPr>
        <p:blipFill>
          <a:blip r:embed="rId5"/>
          <a:srcRect l="8403" r="15252"/>
          <a:stretch>
            <a:fillRect/>
          </a:stretch>
        </p:blipFill>
        <p:spPr>
          <a:xfrm>
            <a:off x="7067550" y="7677150"/>
            <a:ext cx="2971800" cy="2190750"/>
          </a:xfrm>
          <a:prstGeom prst="rect">
            <a:avLst/>
          </a:prstGeom>
        </p:spPr>
      </p:pic>
      <p:sp>
        <p:nvSpPr>
          <p:cNvPr id="11" name="Box"/>
          <p:cNvSpPr/>
          <p:nvPr/>
        </p:nvSpPr>
        <p:spPr>
          <a:xfrm>
            <a:off x="7448550" y="1581150"/>
            <a:ext cx="2857500" cy="3619500"/>
          </a:xfrm>
          <a:prstGeom prst="roundRect">
            <a:avLst>
              <a:gd name="adj" fmla="val 7333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hoto" descr="photo-cd925ba8c6ad8a4b.jpg"/>
          <p:cNvPicPr>
            <a:picLocks noChangeAspect="1"/>
          </p:cNvPicPr>
          <p:nvPr/>
        </p:nvPicPr>
        <p:blipFill>
          <a:blip r:embed="rId6"/>
          <a:srcRect l="674" r="9885"/>
          <a:stretch>
            <a:fillRect/>
          </a:stretch>
        </p:blipFill>
        <p:spPr>
          <a:xfrm>
            <a:off x="7448550" y="1581150"/>
            <a:ext cx="2590800" cy="361950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781050" y="11144764"/>
            <a:ext cx="3275023" cy="10040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Property services. Done properly.</a:t>
            </a:r>
          </a:p>
        </p:txBody>
      </p:sp>
      <p:sp>
        <p:nvSpPr>
          <p:cNvPr id="14" name="Box"/>
          <p:cNvSpPr/>
          <p:nvPr/>
        </p:nvSpPr>
        <p:spPr>
          <a:xfrm>
            <a:off x="6273451" y="11165110"/>
            <a:ext cx="3232594" cy="6477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446779" y="11361325"/>
            <a:ext cx="2885938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