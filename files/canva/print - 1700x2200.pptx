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6192500" cy="20955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print/07-flyer-front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print/10-letter-rebrand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print/12-letterhead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jpg"/><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6192500" cy="20955000"/>
          </a:xfrm>
          <a:prstGeom prst="rect">
            <a:avLst/>
          </a:prstGeom>
          <a:solidFill>
            <a:srgbClr val="362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ox"/>
          <p:cNvSpPr/>
          <p:nvPr/>
        </p:nvSpPr>
        <p:spPr>
          <a:xfrm>
            <a:off x="342900" y="342900"/>
            <a:ext cx="15506700" cy="20269200"/>
          </a:xfrm>
          <a:prstGeom prst="roundRect">
            <a:avLst>
              <a:gd name="adj" fmla="val 1842"/>
            </a:avLst>
          </a:prstGeom>
          <a:solidFill>
            <a:srgbClr val="E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Graphic" descr="logo-2e1c4b4ea9126344.png"/>
          <p:cNvPicPr>
            <a:picLocks noChangeAspect="1"/>
          </p:cNvPicPr>
          <p:nvPr/>
        </p:nvPicPr>
        <p:blipFill>
          <a:blip r:embed="rId2"/>
          <a:stretch>
            <a:fillRect/>
          </a:stretch>
        </p:blipFill>
        <p:spPr>
          <a:xfrm>
            <a:off x="1200150" y="1066804"/>
            <a:ext cx="3122866" cy="742943"/>
          </a:xfrm>
          <a:prstGeom prst="rect">
            <a:avLst/>
          </a:prstGeom>
        </p:spPr>
      </p:pic>
      <p:sp>
        <p:nvSpPr>
          <p:cNvPr id="5" name="Text"/>
          <p:cNvSpPr txBox="1"/>
          <p:nvPr/>
        </p:nvSpPr>
        <p:spPr>
          <a:xfrm>
            <a:off x="11461242" y="1291514"/>
            <a:ext cx="4031041" cy="390182"/>
          </a:xfrm>
          <a:prstGeom prst="rect">
            <a:avLst/>
          </a:prstGeom>
          <a:noFill/>
        </p:spPr>
        <p:txBody>
          <a:bodyPr wrap="none" lIns="0" rIns="0" tIns="0" bIns="0" anchor="t">
            <a:noAutofit/>
          </a:bodyPr>
          <a:lstStyle/>
          <a:p>
            <a:pPr algn="l">
              <a:lnSpc>
                <a:spcPts val="2194"/>
              </a:lnSpc>
              <a:spcBef>
                <a:spcPts val="0"/>
              </a:spcBef>
              <a:spcAft>
                <a:spcPts val="0"/>
              </a:spcAft>
            </a:pPr>
            <a:r>
              <a:rPr b="0" sz="1800" i="1" spc="72">
                <a:solidFill>
                  <a:srgbClr val="362CFF"/>
                </a:solidFill>
                <a:latin typeface="Archivo ExtraBold"/>
              </a:rPr>
              <a:t>OWNER-LED / AUSTIN-BUILT</a:t>
            </a:r>
          </a:p>
        </p:txBody>
      </p:sp>
      <p:sp>
        <p:nvSpPr>
          <p:cNvPr id="6" name="Headline"/>
          <p:cNvSpPr txBox="1"/>
          <p:nvPr/>
        </p:nvSpPr>
        <p:spPr>
          <a:xfrm>
            <a:off x="1200150" y="2781872"/>
            <a:ext cx="7924800" cy="3998214"/>
          </a:xfrm>
          <a:prstGeom prst="rect">
            <a:avLst/>
          </a:prstGeom>
          <a:noFill/>
        </p:spPr>
        <p:txBody>
          <a:bodyPr wrap="square" lIns="0" rIns="0" tIns="0" bIns="0" anchor="t">
            <a:noAutofit/>
          </a:bodyPr>
          <a:lstStyle/>
          <a:p>
            <a:pPr algn="l">
              <a:lnSpc>
                <a:spcPts val="7155"/>
              </a:lnSpc>
              <a:spcBef>
                <a:spcPts val="0"/>
              </a:spcBef>
              <a:spcAft>
                <a:spcPts val="0"/>
              </a:spcAft>
            </a:pPr>
            <a:r>
              <a:rPr b="0" sz="7950" i="0" spc="-119">
                <a:solidFill>
                  <a:srgbClr val="171726"/>
                </a:solidFill>
                <a:latin typeface="Archivo Black"/>
              </a:rPr>
              <a:t>A HIGHER STANDARD FOR EVERY SPACE.</a:t>
            </a:r>
          </a:p>
        </p:txBody>
      </p:sp>
      <p:sp>
        <p:nvSpPr>
          <p:cNvPr id="7" name="Text"/>
          <p:cNvSpPr txBox="1"/>
          <p:nvPr/>
        </p:nvSpPr>
        <p:spPr>
          <a:xfrm>
            <a:off x="1200150" y="6657937"/>
            <a:ext cx="7000692" cy="715823"/>
          </a:xfrm>
          <a:prstGeom prst="rect">
            <a:avLst/>
          </a:prstGeom>
          <a:noFill/>
        </p:spPr>
        <p:txBody>
          <a:bodyPr wrap="none" lIns="0" rIns="0" tIns="0" bIns="0" anchor="t">
            <a:noAutofit/>
          </a:bodyPr>
          <a:lstStyle/>
          <a:p>
            <a:pPr algn="l">
              <a:lnSpc>
                <a:spcPts val="4026"/>
              </a:lnSpc>
              <a:spcBef>
                <a:spcPts val="0"/>
              </a:spcBef>
              <a:spcAft>
                <a:spcPts val="0"/>
              </a:spcAft>
            </a:pPr>
            <a:r>
              <a:rPr b="0" sz="3300" i="0" spc="-16">
                <a:solidFill>
                  <a:srgbClr val="362CFF"/>
                </a:solidFill>
                <a:latin typeface="Archivo Medium"/>
              </a:rPr>
              <a:t>Property services. Done properly.</a:t>
            </a:r>
          </a:p>
        </p:txBody>
      </p:sp>
      <p:sp>
        <p:nvSpPr>
          <p:cNvPr id="8" name="Box"/>
          <p:cNvSpPr/>
          <p:nvPr/>
        </p:nvSpPr>
        <p:spPr>
          <a:xfrm>
            <a:off x="9296400" y="2571750"/>
            <a:ext cx="5695950" cy="4762500"/>
          </a:xfrm>
          <a:prstGeom prst="roundRect">
            <a:avLst>
              <a:gd name="adj" fmla="val 4400"/>
            </a:avLst>
          </a:prstGeom>
          <a:solidFill>
            <a:srgbClr val="17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hoto" descr="photo-1e014d9e184b9e01.jpg"/>
          <p:cNvPicPr>
            <a:picLocks noChangeAspect="1"/>
          </p:cNvPicPr>
          <p:nvPr/>
        </p:nvPicPr>
        <p:blipFill>
          <a:blip r:embed="rId3"/>
          <a:srcRect l="11442" r="21248"/>
          <a:stretch>
            <a:fillRect/>
          </a:stretch>
        </p:blipFill>
        <p:spPr>
          <a:xfrm>
            <a:off x="9296400" y="2571750"/>
            <a:ext cx="5695950" cy="4762500"/>
          </a:xfrm>
          <a:prstGeom prst="roundRect">
            <a:avLst>
              <a:gd name="adj" fmla="val 4400"/>
            </a:avLst>
          </a:prstGeom>
        </p:spPr>
      </p:pic>
      <p:sp>
        <p:nvSpPr>
          <p:cNvPr id="10" name="Box"/>
          <p:cNvSpPr/>
          <p:nvPr/>
        </p:nvSpPr>
        <p:spPr>
          <a:xfrm>
            <a:off x="1200150" y="7810500"/>
            <a:ext cx="4470368" cy="1504950"/>
          </a:xfrm>
          <a:prstGeom prst="roundRect">
            <a:avLst>
              <a:gd name="adj" fmla="val 13924"/>
            </a:avLst>
          </a:prstGeom>
          <a:solidFill>
            <a:srgbClr val="E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ox frame"/>
          <p:cNvSpPr/>
          <p:nvPr/>
        </p:nvSpPr>
        <p:spPr>
          <a:xfrm>
            <a:off x="1219200" y="7829550"/>
            <a:ext cx="4432268" cy="1466850"/>
          </a:xfrm>
          <a:prstGeom prst="roundRect">
            <a:avLst>
              <a:gd name="adj" fmla="val 14285"/>
            </a:avLst>
          </a:prstGeom>
          <a:noFill/>
          <a:ln w="38100">
            <a:solidFill>
              <a:srgbClr val="362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Graphic" descr="logo-c2e98a735c9ba0f9.png"/>
          <p:cNvPicPr>
            <a:picLocks noChangeAspect="1"/>
          </p:cNvPicPr>
          <p:nvPr/>
        </p:nvPicPr>
        <p:blipFill>
          <a:blip r:embed="rId4"/>
          <a:stretch>
            <a:fillRect/>
          </a:stretch>
        </p:blipFill>
        <p:spPr>
          <a:xfrm>
            <a:off x="1632733" y="8162925"/>
            <a:ext cx="544629" cy="799910"/>
          </a:xfrm>
          <a:prstGeom prst="rect">
            <a:avLst/>
          </a:prstGeom>
        </p:spPr>
      </p:pic>
      <p:sp>
        <p:nvSpPr>
          <p:cNvPr id="13" name="Text"/>
          <p:cNvSpPr txBox="1"/>
          <p:nvPr/>
        </p:nvSpPr>
        <p:spPr>
          <a:xfrm>
            <a:off x="2514600" y="8180984"/>
            <a:ext cx="1669893" cy="585140"/>
          </a:xfrm>
          <a:prstGeom prst="rect">
            <a:avLst/>
          </a:prstGeom>
          <a:noFill/>
        </p:spPr>
        <p:txBody>
          <a:bodyPr wrap="none" lIns="0" rIns="0" tIns="0" bIns="0" anchor="t">
            <a:noAutofit/>
          </a:bodyPr>
          <a:lstStyle/>
          <a:p>
            <a:pPr algn="l">
              <a:lnSpc>
                <a:spcPts val="3291"/>
              </a:lnSpc>
              <a:spcBef>
                <a:spcPts val="0"/>
              </a:spcBef>
              <a:spcAft>
                <a:spcPts val="0"/>
              </a:spcAft>
            </a:pPr>
            <a:r>
              <a:rPr b="0" sz="2700" i="0">
                <a:solidFill>
                  <a:srgbClr val="362CFF"/>
                </a:solidFill>
                <a:latin typeface="Archivo ExtraBold"/>
              </a:rPr>
              <a:t>Painting</a:t>
            </a:r>
          </a:p>
        </p:txBody>
      </p:sp>
      <p:sp>
        <p:nvSpPr>
          <p:cNvPr id="14" name="Text"/>
          <p:cNvSpPr txBox="1"/>
          <p:nvPr/>
        </p:nvSpPr>
        <p:spPr>
          <a:xfrm>
            <a:off x="2514600" y="8626297"/>
            <a:ext cx="2882737" cy="422586"/>
          </a:xfrm>
          <a:prstGeom prst="rect">
            <a:avLst/>
          </a:prstGeom>
          <a:noFill/>
        </p:spPr>
        <p:txBody>
          <a:bodyPr wrap="none" lIns="0" rIns="0" tIns="0" bIns="0" anchor="t">
            <a:noAutofit/>
          </a:bodyPr>
          <a:lstStyle/>
          <a:p>
            <a:pPr algn="l">
              <a:lnSpc>
                <a:spcPts val="2376"/>
              </a:lnSpc>
              <a:spcBef>
                <a:spcPts val="0"/>
              </a:spcBef>
              <a:spcAft>
                <a:spcPts val="0"/>
              </a:spcAft>
            </a:pPr>
            <a:r>
              <a:rPr b="0" sz="1950" i="0">
                <a:solidFill>
                  <a:srgbClr val="362CFF"/>
                </a:solidFill>
                <a:latin typeface="Archivo Medium"/>
              </a:rPr>
              <a:t>Interiors and exteriors.</a:t>
            </a:r>
          </a:p>
        </p:txBody>
      </p:sp>
      <p:sp>
        <p:nvSpPr>
          <p:cNvPr id="15" name="Box"/>
          <p:cNvSpPr/>
          <p:nvPr/>
        </p:nvSpPr>
        <p:spPr>
          <a:xfrm>
            <a:off x="5861018" y="7810500"/>
            <a:ext cx="4470464" cy="1504950"/>
          </a:xfrm>
          <a:prstGeom prst="roundRect">
            <a:avLst>
              <a:gd name="adj" fmla="val 13924"/>
            </a:avLst>
          </a:prstGeom>
          <a:solidFill>
            <a:srgbClr val="E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ox frame"/>
          <p:cNvSpPr/>
          <p:nvPr/>
        </p:nvSpPr>
        <p:spPr>
          <a:xfrm>
            <a:off x="5880068" y="7829550"/>
            <a:ext cx="4432364" cy="1466850"/>
          </a:xfrm>
          <a:prstGeom prst="roundRect">
            <a:avLst>
              <a:gd name="adj" fmla="val 14285"/>
            </a:avLst>
          </a:prstGeom>
          <a:noFill/>
          <a:ln w="38100">
            <a:solidFill>
              <a:srgbClr val="362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Graphic" descr="logo-2e79c7eea1727b32.png"/>
          <p:cNvPicPr>
            <a:picLocks noChangeAspect="1"/>
          </p:cNvPicPr>
          <p:nvPr/>
        </p:nvPicPr>
        <p:blipFill>
          <a:blip r:embed="rId5"/>
          <a:stretch>
            <a:fillRect/>
          </a:stretch>
        </p:blipFill>
        <p:spPr>
          <a:xfrm>
            <a:off x="6165902" y="8162925"/>
            <a:ext cx="799933" cy="764191"/>
          </a:xfrm>
          <a:prstGeom prst="rect">
            <a:avLst/>
          </a:prstGeom>
        </p:spPr>
      </p:pic>
      <p:sp>
        <p:nvSpPr>
          <p:cNvPr id="18" name="Text"/>
          <p:cNvSpPr txBox="1"/>
          <p:nvPr/>
        </p:nvSpPr>
        <p:spPr>
          <a:xfrm>
            <a:off x="7175468" y="8180984"/>
            <a:ext cx="2568672" cy="585140"/>
          </a:xfrm>
          <a:prstGeom prst="rect">
            <a:avLst/>
          </a:prstGeom>
          <a:noFill/>
        </p:spPr>
        <p:txBody>
          <a:bodyPr wrap="none" lIns="0" rIns="0" tIns="0" bIns="0" anchor="t">
            <a:noAutofit/>
          </a:bodyPr>
          <a:lstStyle/>
          <a:p>
            <a:pPr algn="l">
              <a:lnSpc>
                <a:spcPts val="3291"/>
              </a:lnSpc>
              <a:spcBef>
                <a:spcPts val="0"/>
              </a:spcBef>
              <a:spcAft>
                <a:spcPts val="0"/>
              </a:spcAft>
            </a:pPr>
            <a:r>
              <a:rPr b="0" sz="2700" i="0">
                <a:solidFill>
                  <a:srgbClr val="362CFF"/>
                </a:solidFill>
                <a:latin typeface="Archivo ExtraBold"/>
              </a:rPr>
              <a:t>Landscaping</a:t>
            </a:r>
          </a:p>
        </p:txBody>
      </p:sp>
      <p:sp>
        <p:nvSpPr>
          <p:cNvPr id="19" name="Text"/>
          <p:cNvSpPr txBox="1"/>
          <p:nvPr/>
        </p:nvSpPr>
        <p:spPr>
          <a:xfrm>
            <a:off x="7175468" y="8626297"/>
            <a:ext cx="2153473" cy="422586"/>
          </a:xfrm>
          <a:prstGeom prst="rect">
            <a:avLst/>
          </a:prstGeom>
          <a:noFill/>
        </p:spPr>
        <p:txBody>
          <a:bodyPr wrap="none" lIns="0" rIns="0" tIns="0" bIns="0" anchor="t">
            <a:noAutofit/>
          </a:bodyPr>
          <a:lstStyle/>
          <a:p>
            <a:pPr algn="l">
              <a:lnSpc>
                <a:spcPts val="2376"/>
              </a:lnSpc>
              <a:spcBef>
                <a:spcPts val="0"/>
              </a:spcBef>
              <a:spcAft>
                <a:spcPts val="0"/>
              </a:spcAft>
            </a:pPr>
            <a:r>
              <a:rPr b="0" sz="1950" i="0">
                <a:solidFill>
                  <a:srgbClr val="362CFF"/>
                </a:solidFill>
                <a:latin typeface="Archivo Medium"/>
              </a:rPr>
              <a:t>Outdoor spaces.</a:t>
            </a:r>
          </a:p>
        </p:txBody>
      </p:sp>
      <p:sp>
        <p:nvSpPr>
          <p:cNvPr id="20" name="Box"/>
          <p:cNvSpPr/>
          <p:nvPr/>
        </p:nvSpPr>
        <p:spPr>
          <a:xfrm>
            <a:off x="10521982" y="7810500"/>
            <a:ext cx="4470368" cy="1504950"/>
          </a:xfrm>
          <a:prstGeom prst="roundRect">
            <a:avLst>
              <a:gd name="adj" fmla="val 13924"/>
            </a:avLst>
          </a:prstGeom>
          <a:solidFill>
            <a:srgbClr val="E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Box frame"/>
          <p:cNvSpPr/>
          <p:nvPr/>
        </p:nvSpPr>
        <p:spPr>
          <a:xfrm>
            <a:off x="10541032" y="7829550"/>
            <a:ext cx="4432268" cy="1466850"/>
          </a:xfrm>
          <a:prstGeom prst="roundRect">
            <a:avLst>
              <a:gd name="adj" fmla="val 14285"/>
            </a:avLst>
          </a:prstGeom>
          <a:noFill/>
          <a:ln w="38100">
            <a:solidFill>
              <a:srgbClr val="362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Graphic" descr="logo-f8e137fb2a613897.png"/>
          <p:cNvPicPr>
            <a:picLocks noChangeAspect="1"/>
          </p:cNvPicPr>
          <p:nvPr/>
        </p:nvPicPr>
        <p:blipFill>
          <a:blip r:embed="rId6"/>
          <a:stretch>
            <a:fillRect/>
          </a:stretch>
        </p:blipFill>
        <p:spPr>
          <a:xfrm>
            <a:off x="11042634" y="8162925"/>
            <a:ext cx="306388" cy="799814"/>
          </a:xfrm>
          <a:prstGeom prst="rect">
            <a:avLst/>
          </a:prstGeom>
        </p:spPr>
      </p:pic>
      <p:sp>
        <p:nvSpPr>
          <p:cNvPr id="23" name="Text"/>
          <p:cNvSpPr txBox="1"/>
          <p:nvPr/>
        </p:nvSpPr>
        <p:spPr>
          <a:xfrm>
            <a:off x="11774519" y="8047634"/>
            <a:ext cx="2782992" cy="585140"/>
          </a:xfrm>
          <a:prstGeom prst="rect">
            <a:avLst/>
          </a:prstGeom>
          <a:noFill/>
        </p:spPr>
        <p:txBody>
          <a:bodyPr wrap="none" lIns="0" rIns="0" tIns="0" bIns="0" anchor="t">
            <a:noAutofit/>
          </a:bodyPr>
          <a:lstStyle/>
          <a:p>
            <a:pPr algn="l">
              <a:lnSpc>
                <a:spcPts val="3291"/>
              </a:lnSpc>
              <a:spcBef>
                <a:spcPts val="0"/>
              </a:spcBef>
              <a:spcAft>
                <a:spcPts val="0"/>
              </a:spcAft>
            </a:pPr>
            <a:r>
              <a:rPr b="0" sz="2700" i="0">
                <a:solidFill>
                  <a:srgbClr val="362CFF"/>
                </a:solidFill>
                <a:latin typeface="Archivo ExtraBold"/>
              </a:rPr>
              <a:t>Property work</a:t>
            </a:r>
          </a:p>
        </p:txBody>
      </p:sp>
      <p:sp>
        <p:nvSpPr>
          <p:cNvPr id="24" name="Text"/>
          <p:cNvSpPr txBox="1"/>
          <p:nvPr/>
        </p:nvSpPr>
        <p:spPr>
          <a:xfrm>
            <a:off x="11774519" y="8492947"/>
            <a:ext cx="3029552" cy="724433"/>
          </a:xfrm>
          <a:prstGeom prst="rect">
            <a:avLst/>
          </a:prstGeom>
          <a:noFill/>
        </p:spPr>
        <p:txBody>
          <a:bodyPr wrap="square" lIns="0" rIns="0" tIns="0" bIns="0" anchor="t">
            <a:noAutofit/>
          </a:bodyPr>
          <a:lstStyle/>
          <a:p>
            <a:pPr algn="l">
              <a:lnSpc>
                <a:spcPts val="2376"/>
              </a:lnSpc>
              <a:spcBef>
                <a:spcPts val="0"/>
              </a:spcBef>
              <a:spcAft>
                <a:spcPts val="0"/>
              </a:spcAft>
            </a:pPr>
            <a:r>
              <a:rPr b="0" sz="1950" i="0">
                <a:solidFill>
                  <a:srgbClr val="362CFF"/>
                </a:solidFill>
                <a:latin typeface="Archivo Medium"/>
              </a:rPr>
              <a:t>Residential and commercial.</a:t>
            </a:r>
          </a:p>
        </p:txBody>
      </p:sp>
      <p:sp>
        <p:nvSpPr>
          <p:cNvPr id="25" name="Text"/>
          <p:cNvSpPr txBox="1"/>
          <p:nvPr/>
        </p:nvSpPr>
        <p:spPr>
          <a:xfrm>
            <a:off x="1200150" y="9673514"/>
            <a:ext cx="1942887" cy="390182"/>
          </a:xfrm>
          <a:prstGeom prst="rect">
            <a:avLst/>
          </a:prstGeom>
          <a:noFill/>
        </p:spPr>
        <p:txBody>
          <a:bodyPr wrap="none" lIns="0" rIns="0" tIns="0" bIns="0" anchor="t">
            <a:noAutofit/>
          </a:bodyPr>
          <a:lstStyle/>
          <a:p>
            <a:pPr algn="l">
              <a:lnSpc>
                <a:spcPts val="2194"/>
              </a:lnSpc>
              <a:spcBef>
                <a:spcPts val="0"/>
              </a:spcBef>
              <a:spcAft>
                <a:spcPts val="0"/>
              </a:spcAft>
            </a:pPr>
            <a:r>
              <a:rPr b="0" sz="1800" i="1" spc="72">
                <a:solidFill>
                  <a:srgbClr val="362CFF"/>
                </a:solidFill>
                <a:latin typeface="Archivo ExtraBold"/>
              </a:rPr>
              <a:t>WHY COSMIC</a:t>
            </a:r>
          </a:p>
        </p:txBody>
      </p:sp>
      <p:sp>
        <p:nvSpPr>
          <p:cNvPr id="26" name="Box"/>
          <p:cNvSpPr/>
          <p:nvPr/>
        </p:nvSpPr>
        <p:spPr>
          <a:xfrm>
            <a:off x="1200150" y="10096500"/>
            <a:ext cx="3305175" cy="2897981"/>
          </a:xfrm>
          <a:prstGeom prst="roundRect">
            <a:avLst>
              <a:gd name="adj" fmla="val 7230"/>
            </a:avLst>
          </a:prstGeom>
          <a:solidFill>
            <a:srgbClr val="E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Box frame"/>
          <p:cNvSpPr/>
          <p:nvPr/>
        </p:nvSpPr>
        <p:spPr>
          <a:xfrm>
            <a:off x="1219200" y="10115550"/>
            <a:ext cx="3267075" cy="2859881"/>
          </a:xfrm>
          <a:prstGeom prst="roundRect">
            <a:avLst>
              <a:gd name="adj" fmla="val 7327"/>
            </a:avLst>
          </a:prstGeom>
          <a:noFill/>
          <a:ln w="38100">
            <a:solidFill>
              <a:srgbClr val="362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Graphic" descr="logo-e172ebda62f28da1.png"/>
          <p:cNvPicPr>
            <a:picLocks noChangeAspect="1"/>
          </p:cNvPicPr>
          <p:nvPr/>
        </p:nvPicPr>
        <p:blipFill>
          <a:blip r:embed="rId7"/>
          <a:stretch>
            <a:fillRect/>
          </a:stretch>
        </p:blipFill>
        <p:spPr>
          <a:xfrm>
            <a:off x="1540132" y="10363200"/>
            <a:ext cx="481991" cy="666560"/>
          </a:xfrm>
          <a:prstGeom prst="rect">
            <a:avLst/>
          </a:prstGeom>
        </p:spPr>
      </p:pic>
      <p:sp>
        <p:nvSpPr>
          <p:cNvPr id="29" name="Text"/>
          <p:cNvSpPr txBox="1"/>
          <p:nvPr/>
        </p:nvSpPr>
        <p:spPr>
          <a:xfrm>
            <a:off x="1447800" y="11178540"/>
            <a:ext cx="2922270" cy="754380"/>
          </a:xfrm>
          <a:prstGeom prst="rect">
            <a:avLst/>
          </a:prstGeom>
          <a:noFill/>
        </p:spPr>
        <p:txBody>
          <a:bodyPr wrap="square" lIns="0" rIns="0" tIns="0" bIns="0" anchor="t">
            <a:noAutofit/>
          </a:bodyPr>
          <a:lstStyle/>
          <a:p>
            <a:pPr algn="l">
              <a:lnSpc>
                <a:spcPts val="2475"/>
              </a:lnSpc>
              <a:spcBef>
                <a:spcPts val="0"/>
              </a:spcBef>
              <a:spcAft>
                <a:spcPts val="0"/>
              </a:spcAft>
            </a:pPr>
            <a:r>
              <a:rPr b="0" sz="2250" i="0">
                <a:solidFill>
                  <a:srgbClr val="362CFF"/>
                </a:solidFill>
                <a:latin typeface="Archivo ExtraBold"/>
              </a:rPr>
              <a:t>Clear communication</a:t>
            </a:r>
          </a:p>
        </p:txBody>
      </p:sp>
      <p:sp>
        <p:nvSpPr>
          <p:cNvPr id="30" name="Text"/>
          <p:cNvSpPr txBox="1"/>
          <p:nvPr/>
        </p:nvSpPr>
        <p:spPr>
          <a:xfrm>
            <a:off x="1447800" y="11887200"/>
            <a:ext cx="2922270" cy="931069"/>
          </a:xfrm>
          <a:prstGeom prst="rect">
            <a:avLst/>
          </a:prstGeom>
          <a:noFill/>
        </p:spPr>
        <p:txBody>
          <a:bodyPr wrap="square" lIns="0" rIns="0" tIns="0" bIns="0" anchor="t">
            <a:noAutofit/>
          </a:bodyPr>
          <a:lstStyle/>
          <a:p>
            <a:pPr algn="l">
              <a:lnSpc>
                <a:spcPts val="2156"/>
              </a:lnSpc>
              <a:spcBef>
                <a:spcPts val="0"/>
              </a:spcBef>
              <a:spcAft>
                <a:spcPts val="0"/>
              </a:spcAft>
            </a:pPr>
            <a:r>
              <a:rPr b="0" sz="1725" i="0">
                <a:solidFill>
                  <a:srgbClr val="362CFF"/>
                </a:solidFill>
                <a:latin typeface="Archivo Medium"/>
              </a:rPr>
              <a:t>Updates, realistic timelines and quick responses. No surprises.</a:t>
            </a:r>
          </a:p>
        </p:txBody>
      </p:sp>
      <p:sp>
        <p:nvSpPr>
          <p:cNvPr id="31" name="Box"/>
          <p:cNvSpPr/>
          <p:nvPr/>
        </p:nvSpPr>
        <p:spPr>
          <a:xfrm>
            <a:off x="4695825" y="10096500"/>
            <a:ext cx="3305175" cy="2897981"/>
          </a:xfrm>
          <a:prstGeom prst="roundRect">
            <a:avLst>
              <a:gd name="adj" fmla="val 7230"/>
            </a:avLst>
          </a:prstGeom>
          <a:solidFill>
            <a:srgbClr val="E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Box frame"/>
          <p:cNvSpPr/>
          <p:nvPr/>
        </p:nvSpPr>
        <p:spPr>
          <a:xfrm>
            <a:off x="4714875" y="10115550"/>
            <a:ext cx="3267075" cy="2859881"/>
          </a:xfrm>
          <a:prstGeom prst="roundRect">
            <a:avLst>
              <a:gd name="adj" fmla="val 7327"/>
            </a:avLst>
          </a:prstGeom>
          <a:noFill/>
          <a:ln w="38100">
            <a:solidFill>
              <a:srgbClr val="362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Graphic" descr="logo-cd8d1aa7d5f90d72.png"/>
          <p:cNvPicPr>
            <a:picLocks noChangeAspect="1"/>
          </p:cNvPicPr>
          <p:nvPr/>
        </p:nvPicPr>
        <p:blipFill>
          <a:blip r:embed="rId8"/>
          <a:stretch>
            <a:fillRect/>
          </a:stretch>
        </p:blipFill>
        <p:spPr>
          <a:xfrm>
            <a:off x="4943519" y="10363200"/>
            <a:ext cx="666662" cy="635794"/>
          </a:xfrm>
          <a:prstGeom prst="rect">
            <a:avLst/>
          </a:prstGeom>
        </p:spPr>
      </p:pic>
      <p:sp>
        <p:nvSpPr>
          <p:cNvPr id="34" name="Text"/>
          <p:cNvSpPr txBox="1"/>
          <p:nvPr/>
        </p:nvSpPr>
        <p:spPr>
          <a:xfrm>
            <a:off x="4943475" y="11178540"/>
            <a:ext cx="2922270" cy="754380"/>
          </a:xfrm>
          <a:prstGeom prst="rect">
            <a:avLst/>
          </a:prstGeom>
          <a:noFill/>
        </p:spPr>
        <p:txBody>
          <a:bodyPr wrap="square" lIns="0" rIns="0" tIns="0" bIns="0" anchor="t">
            <a:noAutofit/>
          </a:bodyPr>
          <a:lstStyle/>
          <a:p>
            <a:pPr algn="l">
              <a:lnSpc>
                <a:spcPts val="2475"/>
              </a:lnSpc>
              <a:spcBef>
                <a:spcPts val="0"/>
              </a:spcBef>
              <a:spcAft>
                <a:spcPts val="0"/>
              </a:spcAft>
            </a:pPr>
            <a:r>
              <a:rPr b="0" sz="2250" i="0">
                <a:solidFill>
                  <a:srgbClr val="362CFF"/>
                </a:solidFill>
                <a:latin typeface="Archivo ExtraBold"/>
              </a:rPr>
              <a:t>Boots on the ground</a:t>
            </a:r>
          </a:p>
        </p:txBody>
      </p:sp>
      <p:sp>
        <p:nvSpPr>
          <p:cNvPr id="35" name="Text"/>
          <p:cNvSpPr txBox="1"/>
          <p:nvPr/>
        </p:nvSpPr>
        <p:spPr>
          <a:xfrm>
            <a:off x="4943475" y="11887200"/>
            <a:ext cx="2922270" cy="657225"/>
          </a:xfrm>
          <a:prstGeom prst="rect">
            <a:avLst/>
          </a:prstGeom>
          <a:noFill/>
        </p:spPr>
        <p:txBody>
          <a:bodyPr wrap="square" lIns="0" rIns="0" tIns="0" bIns="0" anchor="t">
            <a:noAutofit/>
          </a:bodyPr>
          <a:lstStyle/>
          <a:p>
            <a:pPr algn="l">
              <a:lnSpc>
                <a:spcPts val="2156"/>
              </a:lnSpc>
              <a:spcBef>
                <a:spcPts val="0"/>
              </a:spcBef>
              <a:spcAft>
                <a:spcPts val="0"/>
              </a:spcAft>
            </a:pPr>
            <a:r>
              <a:rPr b="0" sz="1725" i="0">
                <a:solidFill>
                  <a:srgbClr val="362CFF"/>
                </a:solidFill>
                <a:latin typeface="Archivo Medium"/>
              </a:rPr>
              <a:t>Owner-led. We're on site and we see it through.</a:t>
            </a:r>
          </a:p>
        </p:txBody>
      </p:sp>
      <p:sp>
        <p:nvSpPr>
          <p:cNvPr id="36" name="Box"/>
          <p:cNvSpPr/>
          <p:nvPr/>
        </p:nvSpPr>
        <p:spPr>
          <a:xfrm>
            <a:off x="8191500" y="10096500"/>
            <a:ext cx="3305175" cy="2897981"/>
          </a:xfrm>
          <a:prstGeom prst="roundRect">
            <a:avLst>
              <a:gd name="adj" fmla="val 7230"/>
            </a:avLst>
          </a:prstGeom>
          <a:solidFill>
            <a:srgbClr val="E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Box frame"/>
          <p:cNvSpPr/>
          <p:nvPr/>
        </p:nvSpPr>
        <p:spPr>
          <a:xfrm>
            <a:off x="8210550" y="10115550"/>
            <a:ext cx="3267075" cy="2859881"/>
          </a:xfrm>
          <a:prstGeom prst="roundRect">
            <a:avLst>
              <a:gd name="adj" fmla="val 7327"/>
            </a:avLst>
          </a:prstGeom>
          <a:noFill/>
          <a:ln w="38100">
            <a:solidFill>
              <a:srgbClr val="362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Graphic" descr="logo-19351924064e8b50.png"/>
          <p:cNvPicPr>
            <a:picLocks noChangeAspect="1"/>
          </p:cNvPicPr>
          <p:nvPr/>
        </p:nvPicPr>
        <p:blipFill>
          <a:blip r:embed="rId9"/>
          <a:stretch>
            <a:fillRect/>
          </a:stretch>
        </p:blipFill>
        <p:spPr>
          <a:xfrm>
            <a:off x="8499196" y="10363200"/>
            <a:ext cx="546753" cy="602456"/>
          </a:xfrm>
          <a:prstGeom prst="rect">
            <a:avLst/>
          </a:prstGeom>
        </p:spPr>
      </p:pic>
      <p:sp>
        <p:nvSpPr>
          <p:cNvPr id="39" name="Text"/>
          <p:cNvSpPr txBox="1"/>
          <p:nvPr/>
        </p:nvSpPr>
        <p:spPr>
          <a:xfrm>
            <a:off x="8439150" y="11178540"/>
            <a:ext cx="2651989" cy="440055"/>
          </a:xfrm>
          <a:prstGeom prst="rect">
            <a:avLst/>
          </a:prstGeom>
          <a:noFill/>
        </p:spPr>
        <p:txBody>
          <a:bodyPr wrap="none" lIns="0" rIns="0" tIns="0" bIns="0" anchor="t">
            <a:noAutofit/>
          </a:bodyPr>
          <a:lstStyle/>
          <a:p>
            <a:pPr algn="l">
              <a:lnSpc>
                <a:spcPts val="2475"/>
              </a:lnSpc>
              <a:spcBef>
                <a:spcPts val="0"/>
              </a:spcBef>
              <a:spcAft>
                <a:spcPts val="0"/>
              </a:spcAft>
            </a:pPr>
            <a:r>
              <a:rPr b="0" sz="2250" i="0">
                <a:solidFill>
                  <a:srgbClr val="362CFF"/>
                </a:solidFill>
                <a:latin typeface="Archivo ExtraBold"/>
              </a:rPr>
              <a:t>On time delivery</a:t>
            </a:r>
          </a:p>
        </p:txBody>
      </p:sp>
      <p:sp>
        <p:nvSpPr>
          <p:cNvPr id="40" name="Text"/>
          <p:cNvSpPr txBox="1"/>
          <p:nvPr/>
        </p:nvSpPr>
        <p:spPr>
          <a:xfrm>
            <a:off x="8439150" y="11572875"/>
            <a:ext cx="2922270" cy="657225"/>
          </a:xfrm>
          <a:prstGeom prst="rect">
            <a:avLst/>
          </a:prstGeom>
          <a:noFill/>
        </p:spPr>
        <p:txBody>
          <a:bodyPr wrap="square" lIns="0" rIns="0" tIns="0" bIns="0" anchor="t">
            <a:noAutofit/>
          </a:bodyPr>
          <a:lstStyle/>
          <a:p>
            <a:pPr algn="l">
              <a:lnSpc>
                <a:spcPts val="2156"/>
              </a:lnSpc>
              <a:spcBef>
                <a:spcPts val="0"/>
              </a:spcBef>
              <a:spcAft>
                <a:spcPts val="0"/>
              </a:spcAft>
            </a:pPr>
            <a:r>
              <a:rPr b="0" sz="1725" i="0">
                <a:solidFill>
                  <a:srgbClr val="362CFF"/>
                </a:solidFill>
                <a:latin typeface="Archivo Medium"/>
              </a:rPr>
              <a:t>Projects get finished when we say they will be.</a:t>
            </a:r>
          </a:p>
        </p:txBody>
      </p:sp>
      <p:sp>
        <p:nvSpPr>
          <p:cNvPr id="41" name="Box"/>
          <p:cNvSpPr/>
          <p:nvPr/>
        </p:nvSpPr>
        <p:spPr>
          <a:xfrm>
            <a:off x="11687175" y="10096500"/>
            <a:ext cx="3305175" cy="2897981"/>
          </a:xfrm>
          <a:prstGeom prst="roundRect">
            <a:avLst>
              <a:gd name="adj" fmla="val 7230"/>
            </a:avLst>
          </a:prstGeom>
          <a:solidFill>
            <a:srgbClr val="E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Box frame"/>
          <p:cNvSpPr/>
          <p:nvPr/>
        </p:nvSpPr>
        <p:spPr>
          <a:xfrm>
            <a:off x="11706225" y="10115550"/>
            <a:ext cx="3267075" cy="2859881"/>
          </a:xfrm>
          <a:prstGeom prst="roundRect">
            <a:avLst>
              <a:gd name="adj" fmla="val 7327"/>
            </a:avLst>
          </a:prstGeom>
          <a:noFill/>
          <a:ln w="38100">
            <a:solidFill>
              <a:srgbClr val="362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3" name="Graphic" descr="logo-9ba954321c76df22.png"/>
          <p:cNvPicPr>
            <a:picLocks noChangeAspect="1"/>
          </p:cNvPicPr>
          <p:nvPr/>
        </p:nvPicPr>
        <p:blipFill>
          <a:blip r:embed="rId10"/>
          <a:stretch>
            <a:fillRect/>
          </a:stretch>
        </p:blipFill>
        <p:spPr>
          <a:xfrm>
            <a:off x="11934901" y="10363200"/>
            <a:ext cx="666599" cy="606457"/>
          </a:xfrm>
          <a:prstGeom prst="rect">
            <a:avLst/>
          </a:prstGeom>
        </p:spPr>
      </p:pic>
      <p:sp>
        <p:nvSpPr>
          <p:cNvPr id="44" name="Text"/>
          <p:cNvSpPr txBox="1"/>
          <p:nvPr/>
        </p:nvSpPr>
        <p:spPr>
          <a:xfrm>
            <a:off x="11934825" y="11178540"/>
            <a:ext cx="3149971" cy="440055"/>
          </a:xfrm>
          <a:prstGeom prst="rect">
            <a:avLst/>
          </a:prstGeom>
          <a:noFill/>
        </p:spPr>
        <p:txBody>
          <a:bodyPr wrap="none" lIns="0" rIns="0" tIns="0" bIns="0" anchor="t">
            <a:noAutofit/>
          </a:bodyPr>
          <a:lstStyle/>
          <a:p>
            <a:pPr algn="l">
              <a:lnSpc>
                <a:spcPts val="2475"/>
              </a:lnSpc>
              <a:spcBef>
                <a:spcPts val="0"/>
              </a:spcBef>
              <a:spcAft>
                <a:spcPts val="0"/>
              </a:spcAft>
            </a:pPr>
            <a:r>
              <a:rPr b="0" sz="2250" i="0">
                <a:solidFill>
                  <a:srgbClr val="362CFF"/>
                </a:solidFill>
                <a:latin typeface="Archivo ExtraBold"/>
              </a:rPr>
              <a:t>Care for your space</a:t>
            </a:r>
          </a:p>
        </p:txBody>
      </p:sp>
      <p:sp>
        <p:nvSpPr>
          <p:cNvPr id="45" name="Text"/>
          <p:cNvSpPr txBox="1"/>
          <p:nvPr/>
        </p:nvSpPr>
        <p:spPr>
          <a:xfrm>
            <a:off x="11934825" y="11572875"/>
            <a:ext cx="2922270" cy="931069"/>
          </a:xfrm>
          <a:prstGeom prst="rect">
            <a:avLst/>
          </a:prstGeom>
          <a:noFill/>
        </p:spPr>
        <p:txBody>
          <a:bodyPr wrap="square" lIns="0" rIns="0" tIns="0" bIns="0" anchor="t">
            <a:noAutofit/>
          </a:bodyPr>
          <a:lstStyle/>
          <a:p>
            <a:pPr algn="l">
              <a:lnSpc>
                <a:spcPts val="2156"/>
              </a:lnSpc>
              <a:spcBef>
                <a:spcPts val="0"/>
              </a:spcBef>
              <a:spcAft>
                <a:spcPts val="0"/>
              </a:spcAft>
            </a:pPr>
            <a:r>
              <a:rPr b="0" sz="1725" i="0">
                <a:solidFill>
                  <a:srgbClr val="362CFF"/>
                </a:solidFill>
                <a:latin typeface="Archivo Medium"/>
              </a:rPr>
              <a:t>We leave it better, with respect for places people live and work.</a:t>
            </a:r>
          </a:p>
        </p:txBody>
      </p:sp>
      <p:sp>
        <p:nvSpPr>
          <p:cNvPr id="46" name="Box"/>
          <p:cNvSpPr/>
          <p:nvPr/>
        </p:nvSpPr>
        <p:spPr>
          <a:xfrm>
            <a:off x="1200150" y="13375481"/>
            <a:ext cx="4470368" cy="929545"/>
          </a:xfrm>
          <a:prstGeom prst="roundRect">
            <a:avLst>
              <a:gd name="adj" fmla="val 22543"/>
            </a:avLst>
          </a:prstGeom>
          <a:solidFill>
            <a:srgbClr val="E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Box frame"/>
          <p:cNvSpPr/>
          <p:nvPr/>
        </p:nvSpPr>
        <p:spPr>
          <a:xfrm>
            <a:off x="1219200" y="13394531"/>
            <a:ext cx="4432268" cy="891445"/>
          </a:xfrm>
          <a:prstGeom prst="roundRect">
            <a:avLst>
              <a:gd name="adj" fmla="val 23506"/>
            </a:avLst>
          </a:prstGeom>
          <a:noFill/>
          <a:ln w="38100">
            <a:solidFill>
              <a:srgbClr val="362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
          <p:cNvSpPr txBox="1"/>
          <p:nvPr/>
        </p:nvSpPr>
        <p:spPr>
          <a:xfrm>
            <a:off x="1447800" y="13603319"/>
            <a:ext cx="1852102" cy="768096"/>
          </a:xfrm>
          <a:prstGeom prst="rect">
            <a:avLst/>
          </a:prstGeom>
          <a:noFill/>
        </p:spPr>
        <p:txBody>
          <a:bodyPr wrap="none" lIns="0" rIns="0" tIns="0" bIns="0" anchor="t">
            <a:noAutofit/>
          </a:bodyPr>
          <a:lstStyle/>
          <a:p>
            <a:pPr algn="l">
              <a:lnSpc>
                <a:spcPts val="4320"/>
              </a:lnSpc>
              <a:spcBef>
                <a:spcPts val="0"/>
              </a:spcBef>
              <a:spcAft>
                <a:spcPts val="0"/>
              </a:spcAft>
            </a:pPr>
            <a:r>
              <a:rPr b="0" sz="4800" i="0" spc="-72">
                <a:solidFill>
                  <a:srgbClr val="362CFF"/>
                </a:solidFill>
                <a:latin typeface="Archivo Black"/>
              </a:rPr>
              <a:t>500+</a:t>
            </a:r>
          </a:p>
        </p:txBody>
      </p:sp>
      <p:sp>
        <p:nvSpPr>
          <p:cNvPr id="49" name="Text"/>
          <p:cNvSpPr txBox="1"/>
          <p:nvPr/>
        </p:nvSpPr>
        <p:spPr>
          <a:xfrm>
            <a:off x="3223927" y="13689044"/>
            <a:ext cx="2368540" cy="398716"/>
          </a:xfrm>
          <a:prstGeom prst="rect">
            <a:avLst/>
          </a:prstGeom>
          <a:noFill/>
        </p:spPr>
        <p:txBody>
          <a:bodyPr wrap="none" lIns="0" rIns="0" tIns="0" bIns="0" anchor="t">
            <a:noAutofit/>
          </a:bodyPr>
          <a:lstStyle/>
          <a:p>
            <a:pPr algn="l">
              <a:lnSpc>
                <a:spcPts val="2242"/>
              </a:lnSpc>
              <a:spcBef>
                <a:spcPts val="0"/>
              </a:spcBef>
              <a:spcAft>
                <a:spcPts val="0"/>
              </a:spcAft>
            </a:pPr>
            <a:r>
              <a:rPr b="1" sz="1950" i="0">
                <a:solidFill>
                  <a:srgbClr val="362CFF"/>
                </a:solidFill>
                <a:latin typeface="Archivo"/>
              </a:rPr>
              <a:t>Spaces improved</a:t>
            </a:r>
          </a:p>
        </p:txBody>
      </p:sp>
      <p:sp>
        <p:nvSpPr>
          <p:cNvPr id="50" name="Box"/>
          <p:cNvSpPr/>
          <p:nvPr/>
        </p:nvSpPr>
        <p:spPr>
          <a:xfrm>
            <a:off x="5861018" y="13375481"/>
            <a:ext cx="4470464" cy="929545"/>
          </a:xfrm>
          <a:prstGeom prst="roundRect">
            <a:avLst>
              <a:gd name="adj" fmla="val 22543"/>
            </a:avLst>
          </a:prstGeom>
          <a:solidFill>
            <a:srgbClr val="E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Box frame"/>
          <p:cNvSpPr/>
          <p:nvPr/>
        </p:nvSpPr>
        <p:spPr>
          <a:xfrm>
            <a:off x="5880068" y="13394531"/>
            <a:ext cx="4432364" cy="891445"/>
          </a:xfrm>
          <a:prstGeom prst="roundRect">
            <a:avLst>
              <a:gd name="adj" fmla="val 23506"/>
            </a:avLst>
          </a:prstGeom>
          <a:noFill/>
          <a:ln w="38100">
            <a:solidFill>
              <a:srgbClr val="362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p:cNvSpPr txBox="1"/>
          <p:nvPr/>
        </p:nvSpPr>
        <p:spPr>
          <a:xfrm>
            <a:off x="6108668" y="13603319"/>
            <a:ext cx="1639062" cy="768096"/>
          </a:xfrm>
          <a:prstGeom prst="rect">
            <a:avLst/>
          </a:prstGeom>
          <a:noFill/>
        </p:spPr>
        <p:txBody>
          <a:bodyPr wrap="none" lIns="0" rIns="0" tIns="0" bIns="0" anchor="t">
            <a:noAutofit/>
          </a:bodyPr>
          <a:lstStyle/>
          <a:p>
            <a:pPr algn="l">
              <a:lnSpc>
                <a:spcPts val="4320"/>
              </a:lnSpc>
              <a:spcBef>
                <a:spcPts val="0"/>
              </a:spcBef>
              <a:spcAft>
                <a:spcPts val="0"/>
              </a:spcAft>
            </a:pPr>
            <a:r>
              <a:rPr b="0" sz="4800" i="0" spc="-72">
                <a:solidFill>
                  <a:srgbClr val="362CFF"/>
                </a:solidFill>
                <a:latin typeface="Archivo Black"/>
              </a:rPr>
              <a:t>98%</a:t>
            </a:r>
          </a:p>
        </p:txBody>
      </p:sp>
      <p:sp>
        <p:nvSpPr>
          <p:cNvPr id="53" name="Text"/>
          <p:cNvSpPr txBox="1"/>
          <p:nvPr/>
        </p:nvSpPr>
        <p:spPr>
          <a:xfrm>
            <a:off x="7694581" y="13689044"/>
            <a:ext cx="2674711" cy="398716"/>
          </a:xfrm>
          <a:prstGeom prst="rect">
            <a:avLst/>
          </a:prstGeom>
          <a:noFill/>
        </p:spPr>
        <p:txBody>
          <a:bodyPr wrap="none" lIns="0" rIns="0" tIns="0" bIns="0" anchor="t">
            <a:noAutofit/>
          </a:bodyPr>
          <a:lstStyle/>
          <a:p>
            <a:pPr algn="l">
              <a:lnSpc>
                <a:spcPts val="2242"/>
              </a:lnSpc>
              <a:spcBef>
                <a:spcPts val="0"/>
              </a:spcBef>
              <a:spcAft>
                <a:spcPts val="0"/>
              </a:spcAft>
            </a:pPr>
            <a:r>
              <a:rPr b="1" sz="1950" i="0">
                <a:solidFill>
                  <a:srgbClr val="362CFF"/>
                </a:solidFill>
                <a:latin typeface="Archivo"/>
              </a:rPr>
              <a:t>On-time completion</a:t>
            </a:r>
          </a:p>
        </p:txBody>
      </p:sp>
      <p:sp>
        <p:nvSpPr>
          <p:cNvPr id="54" name="Box"/>
          <p:cNvSpPr/>
          <p:nvPr/>
        </p:nvSpPr>
        <p:spPr>
          <a:xfrm>
            <a:off x="10521982" y="13375481"/>
            <a:ext cx="4470368" cy="929545"/>
          </a:xfrm>
          <a:prstGeom prst="roundRect">
            <a:avLst>
              <a:gd name="adj" fmla="val 22543"/>
            </a:avLst>
          </a:prstGeom>
          <a:solidFill>
            <a:srgbClr val="E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Box frame"/>
          <p:cNvSpPr/>
          <p:nvPr/>
        </p:nvSpPr>
        <p:spPr>
          <a:xfrm>
            <a:off x="10541032" y="13394531"/>
            <a:ext cx="4432268" cy="891445"/>
          </a:xfrm>
          <a:prstGeom prst="roundRect">
            <a:avLst>
              <a:gd name="adj" fmla="val 23506"/>
            </a:avLst>
          </a:prstGeom>
          <a:noFill/>
          <a:ln w="38100">
            <a:solidFill>
              <a:srgbClr val="362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p:cNvSpPr txBox="1"/>
          <p:nvPr/>
        </p:nvSpPr>
        <p:spPr>
          <a:xfrm>
            <a:off x="10769632" y="13603319"/>
            <a:ext cx="1183645" cy="768096"/>
          </a:xfrm>
          <a:prstGeom prst="rect">
            <a:avLst/>
          </a:prstGeom>
          <a:noFill/>
        </p:spPr>
        <p:txBody>
          <a:bodyPr wrap="none" lIns="0" rIns="0" tIns="0" bIns="0" anchor="t">
            <a:noAutofit/>
          </a:bodyPr>
          <a:lstStyle/>
          <a:p>
            <a:pPr algn="l">
              <a:lnSpc>
                <a:spcPts val="4320"/>
              </a:lnSpc>
              <a:spcBef>
                <a:spcPts val="0"/>
              </a:spcBef>
              <a:spcAft>
                <a:spcPts val="0"/>
              </a:spcAft>
            </a:pPr>
            <a:r>
              <a:rPr b="0" sz="4800" i="0" spc="-72">
                <a:solidFill>
                  <a:srgbClr val="362CFF"/>
                </a:solidFill>
                <a:latin typeface="Archivo Black"/>
              </a:rPr>
              <a:t>5.0</a:t>
            </a:r>
          </a:p>
        </p:txBody>
      </p:sp>
      <p:sp>
        <p:nvSpPr>
          <p:cNvPr id="57" name="Text"/>
          <p:cNvSpPr txBox="1"/>
          <p:nvPr/>
        </p:nvSpPr>
        <p:spPr>
          <a:xfrm>
            <a:off x="11948922" y="13689044"/>
            <a:ext cx="2000601" cy="398716"/>
          </a:xfrm>
          <a:prstGeom prst="rect">
            <a:avLst/>
          </a:prstGeom>
          <a:noFill/>
        </p:spPr>
        <p:txBody>
          <a:bodyPr wrap="none" lIns="0" rIns="0" tIns="0" bIns="0" anchor="t">
            <a:noAutofit/>
          </a:bodyPr>
          <a:lstStyle/>
          <a:p>
            <a:pPr algn="l">
              <a:lnSpc>
                <a:spcPts val="2242"/>
              </a:lnSpc>
              <a:spcBef>
                <a:spcPts val="0"/>
              </a:spcBef>
              <a:spcAft>
                <a:spcPts val="0"/>
              </a:spcAft>
            </a:pPr>
            <a:r>
              <a:rPr b="1" sz="1950" i="0">
                <a:solidFill>
                  <a:srgbClr val="362CFF"/>
                </a:solidFill>
                <a:latin typeface="Archivo"/>
              </a:rPr>
              <a:t>Average rating</a:t>
            </a:r>
          </a:p>
        </p:txBody>
      </p:sp>
      <p:sp>
        <p:nvSpPr>
          <p:cNvPr id="58" name="Box"/>
          <p:cNvSpPr/>
          <p:nvPr/>
        </p:nvSpPr>
        <p:spPr>
          <a:xfrm>
            <a:off x="1200150" y="14724126"/>
            <a:ext cx="5715000" cy="3238500"/>
          </a:xfrm>
          <a:prstGeom prst="roundRect">
            <a:avLst>
              <a:gd name="adj" fmla="val 6470"/>
            </a:avLst>
          </a:prstGeom>
          <a:solidFill>
            <a:srgbClr val="17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9" name="Photo" descr="photo-ba214857c75d1cba.jpg"/>
          <p:cNvPicPr>
            <a:picLocks noChangeAspect="1"/>
          </p:cNvPicPr>
          <p:nvPr/>
        </p:nvPicPr>
        <p:blipFill>
          <a:blip r:embed="rId11"/>
          <a:srcRect t="12222" b="12222"/>
          <a:stretch>
            <a:fillRect/>
          </a:stretch>
        </p:blipFill>
        <p:spPr>
          <a:xfrm>
            <a:off x="1200150" y="14724126"/>
            <a:ext cx="5715000" cy="3238500"/>
          </a:xfrm>
          <a:prstGeom prst="roundRect">
            <a:avLst>
              <a:gd name="adj" fmla="val 6470"/>
            </a:avLst>
          </a:prstGeom>
        </p:spPr>
      </p:pic>
      <p:sp>
        <p:nvSpPr>
          <p:cNvPr id="60" name="Text"/>
          <p:cNvSpPr txBox="1"/>
          <p:nvPr/>
        </p:nvSpPr>
        <p:spPr>
          <a:xfrm>
            <a:off x="7296150" y="15615209"/>
            <a:ext cx="3131729" cy="390182"/>
          </a:xfrm>
          <a:prstGeom prst="rect">
            <a:avLst/>
          </a:prstGeom>
          <a:noFill/>
        </p:spPr>
        <p:txBody>
          <a:bodyPr wrap="none" lIns="0" rIns="0" tIns="0" bIns="0" anchor="t">
            <a:noAutofit/>
          </a:bodyPr>
          <a:lstStyle/>
          <a:p>
            <a:pPr algn="l">
              <a:lnSpc>
                <a:spcPts val="2194"/>
              </a:lnSpc>
              <a:spcBef>
                <a:spcPts val="0"/>
              </a:spcBef>
              <a:spcAft>
                <a:spcPts val="0"/>
              </a:spcAft>
            </a:pPr>
            <a:r>
              <a:rPr b="0" sz="1800" i="1" spc="72">
                <a:solidFill>
                  <a:srgbClr val="362CFF"/>
                </a:solidFill>
                <a:latin typeface="Archivo ExtraBold"/>
              </a:rPr>
              <a:t>CASE STUDY / ZILKER</a:t>
            </a:r>
          </a:p>
        </p:txBody>
      </p:sp>
      <p:sp>
        <p:nvSpPr>
          <p:cNvPr id="61" name="Headline"/>
          <p:cNvSpPr txBox="1"/>
          <p:nvPr/>
        </p:nvSpPr>
        <p:spPr>
          <a:xfrm>
            <a:off x="7296150" y="16030956"/>
            <a:ext cx="8554913" cy="696087"/>
          </a:xfrm>
          <a:prstGeom prst="rect">
            <a:avLst/>
          </a:prstGeom>
          <a:noFill/>
        </p:spPr>
        <p:txBody>
          <a:bodyPr wrap="none" lIns="0" rIns="0" tIns="0" bIns="0" anchor="t">
            <a:noAutofit/>
          </a:bodyPr>
          <a:lstStyle/>
          <a:p>
            <a:pPr algn="l">
              <a:lnSpc>
                <a:spcPts val="3915"/>
              </a:lnSpc>
              <a:spcBef>
                <a:spcPts val="0"/>
              </a:spcBef>
              <a:spcAft>
                <a:spcPts val="0"/>
              </a:spcAft>
            </a:pPr>
            <a:r>
              <a:rPr b="0" sz="4350" i="0" spc="-65">
                <a:solidFill>
                  <a:srgbClr val="171726"/>
                </a:solidFill>
                <a:latin typeface="Archivo Black"/>
              </a:rPr>
              <a:t>FULL EXTERIOR REPAINT.</a:t>
            </a:r>
          </a:p>
        </p:txBody>
      </p:sp>
      <p:sp>
        <p:nvSpPr>
          <p:cNvPr id="62" name="Text"/>
          <p:cNvSpPr txBox="1"/>
          <p:nvPr/>
        </p:nvSpPr>
        <p:spPr>
          <a:xfrm>
            <a:off x="7296150" y="16610114"/>
            <a:ext cx="5964296" cy="585673"/>
          </a:xfrm>
          <a:prstGeom prst="rect">
            <a:avLst/>
          </a:prstGeom>
          <a:noFill/>
        </p:spPr>
        <p:txBody>
          <a:bodyPr wrap="none" lIns="0" rIns="0" tIns="0" bIns="0" anchor="t">
            <a:noAutofit/>
          </a:bodyPr>
          <a:lstStyle/>
          <a:p>
            <a:pPr algn="l">
              <a:lnSpc>
                <a:spcPts val="3294"/>
              </a:lnSpc>
              <a:spcBef>
                <a:spcPts val="0"/>
              </a:spcBef>
              <a:spcAft>
                <a:spcPts val="0"/>
              </a:spcAft>
            </a:pPr>
            <a:r>
              <a:rPr b="0" sz="2700" i="0" spc="-13">
                <a:solidFill>
                  <a:srgbClr val="362CFF"/>
                </a:solidFill>
                <a:latin typeface="Archivo Medium"/>
              </a:rPr>
              <a:t>2,850 sq ft. 6 working days. 4 crew.</a:t>
            </a:r>
          </a:p>
        </p:txBody>
      </p:sp>
      <p:sp>
        <p:nvSpPr>
          <p:cNvPr id="63" name="Box"/>
          <p:cNvSpPr/>
          <p:nvPr/>
        </p:nvSpPr>
        <p:spPr>
          <a:xfrm>
            <a:off x="1200150" y="18173700"/>
            <a:ext cx="13792200" cy="1714500"/>
          </a:xfrm>
          <a:prstGeom prst="roundRect">
            <a:avLst>
              <a:gd name="adj" fmla="val 12222"/>
            </a:avLst>
          </a:prstGeom>
          <a:solidFill>
            <a:srgbClr val="362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Box frame"/>
          <p:cNvSpPr/>
          <p:nvPr/>
        </p:nvSpPr>
        <p:spPr>
          <a:xfrm>
            <a:off x="1219200" y="18192750"/>
            <a:ext cx="13754100" cy="1676400"/>
          </a:xfrm>
          <a:prstGeom prst="roundRect">
            <a:avLst>
              <a:gd name="adj" fmla="val 12500"/>
            </a:avLst>
          </a:prstGeom>
          <a:noFill/>
          <a:ln w="38100">
            <a:solidFill>
              <a:srgbClr val="ECE9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Headline"/>
          <p:cNvSpPr txBox="1"/>
          <p:nvPr/>
        </p:nvSpPr>
        <p:spPr>
          <a:xfrm>
            <a:off x="1657350" y="18797111"/>
            <a:ext cx="8664793" cy="744093"/>
          </a:xfrm>
          <a:prstGeom prst="rect">
            <a:avLst/>
          </a:prstGeom>
          <a:noFill/>
        </p:spPr>
        <p:txBody>
          <a:bodyPr wrap="none" lIns="0" rIns="0" tIns="0" bIns="0" anchor="t">
            <a:noAutofit/>
          </a:bodyPr>
          <a:lstStyle/>
          <a:p>
            <a:pPr algn="l">
              <a:lnSpc>
                <a:spcPts val="4184"/>
              </a:lnSpc>
              <a:spcBef>
                <a:spcPts val="0"/>
              </a:spcBef>
              <a:spcAft>
                <a:spcPts val="0"/>
              </a:spcAft>
            </a:pPr>
            <a:r>
              <a:rPr b="0" sz="4650" i="0" spc="-69">
                <a:solidFill>
                  <a:srgbClr val="ECE9E0"/>
                </a:solidFill>
                <a:latin typeface="Archivo Black"/>
              </a:rPr>
              <a:t>GET A CLEAR ESTIMATE.</a:t>
            </a:r>
          </a:p>
        </p:txBody>
      </p:sp>
      <p:sp>
        <p:nvSpPr>
          <p:cNvPr id="66" name="Text"/>
          <p:cNvSpPr txBox="1"/>
          <p:nvPr/>
        </p:nvSpPr>
        <p:spPr>
          <a:xfrm>
            <a:off x="11849576" y="18447487"/>
            <a:ext cx="2408652" cy="487661"/>
          </a:xfrm>
          <a:prstGeom prst="rect">
            <a:avLst/>
          </a:prstGeom>
          <a:noFill/>
        </p:spPr>
        <p:txBody>
          <a:bodyPr wrap="none" lIns="0" rIns="0" tIns="0" bIns="0" anchor="t">
            <a:noAutofit/>
          </a:bodyPr>
          <a:lstStyle/>
          <a:p>
            <a:pPr algn="l">
              <a:lnSpc>
                <a:spcPts val="2742"/>
              </a:lnSpc>
              <a:spcBef>
                <a:spcPts val="0"/>
              </a:spcBef>
              <a:spcAft>
                <a:spcPts val="0"/>
              </a:spcAft>
            </a:pPr>
            <a:r>
              <a:rPr b="1" sz="2250" i="0">
                <a:solidFill>
                  <a:srgbClr val="ECE9E0"/>
                </a:solidFill>
                <a:latin typeface="Archivo"/>
              </a:rPr>
              <a:t>(512) 348-6433</a:t>
            </a:r>
          </a:p>
        </p:txBody>
      </p:sp>
      <p:sp>
        <p:nvSpPr>
          <p:cNvPr id="67" name="Text"/>
          <p:cNvSpPr txBox="1"/>
          <p:nvPr/>
        </p:nvSpPr>
        <p:spPr>
          <a:xfrm>
            <a:off x="11849576" y="18847537"/>
            <a:ext cx="2408545" cy="487661"/>
          </a:xfrm>
          <a:prstGeom prst="rect">
            <a:avLst/>
          </a:prstGeom>
          <a:noFill/>
        </p:spPr>
        <p:txBody>
          <a:bodyPr wrap="none" lIns="0" rIns="0" tIns="0" bIns="0" anchor="t">
            <a:noAutofit/>
          </a:bodyPr>
          <a:lstStyle/>
          <a:p>
            <a:pPr algn="l">
              <a:lnSpc>
                <a:spcPts val="2742"/>
              </a:lnSpc>
              <a:spcBef>
                <a:spcPts val="0"/>
              </a:spcBef>
              <a:spcAft>
                <a:spcPts val="0"/>
              </a:spcAft>
            </a:pPr>
            <a:r>
              <a:rPr b="1" sz="2250" i="0">
                <a:solidFill>
                  <a:srgbClr val="ECE9E0"/>
                </a:solidFill>
                <a:latin typeface="Archivo"/>
              </a:rPr>
              <a:t>(512) 348-6232</a:t>
            </a:r>
          </a:p>
        </p:txBody>
      </p:sp>
      <p:sp>
        <p:nvSpPr>
          <p:cNvPr id="68" name="Text"/>
          <p:cNvSpPr txBox="1"/>
          <p:nvPr/>
        </p:nvSpPr>
        <p:spPr>
          <a:xfrm>
            <a:off x="11849576" y="19247587"/>
            <a:ext cx="3084043" cy="487661"/>
          </a:xfrm>
          <a:prstGeom prst="rect">
            <a:avLst/>
          </a:prstGeom>
          <a:noFill/>
        </p:spPr>
        <p:txBody>
          <a:bodyPr wrap="none" lIns="0" rIns="0" tIns="0" bIns="0" anchor="t">
            <a:noAutofit/>
          </a:bodyPr>
          <a:lstStyle/>
          <a:p>
            <a:pPr algn="l">
              <a:lnSpc>
                <a:spcPts val="2742"/>
              </a:lnSpc>
              <a:spcBef>
                <a:spcPts val="0"/>
              </a:spcBef>
              <a:spcAft>
                <a:spcPts val="0"/>
              </a:spcAft>
            </a:pPr>
            <a:r>
              <a:rPr b="1" sz="2250" i="0">
                <a:solidFill>
                  <a:srgbClr val="ECE9E0"/>
                </a:solidFill>
                <a:latin typeface="Archivo"/>
              </a:rPr>
              <a:t>choosecosmic.com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6192500" cy="20955000"/>
          </a:xfrm>
          <a:prstGeom prst="rect">
            <a:avLst/>
          </a:prstGeom>
          <a:solidFill>
            <a:srgbClr val="E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Graphic" descr="logo-0f1588ab573edba1.png"/>
          <p:cNvPicPr>
            <a:picLocks noChangeAspect="1"/>
          </p:cNvPicPr>
          <p:nvPr/>
        </p:nvPicPr>
        <p:blipFill>
          <a:blip r:embed="rId2"/>
          <a:stretch>
            <a:fillRect/>
          </a:stretch>
        </p:blipFill>
        <p:spPr>
          <a:xfrm>
            <a:off x="1428750" y="1047754"/>
            <a:ext cx="3843528" cy="914391"/>
          </a:xfrm>
          <a:prstGeom prst="rect">
            <a:avLst/>
          </a:prstGeom>
        </p:spPr>
      </p:pic>
      <p:sp>
        <p:nvSpPr>
          <p:cNvPr id="4" name="Box frame"/>
          <p:cNvSpPr/>
          <p:nvPr/>
        </p:nvSpPr>
        <p:spPr>
          <a:xfrm>
            <a:off x="13249275" y="1357312"/>
            <a:ext cx="1500188" cy="304800"/>
          </a:xfrm>
          <a:prstGeom prst="roundRect">
            <a:avLst>
              <a:gd name="adj" fmla="val 31250"/>
            </a:avLst>
          </a:prstGeom>
          <a:noFill/>
          <a:ln w="28575">
            <a:solidFill>
              <a:srgbClr val="1717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
          <p:cNvSpPr txBox="1"/>
          <p:nvPr/>
        </p:nvSpPr>
        <p:spPr>
          <a:xfrm>
            <a:off x="13396912" y="1389583"/>
            <a:ext cx="1425702" cy="318573"/>
          </a:xfrm>
          <a:prstGeom prst="rect">
            <a:avLst/>
          </a:prstGeom>
          <a:noFill/>
        </p:spPr>
        <p:txBody>
          <a:bodyPr wrap="none" lIns="0" rIns="0" tIns="0" bIns="0" anchor="t">
            <a:noAutofit/>
          </a:bodyPr>
          <a:lstStyle/>
          <a:p>
            <a:pPr algn="l">
              <a:lnSpc>
                <a:spcPts val="1791"/>
              </a:lnSpc>
              <a:spcBef>
                <a:spcPts val="0"/>
              </a:spcBef>
              <a:spcAft>
                <a:spcPts val="0"/>
              </a:spcAft>
            </a:pPr>
            <a:r>
              <a:rPr b="1" sz="1470" i="0" spc="58">
                <a:solidFill>
                  <a:srgbClr val="171726"/>
                </a:solidFill>
                <a:latin typeface="Archivo"/>
              </a:rPr>
              <a:t>[TBC: DATE]</a:t>
            </a:r>
          </a:p>
        </p:txBody>
      </p:sp>
      <p:sp>
        <p:nvSpPr>
          <p:cNvPr id="6" name="Text"/>
          <p:cNvSpPr txBox="1"/>
          <p:nvPr/>
        </p:nvSpPr>
        <p:spPr>
          <a:xfrm>
            <a:off x="1428750" y="2884551"/>
            <a:ext cx="3128208" cy="552736"/>
          </a:xfrm>
          <a:prstGeom prst="rect">
            <a:avLst/>
          </a:prstGeom>
          <a:noFill/>
        </p:spPr>
        <p:txBody>
          <a:bodyPr wrap="none" lIns="0" rIns="0" tIns="0" bIns="0" anchor="t">
            <a:noAutofit/>
          </a:bodyPr>
          <a:lstStyle/>
          <a:p>
            <a:pPr algn="l">
              <a:lnSpc>
                <a:spcPts val="3108"/>
              </a:lnSpc>
              <a:spcBef>
                <a:spcPts val="0"/>
              </a:spcBef>
              <a:spcAft>
                <a:spcPts val="0"/>
              </a:spcAft>
            </a:pPr>
            <a:r>
              <a:rPr b="0" sz="2550" i="0">
                <a:solidFill>
                  <a:srgbClr val="171726"/>
                </a:solidFill>
                <a:latin typeface="Archivo Medium"/>
              </a:rPr>
              <a:t>Dear ,</a:t>
            </a:r>
          </a:p>
        </p:txBody>
      </p:sp>
      <p:sp>
        <p:nvSpPr>
          <p:cNvPr id="7" name="Box frame"/>
          <p:cNvSpPr/>
          <p:nvPr/>
        </p:nvSpPr>
        <p:spPr>
          <a:xfrm>
            <a:off x="2209324" y="2947988"/>
            <a:ext cx="1836801" cy="352425"/>
          </a:xfrm>
          <a:prstGeom prst="roundRect">
            <a:avLst>
              <a:gd name="adj" fmla="val 27027"/>
            </a:avLst>
          </a:prstGeom>
          <a:noFill/>
          <a:ln w="28575">
            <a:solidFill>
              <a:srgbClr val="1717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
          <p:cNvSpPr txBox="1"/>
          <p:nvPr/>
        </p:nvSpPr>
        <p:spPr>
          <a:xfrm>
            <a:off x="2356961" y="2979344"/>
            <a:ext cx="1802709" cy="386848"/>
          </a:xfrm>
          <a:prstGeom prst="rect">
            <a:avLst/>
          </a:prstGeom>
          <a:noFill/>
        </p:spPr>
        <p:txBody>
          <a:bodyPr wrap="none" lIns="0" rIns="0" tIns="0" bIns="0" anchor="t">
            <a:noAutofit/>
          </a:bodyPr>
          <a:lstStyle/>
          <a:p>
            <a:pPr algn="l">
              <a:lnSpc>
                <a:spcPts val="2175"/>
              </a:lnSpc>
              <a:spcBef>
                <a:spcPts val="0"/>
              </a:spcBef>
              <a:spcAft>
                <a:spcPts val="0"/>
              </a:spcAft>
            </a:pPr>
            <a:r>
              <a:rPr b="1" sz="1785" i="0" spc="71">
                <a:solidFill>
                  <a:srgbClr val="171726"/>
                </a:solidFill>
                <a:latin typeface="Archivo"/>
              </a:rPr>
              <a:t>[TBC: NAME]</a:t>
            </a:r>
          </a:p>
        </p:txBody>
      </p:sp>
      <p:sp>
        <p:nvSpPr>
          <p:cNvPr id="9" name="Headline"/>
          <p:cNvSpPr txBox="1"/>
          <p:nvPr/>
        </p:nvSpPr>
        <p:spPr>
          <a:xfrm>
            <a:off x="1428750" y="3845814"/>
            <a:ext cx="13868400" cy="1892808"/>
          </a:xfrm>
          <a:prstGeom prst="rect">
            <a:avLst/>
          </a:prstGeom>
          <a:noFill/>
        </p:spPr>
        <p:txBody>
          <a:bodyPr wrap="square" lIns="0" rIns="0" tIns="0" bIns="0" anchor="t">
            <a:noAutofit/>
          </a:bodyPr>
          <a:lstStyle/>
          <a:p>
            <a:pPr algn="l">
              <a:lnSpc>
                <a:spcPts val="6209"/>
              </a:lnSpc>
              <a:spcBef>
                <a:spcPts val="0"/>
              </a:spcBef>
              <a:spcAft>
                <a:spcPts val="0"/>
              </a:spcAft>
            </a:pPr>
            <a:r>
              <a:rPr b="0" sz="6900" i="0" spc="-103">
                <a:solidFill>
                  <a:srgbClr val="171726"/>
                </a:solidFill>
                <a:latin typeface="Archivo Black"/>
              </a:rPr>
              <a:t>WE HAVE A NEW NAME AND A NEW LOOK.</a:t>
            </a:r>
          </a:p>
        </p:txBody>
      </p:sp>
      <p:sp>
        <p:nvSpPr>
          <p:cNvPr id="10" name="Text"/>
          <p:cNvSpPr txBox="1"/>
          <p:nvPr/>
        </p:nvSpPr>
        <p:spPr>
          <a:xfrm>
            <a:off x="1428750" y="5672233"/>
            <a:ext cx="12256922" cy="734758"/>
          </a:xfrm>
          <a:prstGeom prst="rect">
            <a:avLst/>
          </a:prstGeom>
          <a:noFill/>
        </p:spPr>
        <p:txBody>
          <a:bodyPr wrap="none" lIns="0" rIns="0" tIns="0" bIns="0" anchor="t">
            <a:noAutofit/>
          </a:bodyPr>
          <a:lstStyle/>
          <a:p>
            <a:pPr algn="l">
              <a:lnSpc>
                <a:spcPts val="4132"/>
              </a:lnSpc>
              <a:spcBef>
                <a:spcPts val="0"/>
              </a:spcBef>
              <a:spcAft>
                <a:spcPts val="0"/>
              </a:spcAft>
            </a:pPr>
            <a:r>
              <a:rPr b="0" sz="2850" i="0">
                <a:solidFill>
                  <a:srgbClr val="171726"/>
                </a:solidFill>
                <a:latin typeface="Archivo Medium"/>
              </a:rPr>
              <a:t>Our name is now Cosmic, and we wanted you to hear it from us first.</a:t>
            </a:r>
          </a:p>
        </p:txBody>
      </p:sp>
      <p:sp>
        <p:nvSpPr>
          <p:cNvPr id="11" name="Text"/>
          <p:cNvSpPr txBox="1"/>
          <p:nvPr/>
        </p:nvSpPr>
        <p:spPr>
          <a:xfrm>
            <a:off x="1428750" y="6560534"/>
            <a:ext cx="13868400" cy="1426464"/>
          </a:xfrm>
          <a:prstGeom prst="rect">
            <a:avLst/>
          </a:prstGeom>
          <a:noFill/>
        </p:spPr>
        <p:txBody>
          <a:bodyPr wrap="square" lIns="0" rIns="0" tIns="0" bIns="0" anchor="t">
            <a:noAutofit/>
          </a:bodyPr>
          <a:lstStyle/>
          <a:p>
            <a:pPr algn="l">
              <a:lnSpc>
                <a:spcPts val="4680"/>
              </a:lnSpc>
              <a:spcBef>
                <a:spcPts val="0"/>
              </a:spcBef>
              <a:spcAft>
                <a:spcPts val="0"/>
              </a:spcAft>
            </a:pPr>
            <a:r>
              <a:rPr b="0" sz="3900" i="0" spc="-19">
                <a:solidFill>
                  <a:srgbClr val="362CFF"/>
                </a:solidFill>
                <a:latin typeface="Archivo Medium"/>
              </a:rPr>
              <a:t>Same crew. Same standard of work. A new look, and a higher standard for every space.</a:t>
            </a:r>
          </a:p>
        </p:txBody>
      </p:sp>
      <p:sp>
        <p:nvSpPr>
          <p:cNvPr id="12" name="Text"/>
          <p:cNvSpPr txBox="1"/>
          <p:nvPr/>
        </p:nvSpPr>
        <p:spPr>
          <a:xfrm>
            <a:off x="1428750" y="8014240"/>
            <a:ext cx="7109292" cy="734758"/>
          </a:xfrm>
          <a:prstGeom prst="rect">
            <a:avLst/>
          </a:prstGeom>
          <a:noFill/>
        </p:spPr>
        <p:txBody>
          <a:bodyPr wrap="none" lIns="0" rIns="0" tIns="0" bIns="0" anchor="t">
            <a:noAutofit/>
          </a:bodyPr>
          <a:lstStyle/>
          <a:p>
            <a:pPr algn="l">
              <a:lnSpc>
                <a:spcPts val="4132"/>
              </a:lnSpc>
              <a:spcBef>
                <a:spcPts val="0"/>
              </a:spcBef>
              <a:spcAft>
                <a:spcPts val="0"/>
              </a:spcAft>
            </a:pPr>
            <a:r>
              <a:rPr b="0" sz="2850" i="0">
                <a:solidFill>
                  <a:srgbClr val="171726"/>
                </a:solidFill>
                <a:latin typeface="Archivo Medium"/>
              </a:rPr>
              <a:t>Four things guide every job we take on:</a:t>
            </a:r>
          </a:p>
        </p:txBody>
      </p:sp>
      <p:sp>
        <p:nvSpPr>
          <p:cNvPr id="13" name="Rule top"/>
          <p:cNvSpPr/>
          <p:nvPr/>
        </p:nvSpPr>
        <p:spPr>
          <a:xfrm>
            <a:off x="1428750" y="8806434"/>
            <a:ext cx="13335000" cy="28575"/>
          </a:xfrm>
          <a:prstGeom prst="rect">
            <a:avLst/>
          </a:prstGeom>
          <a:solidFill>
            <a:srgbClr val="362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p:cNvSpPr txBox="1"/>
          <p:nvPr/>
        </p:nvSpPr>
        <p:spPr>
          <a:xfrm>
            <a:off x="1428750" y="9089898"/>
            <a:ext cx="2202332" cy="504063"/>
          </a:xfrm>
          <a:prstGeom prst="rect">
            <a:avLst/>
          </a:prstGeom>
          <a:noFill/>
        </p:spPr>
        <p:txBody>
          <a:bodyPr wrap="none" lIns="0" rIns="0" tIns="0" bIns="0" anchor="t">
            <a:noAutofit/>
          </a:bodyPr>
          <a:lstStyle/>
          <a:p>
            <a:pPr algn="l">
              <a:lnSpc>
                <a:spcPts val="2835"/>
              </a:lnSpc>
              <a:spcBef>
                <a:spcPts val="0"/>
              </a:spcBef>
              <a:spcAft>
                <a:spcPts val="0"/>
              </a:spcAft>
            </a:pPr>
            <a:r>
              <a:rPr b="0" sz="3150" i="0" spc="-47">
                <a:solidFill>
                  <a:srgbClr val="362CFF"/>
                </a:solidFill>
                <a:latin typeface="Archivo Black"/>
              </a:rPr>
              <a:t>CLARITY</a:t>
            </a:r>
          </a:p>
        </p:txBody>
      </p:sp>
      <p:sp>
        <p:nvSpPr>
          <p:cNvPr id="15" name="Text"/>
          <p:cNvSpPr txBox="1"/>
          <p:nvPr/>
        </p:nvSpPr>
        <p:spPr>
          <a:xfrm>
            <a:off x="4248150" y="9006383"/>
            <a:ext cx="2643881" cy="650215"/>
          </a:xfrm>
          <a:prstGeom prst="rect">
            <a:avLst/>
          </a:prstGeom>
          <a:noFill/>
        </p:spPr>
        <p:txBody>
          <a:bodyPr wrap="none" lIns="0" rIns="0" tIns="0" bIns="0" anchor="t">
            <a:noAutofit/>
          </a:bodyPr>
          <a:lstStyle/>
          <a:p>
            <a:pPr algn="l">
              <a:lnSpc>
                <a:spcPts val="3657"/>
              </a:lnSpc>
              <a:spcBef>
                <a:spcPts val="0"/>
              </a:spcBef>
              <a:spcAft>
                <a:spcPts val="0"/>
              </a:spcAft>
            </a:pPr>
            <a:r>
              <a:rPr b="0" sz="3000" i="0">
                <a:solidFill>
                  <a:srgbClr val="171726"/>
                </a:solidFill>
                <a:latin typeface="Archivo Medium"/>
              </a:rPr>
              <a:t>No surprises.</a:t>
            </a:r>
          </a:p>
        </p:txBody>
      </p:sp>
      <p:sp>
        <p:nvSpPr>
          <p:cNvPr id="16" name="Rule top"/>
          <p:cNvSpPr/>
          <p:nvPr/>
        </p:nvSpPr>
        <p:spPr>
          <a:xfrm>
            <a:off x="1428750" y="9663684"/>
            <a:ext cx="13335000" cy="28575"/>
          </a:xfrm>
          <a:prstGeom prst="rect">
            <a:avLst/>
          </a:prstGeom>
          <a:solidFill>
            <a:srgbClr val="362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p:cNvSpPr txBox="1"/>
          <p:nvPr/>
        </p:nvSpPr>
        <p:spPr>
          <a:xfrm>
            <a:off x="1428750" y="9947148"/>
            <a:ext cx="1710751" cy="504063"/>
          </a:xfrm>
          <a:prstGeom prst="rect">
            <a:avLst/>
          </a:prstGeom>
          <a:noFill/>
        </p:spPr>
        <p:txBody>
          <a:bodyPr wrap="none" lIns="0" rIns="0" tIns="0" bIns="0" anchor="t">
            <a:noAutofit/>
          </a:bodyPr>
          <a:lstStyle/>
          <a:p>
            <a:pPr algn="l">
              <a:lnSpc>
                <a:spcPts val="2835"/>
              </a:lnSpc>
              <a:spcBef>
                <a:spcPts val="0"/>
              </a:spcBef>
              <a:spcAft>
                <a:spcPts val="0"/>
              </a:spcAft>
            </a:pPr>
            <a:r>
              <a:rPr b="0" sz="3150" i="0" spc="-47">
                <a:solidFill>
                  <a:srgbClr val="362CFF"/>
                </a:solidFill>
                <a:latin typeface="Archivo Black"/>
              </a:rPr>
              <a:t>CRAFT</a:t>
            </a:r>
          </a:p>
        </p:txBody>
      </p:sp>
      <p:sp>
        <p:nvSpPr>
          <p:cNvPr id="18" name="Text"/>
          <p:cNvSpPr txBox="1"/>
          <p:nvPr/>
        </p:nvSpPr>
        <p:spPr>
          <a:xfrm>
            <a:off x="4248150" y="9863633"/>
            <a:ext cx="2707356" cy="650215"/>
          </a:xfrm>
          <a:prstGeom prst="rect">
            <a:avLst/>
          </a:prstGeom>
          <a:noFill/>
        </p:spPr>
        <p:txBody>
          <a:bodyPr wrap="none" lIns="0" rIns="0" tIns="0" bIns="0" anchor="t">
            <a:noAutofit/>
          </a:bodyPr>
          <a:lstStyle/>
          <a:p>
            <a:pPr algn="l">
              <a:lnSpc>
                <a:spcPts val="3657"/>
              </a:lnSpc>
              <a:spcBef>
                <a:spcPts val="0"/>
              </a:spcBef>
              <a:spcAft>
                <a:spcPts val="0"/>
              </a:spcAft>
            </a:pPr>
            <a:r>
              <a:rPr b="0" sz="3000" i="0">
                <a:solidFill>
                  <a:srgbClr val="171726"/>
                </a:solidFill>
                <a:latin typeface="Archivo Medium"/>
              </a:rPr>
              <a:t>Do it properly.</a:t>
            </a:r>
          </a:p>
        </p:txBody>
      </p:sp>
      <p:sp>
        <p:nvSpPr>
          <p:cNvPr id="19" name="Rule top"/>
          <p:cNvSpPr/>
          <p:nvPr/>
        </p:nvSpPr>
        <p:spPr>
          <a:xfrm>
            <a:off x="1428750" y="10520934"/>
            <a:ext cx="13335000" cy="28575"/>
          </a:xfrm>
          <a:prstGeom prst="rect">
            <a:avLst/>
          </a:prstGeom>
          <a:solidFill>
            <a:srgbClr val="362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p:cNvSpPr txBox="1"/>
          <p:nvPr/>
        </p:nvSpPr>
        <p:spPr>
          <a:xfrm>
            <a:off x="1428750" y="10804398"/>
            <a:ext cx="1409700" cy="504063"/>
          </a:xfrm>
          <a:prstGeom prst="rect">
            <a:avLst/>
          </a:prstGeom>
          <a:noFill/>
        </p:spPr>
        <p:txBody>
          <a:bodyPr wrap="none" lIns="0" rIns="0" tIns="0" bIns="0" anchor="t">
            <a:noAutofit/>
          </a:bodyPr>
          <a:lstStyle/>
          <a:p>
            <a:pPr algn="l">
              <a:lnSpc>
                <a:spcPts val="2835"/>
              </a:lnSpc>
              <a:spcBef>
                <a:spcPts val="0"/>
              </a:spcBef>
              <a:spcAft>
                <a:spcPts val="0"/>
              </a:spcAft>
            </a:pPr>
            <a:r>
              <a:rPr b="0" sz="3150" i="0" spc="-47">
                <a:solidFill>
                  <a:srgbClr val="362CFF"/>
                </a:solidFill>
                <a:latin typeface="Archivo Black"/>
              </a:rPr>
              <a:t>CARE</a:t>
            </a:r>
          </a:p>
        </p:txBody>
      </p:sp>
      <p:sp>
        <p:nvSpPr>
          <p:cNvPr id="21" name="Text"/>
          <p:cNvSpPr txBox="1"/>
          <p:nvPr/>
        </p:nvSpPr>
        <p:spPr>
          <a:xfrm>
            <a:off x="4248150" y="10720883"/>
            <a:ext cx="2849880" cy="650215"/>
          </a:xfrm>
          <a:prstGeom prst="rect">
            <a:avLst/>
          </a:prstGeom>
          <a:noFill/>
        </p:spPr>
        <p:txBody>
          <a:bodyPr wrap="none" lIns="0" rIns="0" tIns="0" bIns="0" anchor="t">
            <a:noAutofit/>
          </a:bodyPr>
          <a:lstStyle/>
          <a:p>
            <a:pPr algn="l">
              <a:lnSpc>
                <a:spcPts val="3657"/>
              </a:lnSpc>
              <a:spcBef>
                <a:spcPts val="0"/>
              </a:spcBef>
              <a:spcAft>
                <a:spcPts val="0"/>
              </a:spcAft>
            </a:pPr>
            <a:r>
              <a:rPr b="0" sz="3000" i="0">
                <a:solidFill>
                  <a:srgbClr val="171726"/>
                </a:solidFill>
                <a:latin typeface="Archivo Medium"/>
              </a:rPr>
              <a:t>Leave it better.</a:t>
            </a:r>
          </a:p>
        </p:txBody>
      </p:sp>
      <p:sp>
        <p:nvSpPr>
          <p:cNvPr id="22" name="Rule top"/>
          <p:cNvSpPr/>
          <p:nvPr/>
        </p:nvSpPr>
        <p:spPr>
          <a:xfrm>
            <a:off x="1428750" y="11378184"/>
            <a:ext cx="13335000" cy="28575"/>
          </a:xfrm>
          <a:prstGeom prst="rect">
            <a:avLst/>
          </a:prstGeom>
          <a:solidFill>
            <a:srgbClr val="362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p:cNvSpPr txBox="1"/>
          <p:nvPr/>
        </p:nvSpPr>
        <p:spPr>
          <a:xfrm>
            <a:off x="1428750" y="11661648"/>
            <a:ext cx="2117628" cy="504063"/>
          </a:xfrm>
          <a:prstGeom prst="rect">
            <a:avLst/>
          </a:prstGeom>
          <a:noFill/>
        </p:spPr>
        <p:txBody>
          <a:bodyPr wrap="none" lIns="0" rIns="0" tIns="0" bIns="0" anchor="t">
            <a:noAutofit/>
          </a:bodyPr>
          <a:lstStyle/>
          <a:p>
            <a:pPr algn="l">
              <a:lnSpc>
                <a:spcPts val="2835"/>
              </a:lnSpc>
              <a:spcBef>
                <a:spcPts val="0"/>
              </a:spcBef>
              <a:spcAft>
                <a:spcPts val="0"/>
              </a:spcAft>
            </a:pPr>
            <a:r>
              <a:rPr b="0" sz="3150" i="0" spc="-47">
                <a:solidFill>
                  <a:srgbClr val="362CFF"/>
                </a:solidFill>
                <a:latin typeface="Archivo Black"/>
              </a:rPr>
              <a:t>COMMIT</a:t>
            </a:r>
          </a:p>
        </p:txBody>
      </p:sp>
      <p:sp>
        <p:nvSpPr>
          <p:cNvPr id="24" name="Text"/>
          <p:cNvSpPr txBox="1"/>
          <p:nvPr/>
        </p:nvSpPr>
        <p:spPr>
          <a:xfrm>
            <a:off x="4248150" y="11578133"/>
            <a:ext cx="2864602" cy="650215"/>
          </a:xfrm>
          <a:prstGeom prst="rect">
            <a:avLst/>
          </a:prstGeom>
          <a:noFill/>
        </p:spPr>
        <p:txBody>
          <a:bodyPr wrap="none" lIns="0" rIns="0" tIns="0" bIns="0" anchor="t">
            <a:noAutofit/>
          </a:bodyPr>
          <a:lstStyle/>
          <a:p>
            <a:pPr algn="l">
              <a:lnSpc>
                <a:spcPts val="3657"/>
              </a:lnSpc>
              <a:spcBef>
                <a:spcPts val="0"/>
              </a:spcBef>
              <a:spcAft>
                <a:spcPts val="0"/>
              </a:spcAft>
            </a:pPr>
            <a:r>
              <a:rPr b="0" sz="3000" i="0">
                <a:solidFill>
                  <a:srgbClr val="171726"/>
                </a:solidFill>
                <a:latin typeface="Archivo Medium"/>
              </a:rPr>
              <a:t>See it through.</a:t>
            </a:r>
          </a:p>
        </p:txBody>
      </p:sp>
      <p:sp>
        <p:nvSpPr>
          <p:cNvPr id="25" name="Rule top"/>
          <p:cNvSpPr/>
          <p:nvPr/>
        </p:nvSpPr>
        <p:spPr>
          <a:xfrm>
            <a:off x="1428750" y="12235434"/>
            <a:ext cx="13335000" cy="28575"/>
          </a:xfrm>
          <a:prstGeom prst="rect">
            <a:avLst/>
          </a:prstGeom>
          <a:solidFill>
            <a:srgbClr val="362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p:cNvSpPr txBox="1"/>
          <p:nvPr/>
        </p:nvSpPr>
        <p:spPr>
          <a:xfrm>
            <a:off x="1428750" y="12548997"/>
            <a:ext cx="13868400" cy="1784414"/>
          </a:xfrm>
          <a:prstGeom prst="rect">
            <a:avLst/>
          </a:prstGeom>
          <a:noFill/>
        </p:spPr>
        <p:txBody>
          <a:bodyPr wrap="square" lIns="0" rIns="0" tIns="0" bIns="0" anchor="t">
            <a:noAutofit/>
          </a:bodyPr>
          <a:lstStyle/>
          <a:p>
            <a:pPr algn="l">
              <a:lnSpc>
                <a:spcPts val="4132"/>
              </a:lnSpc>
              <a:spcBef>
                <a:spcPts val="0"/>
              </a:spcBef>
              <a:spcAft>
                <a:spcPts val="0"/>
              </a:spcAft>
            </a:pPr>
            <a:r>
              <a:rPr b="0" sz="2850" i="0">
                <a:solidFill>
                  <a:srgbClr val="171726"/>
                </a:solidFill>
                <a:latin typeface="Archivo Medium"/>
              </a:rPr>
              <a:t>Nothing about how we work has changed. You will still know what is happening, and we will still see every job through. Thank you for trusting us with your places. Whether it is a first estimate or the next project, we would be glad to hear from you.</a:t>
            </a:r>
          </a:p>
        </p:txBody>
      </p:sp>
      <p:sp>
        <p:nvSpPr>
          <p:cNvPr id="27" name="Text"/>
          <p:cNvSpPr txBox="1"/>
          <p:nvPr/>
        </p:nvSpPr>
        <p:spPr>
          <a:xfrm>
            <a:off x="1428750" y="15076475"/>
            <a:ext cx="3759114" cy="650215"/>
          </a:xfrm>
          <a:prstGeom prst="rect">
            <a:avLst/>
          </a:prstGeom>
          <a:noFill/>
        </p:spPr>
        <p:txBody>
          <a:bodyPr wrap="none" lIns="0" rIns="0" tIns="0" bIns="0" anchor="t">
            <a:noAutofit/>
          </a:bodyPr>
          <a:lstStyle/>
          <a:p>
            <a:pPr algn="l">
              <a:lnSpc>
                <a:spcPts val="3657"/>
              </a:lnSpc>
              <a:spcBef>
                <a:spcPts val="0"/>
              </a:spcBef>
              <a:spcAft>
                <a:spcPts val="0"/>
              </a:spcAft>
            </a:pPr>
            <a:r>
              <a:rPr b="0" sz="3000" i="0">
                <a:solidFill>
                  <a:srgbClr val="171726"/>
                </a:solidFill>
                <a:latin typeface="Archivo ExtraBold"/>
              </a:rPr>
              <a:t>Roberto Martínez</a:t>
            </a:r>
          </a:p>
        </p:txBody>
      </p:sp>
      <p:sp>
        <p:nvSpPr>
          <p:cNvPr id="28" name="Text"/>
          <p:cNvSpPr txBox="1"/>
          <p:nvPr/>
        </p:nvSpPr>
        <p:spPr>
          <a:xfrm>
            <a:off x="1428750" y="15567050"/>
            <a:ext cx="1680774" cy="325107"/>
          </a:xfrm>
          <a:prstGeom prst="rect">
            <a:avLst/>
          </a:prstGeom>
          <a:noFill/>
        </p:spPr>
        <p:txBody>
          <a:bodyPr wrap="none" lIns="0" rIns="0" tIns="0" bIns="0" anchor="t">
            <a:noAutofit/>
          </a:bodyPr>
          <a:lstStyle/>
          <a:p>
            <a:pPr algn="l">
              <a:lnSpc>
                <a:spcPts val="1828"/>
              </a:lnSpc>
              <a:spcBef>
                <a:spcPts val="0"/>
              </a:spcBef>
              <a:spcAft>
                <a:spcPts val="0"/>
              </a:spcAft>
            </a:pPr>
            <a:r>
              <a:rPr b="0" sz="1500" i="1" spc="60">
                <a:solidFill>
                  <a:srgbClr val="362CFF"/>
                </a:solidFill>
                <a:latin typeface="Archivo ExtraBold"/>
              </a:rPr>
              <a:t>CO-FOUNDER</a:t>
            </a:r>
          </a:p>
        </p:txBody>
      </p:sp>
      <p:sp>
        <p:nvSpPr>
          <p:cNvPr id="29" name="Text"/>
          <p:cNvSpPr txBox="1"/>
          <p:nvPr/>
        </p:nvSpPr>
        <p:spPr>
          <a:xfrm>
            <a:off x="6050566" y="15076475"/>
            <a:ext cx="3766475" cy="650215"/>
          </a:xfrm>
          <a:prstGeom prst="rect">
            <a:avLst/>
          </a:prstGeom>
          <a:noFill/>
        </p:spPr>
        <p:txBody>
          <a:bodyPr wrap="none" lIns="0" rIns="0" tIns="0" bIns="0" anchor="t">
            <a:noAutofit/>
          </a:bodyPr>
          <a:lstStyle/>
          <a:p>
            <a:pPr algn="l">
              <a:lnSpc>
                <a:spcPts val="3657"/>
              </a:lnSpc>
              <a:spcBef>
                <a:spcPts val="0"/>
              </a:spcBef>
              <a:spcAft>
                <a:spcPts val="0"/>
              </a:spcAft>
            </a:pPr>
            <a:r>
              <a:rPr b="0" sz="3000" i="0">
                <a:solidFill>
                  <a:srgbClr val="171726"/>
                </a:solidFill>
                <a:latin typeface="Archivo ExtraBold"/>
              </a:rPr>
              <a:t>Carlos R. Estrada</a:t>
            </a:r>
          </a:p>
        </p:txBody>
      </p:sp>
      <p:sp>
        <p:nvSpPr>
          <p:cNvPr id="30" name="Text"/>
          <p:cNvSpPr txBox="1"/>
          <p:nvPr/>
        </p:nvSpPr>
        <p:spPr>
          <a:xfrm>
            <a:off x="6050566" y="15567050"/>
            <a:ext cx="1680774" cy="325107"/>
          </a:xfrm>
          <a:prstGeom prst="rect">
            <a:avLst/>
          </a:prstGeom>
          <a:noFill/>
        </p:spPr>
        <p:txBody>
          <a:bodyPr wrap="none" lIns="0" rIns="0" tIns="0" bIns="0" anchor="t">
            <a:noAutofit/>
          </a:bodyPr>
          <a:lstStyle/>
          <a:p>
            <a:pPr algn="l">
              <a:lnSpc>
                <a:spcPts val="1828"/>
              </a:lnSpc>
              <a:spcBef>
                <a:spcPts val="0"/>
              </a:spcBef>
              <a:spcAft>
                <a:spcPts val="0"/>
              </a:spcAft>
            </a:pPr>
            <a:r>
              <a:rPr b="0" sz="1500" i="1" spc="60">
                <a:solidFill>
                  <a:srgbClr val="362CFF"/>
                </a:solidFill>
                <a:latin typeface="Archivo ExtraBold"/>
              </a:rPr>
              <a:t>CO-FOUNDER</a:t>
            </a:r>
          </a:p>
        </p:txBody>
      </p:sp>
      <p:sp>
        <p:nvSpPr>
          <p:cNvPr id="31" name="Text"/>
          <p:cNvSpPr txBox="1"/>
          <p:nvPr/>
        </p:nvSpPr>
        <p:spPr>
          <a:xfrm>
            <a:off x="1428750" y="16424910"/>
            <a:ext cx="13868400" cy="1126998"/>
          </a:xfrm>
          <a:prstGeom prst="rect">
            <a:avLst/>
          </a:prstGeom>
          <a:noFill/>
        </p:spPr>
        <p:txBody>
          <a:bodyPr wrap="square" lIns="0" rIns="0" tIns="0" bIns="0" anchor="t">
            <a:noAutofit/>
          </a:bodyPr>
          <a:lstStyle/>
          <a:p>
            <a:pPr algn="l">
              <a:lnSpc>
                <a:spcPts val="3697"/>
              </a:lnSpc>
              <a:spcBef>
                <a:spcPts val="0"/>
              </a:spcBef>
              <a:spcAft>
                <a:spcPts val="0"/>
              </a:spcAft>
            </a:pPr>
            <a:r>
              <a:rPr b="0" sz="2550" i="0">
                <a:solidFill>
                  <a:srgbClr val="171726"/>
                </a:solidFill>
                <a:latin typeface="Archivo ExtraBold"/>
              </a:rPr>
              <a:t>P.S.</a:t>
            </a:r>
            <a:r>
              <a:rPr b="0" sz="2550" i="0">
                <a:solidFill>
                  <a:srgbClr val="171726"/>
                </a:solidFill>
                <a:latin typeface="Archivo Medium"/>
              </a:rPr>
              <a:t> Good work should keep working for you. If you know someone who would like it done properly, tell them about The Club.</a:t>
            </a:r>
          </a:p>
        </p:txBody>
      </p:sp>
      <p:sp>
        <p:nvSpPr>
          <p:cNvPr id="32" name="Rule top"/>
          <p:cNvSpPr/>
          <p:nvPr/>
        </p:nvSpPr>
        <p:spPr>
          <a:xfrm>
            <a:off x="1428750" y="19392900"/>
            <a:ext cx="13335000" cy="38100"/>
          </a:xfrm>
          <a:prstGeom prst="rect">
            <a:avLst/>
          </a:prstGeom>
          <a:solidFill>
            <a:srgbClr val="362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p:cNvSpPr txBox="1"/>
          <p:nvPr/>
        </p:nvSpPr>
        <p:spPr>
          <a:xfrm>
            <a:off x="1428750" y="19684822"/>
            <a:ext cx="2683032" cy="422586"/>
          </a:xfrm>
          <a:prstGeom prst="rect">
            <a:avLst/>
          </a:prstGeom>
          <a:noFill/>
        </p:spPr>
        <p:txBody>
          <a:bodyPr wrap="none" lIns="0" rIns="0" tIns="0" bIns="0" anchor="t">
            <a:noAutofit/>
          </a:bodyPr>
          <a:lstStyle/>
          <a:p>
            <a:pPr algn="l">
              <a:lnSpc>
                <a:spcPts val="2376"/>
              </a:lnSpc>
              <a:spcBef>
                <a:spcPts val="0"/>
              </a:spcBef>
              <a:spcAft>
                <a:spcPts val="0"/>
              </a:spcAft>
            </a:pPr>
            <a:r>
              <a:rPr b="1" sz="1950" i="0">
                <a:solidFill>
                  <a:srgbClr val="362CFF"/>
                </a:solidFill>
                <a:latin typeface="Archivo"/>
              </a:rPr>
              <a:t>choosecosmic.com</a:t>
            </a:r>
          </a:p>
        </p:txBody>
      </p:sp>
      <p:sp>
        <p:nvSpPr>
          <p:cNvPr id="34" name="Text"/>
          <p:cNvSpPr txBox="1"/>
          <p:nvPr/>
        </p:nvSpPr>
        <p:spPr>
          <a:xfrm>
            <a:off x="4308158" y="19684822"/>
            <a:ext cx="4320037" cy="422586"/>
          </a:xfrm>
          <a:prstGeom prst="rect">
            <a:avLst/>
          </a:prstGeom>
          <a:noFill/>
        </p:spPr>
        <p:txBody>
          <a:bodyPr wrap="none" lIns="0" rIns="0" tIns="0" bIns="0" anchor="t">
            <a:noAutofit/>
          </a:bodyPr>
          <a:lstStyle/>
          <a:p>
            <a:pPr algn="l">
              <a:lnSpc>
                <a:spcPts val="2376"/>
              </a:lnSpc>
              <a:spcBef>
                <a:spcPts val="0"/>
              </a:spcBef>
              <a:spcAft>
                <a:spcPts val="0"/>
              </a:spcAft>
            </a:pPr>
            <a:r>
              <a:rPr b="1" sz="1950" i="0">
                <a:solidFill>
                  <a:srgbClr val="362CFF"/>
                </a:solidFill>
                <a:latin typeface="Archivo"/>
              </a:rPr>
              <a:t>(512) 348-6433 · (512) 348-6232</a:t>
            </a:r>
          </a:p>
        </p:txBody>
      </p:sp>
      <p:sp>
        <p:nvSpPr>
          <p:cNvPr id="35" name="Text"/>
          <p:cNvSpPr txBox="1"/>
          <p:nvPr/>
        </p:nvSpPr>
        <p:spPr>
          <a:xfrm>
            <a:off x="8648986" y="19656247"/>
            <a:ext cx="6924736" cy="422586"/>
          </a:xfrm>
          <a:prstGeom prst="rect">
            <a:avLst/>
          </a:prstGeom>
          <a:noFill/>
        </p:spPr>
        <p:txBody>
          <a:bodyPr wrap="none" lIns="0" rIns="0" tIns="0" bIns="0" anchor="t">
            <a:noAutofit/>
          </a:bodyPr>
          <a:lstStyle/>
          <a:p>
            <a:pPr algn="l">
              <a:lnSpc>
                <a:spcPts val="2376"/>
              </a:lnSpc>
              <a:spcBef>
                <a:spcPts val="0"/>
              </a:spcBef>
              <a:spcAft>
                <a:spcPts val="0"/>
              </a:spcAft>
            </a:pPr>
            <a:r>
              <a:rPr b="1" sz="1950" i="0">
                <a:solidFill>
                  <a:srgbClr val="362CFF"/>
                </a:solidFill>
                <a:latin typeface="Archivo"/>
              </a:rPr>
              <a:t>2301 W Anderson Ln , Austin, TX 78757</a:t>
            </a:r>
          </a:p>
        </p:txBody>
      </p:sp>
      <p:sp>
        <p:nvSpPr>
          <p:cNvPr id="36" name="Box frame"/>
          <p:cNvSpPr/>
          <p:nvPr/>
        </p:nvSpPr>
        <p:spPr>
          <a:xfrm>
            <a:off x="11138154" y="19692938"/>
            <a:ext cx="1484376" cy="295275"/>
          </a:xfrm>
          <a:prstGeom prst="roundRect">
            <a:avLst>
              <a:gd name="adj" fmla="val 32258"/>
            </a:avLst>
          </a:prstGeom>
          <a:noFill/>
          <a:ln w="28575">
            <a:solidFill>
              <a:srgbClr val="362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
          <p:cNvSpPr txBox="1"/>
          <p:nvPr/>
        </p:nvSpPr>
        <p:spPr>
          <a:xfrm>
            <a:off x="11285791" y="19728637"/>
            <a:ext cx="1407993" cy="295904"/>
          </a:xfrm>
          <a:prstGeom prst="rect">
            <a:avLst/>
          </a:prstGeom>
          <a:noFill/>
        </p:spPr>
        <p:txBody>
          <a:bodyPr wrap="none" lIns="0" rIns="0" tIns="0" bIns="0" anchor="t">
            <a:noAutofit/>
          </a:bodyPr>
          <a:lstStyle/>
          <a:p>
            <a:pPr algn="l">
              <a:lnSpc>
                <a:spcPts val="1664"/>
              </a:lnSpc>
              <a:spcBef>
                <a:spcPts val="0"/>
              </a:spcBef>
              <a:spcAft>
                <a:spcPts val="0"/>
              </a:spcAft>
            </a:pPr>
            <a:r>
              <a:rPr b="1" sz="1364" i="0" spc="54">
                <a:solidFill>
                  <a:srgbClr val="362CFF"/>
                </a:solidFill>
                <a:latin typeface="Archivo"/>
              </a:rPr>
              <a:t>[TBC: SUITE]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6192500" cy="20955000"/>
          </a:xfrm>
          <a:prstGeom prst="rect">
            <a:avLst/>
          </a:prstGeom>
          <a:solidFill>
            <a:srgbClr val="E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Graphic" descr="logo-0f1588ab573edba1.png"/>
          <p:cNvPicPr>
            <a:picLocks noChangeAspect="1"/>
          </p:cNvPicPr>
          <p:nvPr/>
        </p:nvPicPr>
        <p:blipFill>
          <a:blip r:embed="rId2"/>
          <a:stretch>
            <a:fillRect/>
          </a:stretch>
        </p:blipFill>
        <p:spPr>
          <a:xfrm>
            <a:off x="1428750" y="1047754"/>
            <a:ext cx="3843528" cy="914391"/>
          </a:xfrm>
          <a:prstGeom prst="rect">
            <a:avLst/>
          </a:prstGeom>
        </p:spPr>
      </p:pic>
      <p:sp>
        <p:nvSpPr>
          <p:cNvPr id="4" name="Text"/>
          <p:cNvSpPr txBox="1"/>
          <p:nvPr/>
        </p:nvSpPr>
        <p:spPr>
          <a:xfrm>
            <a:off x="10408562" y="1028319"/>
            <a:ext cx="2793660" cy="450723"/>
          </a:xfrm>
          <a:prstGeom prst="rect">
            <a:avLst/>
          </a:prstGeom>
          <a:noFill/>
        </p:spPr>
        <p:txBody>
          <a:bodyPr wrap="none" lIns="0" rIns="0" tIns="0" bIns="0" anchor="t">
            <a:noAutofit/>
          </a:bodyPr>
          <a:lstStyle/>
          <a:p>
            <a:pPr algn="r">
              <a:lnSpc>
                <a:spcPts val="2535"/>
              </a:lnSpc>
              <a:spcBef>
                <a:spcPts val="0"/>
              </a:spcBef>
              <a:spcAft>
                <a:spcPts val="0"/>
              </a:spcAft>
            </a:pPr>
            <a:r>
              <a:rPr b="1" sz="1950" i="0">
                <a:solidFill>
                  <a:srgbClr val="171726"/>
                </a:solidFill>
                <a:latin typeface="Archivo"/>
              </a:rPr>
              <a:t>2301 W Anderson Ln</a:t>
            </a:r>
          </a:p>
        </p:txBody>
      </p:sp>
      <p:sp>
        <p:nvSpPr>
          <p:cNvPr id="5" name="Box frame"/>
          <p:cNvSpPr/>
          <p:nvPr/>
        </p:nvSpPr>
        <p:spPr>
          <a:xfrm>
            <a:off x="13265086" y="1071562"/>
            <a:ext cx="1484376" cy="330136"/>
          </a:xfrm>
          <a:prstGeom prst="roundRect">
            <a:avLst>
              <a:gd name="adj" fmla="val 28851"/>
            </a:avLst>
          </a:prstGeom>
          <a:noFill/>
          <a:ln w="28575">
            <a:solidFill>
              <a:srgbClr val="1717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p:cNvSpPr txBox="1"/>
          <p:nvPr/>
        </p:nvSpPr>
        <p:spPr>
          <a:xfrm>
            <a:off x="13193832" y="1105586"/>
            <a:ext cx="1407993" cy="315506"/>
          </a:xfrm>
          <a:prstGeom prst="rect">
            <a:avLst/>
          </a:prstGeom>
          <a:noFill/>
        </p:spPr>
        <p:txBody>
          <a:bodyPr wrap="none" lIns="0" rIns="0" tIns="0" bIns="0" anchor="t">
            <a:noAutofit/>
          </a:bodyPr>
          <a:lstStyle/>
          <a:p>
            <a:pPr algn="r">
              <a:lnSpc>
                <a:spcPts val="1774"/>
              </a:lnSpc>
              <a:spcBef>
                <a:spcPts val="0"/>
              </a:spcBef>
              <a:spcAft>
                <a:spcPts val="0"/>
              </a:spcAft>
            </a:pPr>
            <a:r>
              <a:rPr b="1" sz="1364" i="0" spc="54">
                <a:solidFill>
                  <a:srgbClr val="171726"/>
                </a:solidFill>
                <a:latin typeface="Archivo"/>
              </a:rPr>
              <a:t>[TBC: SUITE]</a:t>
            </a:r>
          </a:p>
        </p:txBody>
      </p:sp>
      <p:sp>
        <p:nvSpPr>
          <p:cNvPr id="7" name="Text"/>
          <p:cNvSpPr txBox="1"/>
          <p:nvPr/>
        </p:nvSpPr>
        <p:spPr>
          <a:xfrm>
            <a:off x="12444923" y="1472756"/>
            <a:ext cx="2318827" cy="450723"/>
          </a:xfrm>
          <a:prstGeom prst="rect">
            <a:avLst/>
          </a:prstGeom>
          <a:noFill/>
        </p:spPr>
        <p:txBody>
          <a:bodyPr wrap="none" lIns="0" rIns="0" tIns="0" bIns="0" anchor="t">
            <a:noAutofit/>
          </a:bodyPr>
          <a:lstStyle/>
          <a:p>
            <a:pPr algn="r">
              <a:lnSpc>
                <a:spcPts val="2535"/>
              </a:lnSpc>
              <a:spcBef>
                <a:spcPts val="0"/>
              </a:spcBef>
              <a:spcAft>
                <a:spcPts val="0"/>
              </a:spcAft>
            </a:pPr>
            <a:r>
              <a:rPr b="1" sz="1950" i="0">
                <a:solidFill>
                  <a:srgbClr val="171726"/>
                </a:solidFill>
                <a:latin typeface="Archivo"/>
              </a:rPr>
              <a:t>Austin, TX 78757</a:t>
            </a:r>
          </a:p>
        </p:txBody>
      </p:sp>
      <p:sp>
        <p:nvSpPr>
          <p:cNvPr id="8" name="Text"/>
          <p:cNvSpPr txBox="1"/>
          <p:nvPr/>
        </p:nvSpPr>
        <p:spPr>
          <a:xfrm>
            <a:off x="12665964" y="1870805"/>
            <a:ext cx="2097786" cy="450723"/>
          </a:xfrm>
          <a:prstGeom prst="rect">
            <a:avLst/>
          </a:prstGeom>
          <a:noFill/>
        </p:spPr>
        <p:txBody>
          <a:bodyPr wrap="none" lIns="0" rIns="0" tIns="0" bIns="0" anchor="t">
            <a:noAutofit/>
          </a:bodyPr>
          <a:lstStyle/>
          <a:p>
            <a:pPr algn="r">
              <a:lnSpc>
                <a:spcPts val="2535"/>
              </a:lnSpc>
              <a:spcBef>
                <a:spcPts val="0"/>
              </a:spcBef>
              <a:spcAft>
                <a:spcPts val="0"/>
              </a:spcAft>
            </a:pPr>
            <a:r>
              <a:rPr b="1" sz="1950" i="0">
                <a:solidFill>
                  <a:srgbClr val="171726"/>
                </a:solidFill>
                <a:latin typeface="Archivo"/>
              </a:rPr>
              <a:t>(512) 348-6433</a:t>
            </a:r>
          </a:p>
        </p:txBody>
      </p:sp>
      <p:sp>
        <p:nvSpPr>
          <p:cNvPr id="9" name="Text"/>
          <p:cNvSpPr txBox="1"/>
          <p:nvPr/>
        </p:nvSpPr>
        <p:spPr>
          <a:xfrm>
            <a:off x="12666284" y="2268950"/>
            <a:ext cx="2097466" cy="450723"/>
          </a:xfrm>
          <a:prstGeom prst="rect">
            <a:avLst/>
          </a:prstGeom>
          <a:noFill/>
        </p:spPr>
        <p:txBody>
          <a:bodyPr wrap="none" lIns="0" rIns="0" tIns="0" bIns="0" anchor="t">
            <a:noAutofit/>
          </a:bodyPr>
          <a:lstStyle/>
          <a:p>
            <a:pPr algn="r">
              <a:lnSpc>
                <a:spcPts val="2535"/>
              </a:lnSpc>
              <a:spcBef>
                <a:spcPts val="0"/>
              </a:spcBef>
              <a:spcAft>
                <a:spcPts val="0"/>
              </a:spcAft>
            </a:pPr>
            <a:r>
              <a:rPr b="1" sz="1950" i="0">
                <a:solidFill>
                  <a:srgbClr val="171726"/>
                </a:solidFill>
                <a:latin typeface="Archivo"/>
              </a:rPr>
              <a:t>(512) 348-6232</a:t>
            </a:r>
          </a:p>
        </p:txBody>
      </p:sp>
      <p:sp>
        <p:nvSpPr>
          <p:cNvPr id="10" name="Text"/>
          <p:cNvSpPr txBox="1"/>
          <p:nvPr/>
        </p:nvSpPr>
        <p:spPr>
          <a:xfrm>
            <a:off x="12080718" y="2667095"/>
            <a:ext cx="2683032" cy="450723"/>
          </a:xfrm>
          <a:prstGeom prst="rect">
            <a:avLst/>
          </a:prstGeom>
          <a:noFill/>
        </p:spPr>
        <p:txBody>
          <a:bodyPr wrap="none" lIns="0" rIns="0" tIns="0" bIns="0" anchor="t">
            <a:noAutofit/>
          </a:bodyPr>
          <a:lstStyle/>
          <a:p>
            <a:pPr algn="r">
              <a:lnSpc>
                <a:spcPts val="2535"/>
              </a:lnSpc>
              <a:spcBef>
                <a:spcPts val="0"/>
              </a:spcBef>
              <a:spcAft>
                <a:spcPts val="0"/>
              </a:spcAft>
            </a:pPr>
            <a:r>
              <a:rPr b="1" sz="1950" i="0">
                <a:solidFill>
                  <a:srgbClr val="362CFF"/>
                </a:solidFill>
                <a:latin typeface="Archivo"/>
              </a:rPr>
              <a:t>choosecosmic.com</a:t>
            </a:r>
          </a:p>
        </p:txBody>
      </p:sp>
      <p:sp>
        <p:nvSpPr>
          <p:cNvPr id="11" name="Rule top"/>
          <p:cNvSpPr/>
          <p:nvPr/>
        </p:nvSpPr>
        <p:spPr>
          <a:xfrm>
            <a:off x="1428750" y="3484626"/>
            <a:ext cx="13335000" cy="38100"/>
          </a:xfrm>
          <a:prstGeom prst="rect">
            <a:avLst/>
          </a:prstGeom>
          <a:solidFill>
            <a:srgbClr val="362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ule top"/>
          <p:cNvSpPr/>
          <p:nvPr/>
        </p:nvSpPr>
        <p:spPr>
          <a:xfrm>
            <a:off x="1428750" y="19450050"/>
            <a:ext cx="13335000" cy="38100"/>
          </a:xfrm>
          <a:prstGeom prst="rect">
            <a:avLst/>
          </a:prstGeom>
          <a:solidFill>
            <a:srgbClr val="362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p:cNvSpPr txBox="1"/>
          <p:nvPr/>
        </p:nvSpPr>
        <p:spPr>
          <a:xfrm>
            <a:off x="1428750" y="19713397"/>
            <a:ext cx="4452534" cy="422586"/>
          </a:xfrm>
          <a:prstGeom prst="rect">
            <a:avLst/>
          </a:prstGeom>
          <a:noFill/>
        </p:spPr>
        <p:txBody>
          <a:bodyPr wrap="none" lIns="0" rIns="0" tIns="0" bIns="0" anchor="t">
            <a:noAutofit/>
          </a:bodyPr>
          <a:lstStyle/>
          <a:p>
            <a:pPr algn="l">
              <a:lnSpc>
                <a:spcPts val="2376"/>
              </a:lnSpc>
              <a:spcBef>
                <a:spcPts val="0"/>
              </a:spcBef>
              <a:spcAft>
                <a:spcPts val="0"/>
              </a:spcAft>
            </a:pPr>
            <a:r>
              <a:rPr b="1" sz="1950" i="0">
                <a:solidFill>
                  <a:srgbClr val="362CFF"/>
                </a:solidFill>
                <a:latin typeface="Archivo"/>
              </a:rPr>
              <a:t>Property services. Done properly.</a:t>
            </a:r>
          </a:p>
        </p:txBody>
      </p:sp>
      <p:sp>
        <p:nvSpPr>
          <p:cNvPr id="14" name="Text"/>
          <p:cNvSpPr txBox="1"/>
          <p:nvPr/>
        </p:nvSpPr>
        <p:spPr>
          <a:xfrm>
            <a:off x="12005215" y="19713397"/>
            <a:ext cx="3165759" cy="422586"/>
          </a:xfrm>
          <a:prstGeom prst="rect">
            <a:avLst/>
          </a:prstGeom>
          <a:noFill/>
        </p:spPr>
        <p:txBody>
          <a:bodyPr wrap="none" lIns="0" rIns="0" tIns="0" bIns="0" anchor="t">
            <a:noAutofit/>
          </a:bodyPr>
          <a:lstStyle/>
          <a:p>
            <a:pPr algn="l">
              <a:lnSpc>
                <a:spcPts val="2376"/>
              </a:lnSpc>
              <a:spcBef>
                <a:spcPts val="0"/>
              </a:spcBef>
              <a:spcAft>
                <a:spcPts val="0"/>
              </a:spcAft>
            </a:pPr>
            <a:r>
              <a:rPr b="1" sz="1950" i="0">
                <a:solidFill>
                  <a:srgbClr val="362CFF"/>
                </a:solidFill>
                <a:latin typeface="Archivo"/>
              </a:rPr>
              <a:t>Owner-led / Austin-built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